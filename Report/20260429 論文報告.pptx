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592" r:id="rId2"/>
    <p:sldId id="657" r:id="rId3"/>
    <p:sldId id="660" r:id="rId4"/>
    <p:sldId id="667" r:id="rId5"/>
    <p:sldId id="668" r:id="rId6"/>
    <p:sldId id="686" r:id="rId7"/>
    <p:sldId id="669" r:id="rId8"/>
    <p:sldId id="671" r:id="rId9"/>
    <p:sldId id="670" r:id="rId10"/>
    <p:sldId id="672" r:id="rId11"/>
    <p:sldId id="666" r:id="rId12"/>
    <p:sldId id="685" r:id="rId13"/>
    <p:sldId id="673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45E22E-D3E5-4B1F-AD6B-6FCA133DA5AD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AD021-87D9-4C44-A1F7-A8357A357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9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68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997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F48FB-15A5-9204-19FE-917E4D5D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E9B018A-682C-4809-94A6-C1E724FE9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7837DFC-7481-879C-43FA-BBD1FF3E4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9926FB-1FF9-C6E7-88F8-2F1CCCF49B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3470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ABD53-CCFF-61CF-DBD9-46A8A56E4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4F86C65-3490-D218-7A5E-F1123D8A5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89FC462-CB41-9284-2162-01024F967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FD9E1F-CD6B-5514-A6A1-8BA46CC700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6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E2C9-0A0B-EC09-1B64-39F85ED9E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9052D2B-633C-38D6-5D36-E1C15BDDE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1D3CD1-78FB-5FE6-AD5D-B04D18C13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625A36-3696-422A-F97F-C9157EF19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209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13CD-C3D5-5CD8-6B6D-543C9674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CBF79CD-DAC3-04BD-F82B-FAE180DD3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AC6AA0-078B-92A9-76A1-5E73BA15F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B73958-0679-4ABA-EDAC-42D155B31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533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1331-32E5-1837-164B-82B2E80C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4804600-73E2-A4E5-709B-CE65C3703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79A832-BF5D-BF4C-2339-8D6CB7D89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48C882-D419-C683-6D92-19B1087912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655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4647D-6533-02B6-BEFA-3AC0C686F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89F7B28-7982-9876-F621-B92C48440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3453D15-A208-55BE-C58E-697498E34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901859-EE46-B04C-6A37-3297624D8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71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E2C9-0A0B-EC09-1B64-39F85ED9E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9052D2B-633C-38D6-5D36-E1C15BDDE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1D3CD1-78FB-5FE6-AD5D-B04D18C13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625A36-3696-422A-F97F-C9157EF19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2470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2702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E2C9-0A0B-EC09-1B64-39F85ED9E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9052D2B-633C-38D6-5D36-E1C15BDDE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1D3CD1-78FB-5FE6-AD5D-B04D18C13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625A36-3696-422A-F97F-C9157EF19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8531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20C8-CB42-5A10-FB9C-0F78420B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82FB75A-B9F6-8750-0159-661CD4192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CE03962-54C3-9CAB-3C17-C487D3775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200A2C-34E2-4BDD-FBCB-7B9195ED0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962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D65892-75BF-077C-9667-FDF68650E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1D4F47E-FE92-7EA6-626D-63BC5EFC9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82827B-945D-B900-E800-ABD99F7A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8A9CD0-54CF-7CC9-67FA-EA04435CE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17372A-256B-5276-1798-24C5BDEC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764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0254D4-7654-561C-5224-234A89B7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67A4F5-A5A2-A20E-61DD-E96F305CA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9564BB-D829-3D2E-28FF-8F163904D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081143-A819-A272-7D9C-B2DCB942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11BAA1-409F-BA83-B4FD-72535F87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35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F66F70-4440-EA8B-0F8D-BC52DF62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ABA75BC-3553-2E7F-13FD-90C5E70D5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D787AE-FFEC-8428-19A5-9ED9580E1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8EB7DB-59C6-C924-1297-71E4A276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629ED8-33FE-E4B5-CD01-A86932FB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935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FCAB50-AB99-37D9-FB02-975E6BD2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0D661E-E635-528A-9B38-582A693B7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5A6BEF-63EA-4846-392A-37A315455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D76166-F43C-8376-4A02-D7EF75144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75BE52F-3D71-C514-9FD7-CB6A24A73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F99A95-2B42-C665-2A29-FE6DC2C9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53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D70E71-38F3-4A9F-C6BD-B8F0277A9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7C9CB2-EAFF-7289-7320-D1530B7B4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767C6F-E965-81A0-78F9-559518799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404912E-B82A-3D96-6AF8-FD2CF28F3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8A046F4-61A8-7297-7018-63765DDB8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22C170-DBA2-8A05-8942-4437A2F1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254024E-427A-CD44-4C96-CA125D8D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2B7882E-9AD3-4BBE-8678-B3E66AAF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043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0BEB9F-08EB-1DBB-B630-6F8A5B4E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D91E034-4FA9-CFDF-8068-67A692CF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CB5C4D5-620A-94F7-F125-68758E2A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E5C096-2B57-E5AB-BD8B-3406426F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522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FFC41F3-E0A4-FB7E-61EE-EE1B9AC5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B77475A-32B5-03DC-7C8B-9BC0F0E6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4B821F-16B9-C508-664B-A71061E1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9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8EC5E2-5C3D-5A36-CF42-47200001C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08BFE2-FB45-27C6-83DC-B955C638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8714E5-EE19-F164-71B7-C79D9B68C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2EDB97-4BFC-8FC2-E718-98CE0B92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D4F4CB5-A096-9C67-8EBE-5402AA9F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9398D2-DAB9-4F96-2350-B0A9FAB7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254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02B25E-169A-E603-5DA4-BEC4511B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3A0F6D9-ABD6-0BD4-D2C1-4AB7C1C7D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F1C805-6BA8-5FB6-D0A5-7238DA988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03BD44-F881-C715-D80B-0CA747A5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E5A522-7C75-A5BB-0113-BC290351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83E75FE-2F46-B71F-BC06-49D12234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505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BCB9A7-6118-4872-15A2-E5EAE789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034A551-B553-5DC9-8B2B-3840DD6F3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C4FC6B-1A0B-0D16-B251-F87EF268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4BA21B-7499-65E9-CC9B-57BCCBD5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5D122D-C397-7A05-9A0C-C3B6392D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40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540553-1413-C8DB-A6F9-9D9342E29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4649786-A6FF-29BC-6BDB-AECF38EFD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902C3C-027C-8103-8134-34049B4F0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571F2C-DA97-C7B7-7183-25FF83D8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1E3776-BE57-A6C0-FC2D-15ECE9E2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28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065FA83-BFAC-E214-75EA-31E74058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37273C-419D-0052-24EE-33A5AABE0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642CD2-E736-82BD-5A53-3856FC905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32371-FCDE-4F12-92DF-6A564AE6E516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A8750D-C4F3-C667-FE3C-97BC3810F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BBB117-A31B-0DE5-C71D-6A5E81545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06524-FB20-4E72-97BF-A49E9E5A46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77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"/>
          <p:cNvSpPr txBox="1"/>
          <p:nvPr/>
        </p:nvSpPr>
        <p:spPr>
          <a:xfrm>
            <a:off x="2327743" y="716692"/>
            <a:ext cx="7536513" cy="830960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4800" b="1" dirty="0">
                <a:ln w="19050">
                  <a:noFill/>
                </a:ln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4800" b="1" dirty="0">
                <a:ln w="19050">
                  <a:noFill/>
                </a:ln>
                <a:solidFill>
                  <a:srgbClr val="44ADC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ediaCore Lab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D59B92E0-9576-D533-5BE2-81ECF2C4FB7B}"/>
              </a:ext>
            </a:extLst>
          </p:cNvPr>
          <p:cNvSpPr txBox="1"/>
          <p:nvPr/>
        </p:nvSpPr>
        <p:spPr>
          <a:xfrm>
            <a:off x="2327742" y="3672182"/>
            <a:ext cx="7536513" cy="2191397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Department of Electrical Engineering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National Yunlin University of Science and Technology</a:t>
            </a:r>
          </a:p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2000" dirty="0">
              <a:ln w="19050">
                <a:noFill/>
              </a:ln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Advisor : Ting-An Chang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2026.04.29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19587" y="1763549"/>
            <a:ext cx="8340258" cy="1692735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/>
            <a:r>
              <a:rPr lang="en-US" altLang="zh-TW" sz="3600" b="1" dirty="0">
                <a:ln w="19050">
                  <a:noFill/>
                </a:ln>
                <a:solidFill>
                  <a:srgbClr val="3FABC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EfficientNetB0 knowledge distillation to ResNet20</a:t>
            </a:r>
          </a:p>
          <a:p>
            <a:pPr algn="ctr"/>
            <a:r>
              <a:rPr lang="en-US" altLang="zh-TW" sz="3200" dirty="0">
                <a:solidFill>
                  <a:srgbClr val="1F1F1F"/>
                </a:solidFill>
                <a:latin typeface="ElsevierGulliver"/>
              </a:rPr>
              <a:t>EfficientNetB0</a:t>
            </a:r>
            <a:r>
              <a:rPr lang="zh-TW" altLang="en-US" sz="3200" dirty="0">
                <a:solidFill>
                  <a:srgbClr val="1F1F1F"/>
                </a:solidFill>
                <a:latin typeface="ElsevierGulliver"/>
              </a:rPr>
              <a:t>知識蒸餾到</a:t>
            </a:r>
            <a:r>
              <a:rPr lang="en-US" altLang="zh-TW" sz="3200" dirty="0">
                <a:solidFill>
                  <a:srgbClr val="1F1F1F"/>
                </a:solidFill>
                <a:latin typeface="ElsevierGulliver"/>
              </a:rPr>
              <a:t>Resnet20</a:t>
            </a:r>
          </a:p>
        </p:txBody>
      </p:sp>
    </p:spTree>
    <p:extLst>
      <p:ext uri="{BB962C8B-B14F-4D97-AF65-F5344CB8AC3E}">
        <p14:creationId xmlns:p14="http://schemas.microsoft.com/office/powerpoint/2010/main" val="282789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17461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Outline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090333" y="616061"/>
            <a:ext cx="881635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3351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模型參數比較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知識蒸餾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效能評比</a:t>
            </a: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541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4" y="354451"/>
            <a:ext cx="4209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模型參數比較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5554133" y="616061"/>
            <a:ext cx="6352558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3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殘差塊程式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神經網路是靠「誤差反向傳播（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Backpropagation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）」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來學習，遇到錯誤時訊號會回傳，經過每一次傳送時會有損耗，殘差塊防止回傳損耗，讓神經元可以修正。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26F0680-77E7-CE96-109B-CD1F57355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543" y="2453666"/>
            <a:ext cx="8583223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6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43C0-17AD-E44C-0614-CA18871E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964229B-4071-5AB5-1F5C-8F0413E2080E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254146-E0E6-38BE-2806-0A8EEA914694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6EEB3A-8BA4-E4AC-BF1D-2BBF36294AB5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135CA8-D6FC-D7BF-51F1-476AE0292916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19A785-1CFA-9E14-9B61-513F1593AAD0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D8239FB9-4BB6-9B7C-0968-AF16E489A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5" y="354451"/>
            <a:ext cx="37612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模型參數比較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37F8ADFF-E693-AF5B-E91A-BFB0D8DF2C35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105400" y="616061"/>
            <a:ext cx="6801290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4F069D9-BB26-39A9-CB3A-B0CB9D39CD38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B64761E7-C9BA-15DE-A1D2-191A8B855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4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ED75EDE-CED7-F698-7F8E-CDC5D7C7E595}"/>
              </a:ext>
            </a:extLst>
          </p:cNvPr>
          <p:cNvSpPr/>
          <p:nvPr/>
        </p:nvSpPr>
        <p:spPr>
          <a:xfrm>
            <a:off x="529196" y="1094379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建立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ResNet20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</a:t>
            </a:r>
            <a:endParaRPr lang="en-US" altLang="zh-TW" sz="20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E27E94-0443-5064-D5E2-33E9C03EB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992" y="1919599"/>
            <a:ext cx="8496015" cy="429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1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1FCB8-28A5-7E6A-3625-840502FF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C4DAA3F-7E99-F3C5-4A5A-765397F95BAA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E7E595-93AB-11C5-48B6-93D6A2310196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C2B312-6807-B69F-B754-5B7159B29FF6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437CC0-2444-D858-BF3C-C1A2884CFD52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F5C533-F89A-387F-9DF3-34161F66BF6B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D54E3443-32D8-4BF8-8B58-4E28D2D66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5" y="354451"/>
            <a:ext cx="37612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模型參數比較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6AEC898F-9B1D-B3E0-8786-8DA075DD0A13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105400" y="616061"/>
            <a:ext cx="6801290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476D8C9-B68D-C469-A8B5-C9E55F8082AF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19DDB9B3-EF95-C622-086B-35F87AFDF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5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3E5B1C7-E26C-E852-688B-A2EE8A6F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91" y="1919599"/>
            <a:ext cx="4822059" cy="99726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1A39D25-99F5-D23E-4095-1CCCB7200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85" y="4588780"/>
            <a:ext cx="9776129" cy="105895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D462A96-267D-43E2-5052-79D17909091B}"/>
              </a:ext>
            </a:extLst>
          </p:cNvPr>
          <p:cNvSpPr/>
          <p:nvPr/>
        </p:nvSpPr>
        <p:spPr>
          <a:xfrm>
            <a:off x="529196" y="1064554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呼叫訓練好的教師模型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30C7463-6CCD-649F-3961-3E06B795D398}"/>
              </a:ext>
            </a:extLst>
          </p:cNvPr>
          <p:cNvSpPr/>
          <p:nvPr/>
        </p:nvSpPr>
        <p:spPr>
          <a:xfrm>
            <a:off x="577504" y="3620942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載入老師與學生模型</a:t>
            </a:r>
          </a:p>
        </p:txBody>
      </p:sp>
    </p:spTree>
    <p:extLst>
      <p:ext uri="{BB962C8B-B14F-4D97-AF65-F5344CB8AC3E}">
        <p14:creationId xmlns:p14="http://schemas.microsoft.com/office/powerpoint/2010/main" val="317745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3301-154E-52EB-093B-4F38E092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930D73E-E067-C3DA-0747-487FC69D57DC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42DDDF-F52A-D971-0891-30DBEF23A79D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344A12-1839-BC9E-7979-175C725C2813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E6D932-105A-7F8A-C8FC-61D3BE066237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2776D5-CC89-319C-D7BD-F68B74459E49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AAA090F0-D09C-736B-F728-CC7220067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4" y="354451"/>
            <a:ext cx="4209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模型參數比較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6045397D-4278-A88A-8E9B-E905A50A393A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554133" y="616061"/>
            <a:ext cx="6352558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E397BFE-0A5A-5185-5B81-9453219684F3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B737A2BD-BC19-756C-25DC-6E806FEDC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6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ED8CD443-A237-A5A5-2AEE-62DBA7911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305" y="1836151"/>
            <a:ext cx="4745893" cy="439995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3309DA02-5505-B112-E9CC-71E01D8F3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999" y="3237994"/>
            <a:ext cx="4981080" cy="1558705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88FED4A-FF01-6D52-B9F1-356F1C4CB7FC}"/>
              </a:ext>
            </a:extLst>
          </p:cNvPr>
          <p:cNvSpPr/>
          <p:nvPr/>
        </p:nvSpPr>
        <p:spPr>
          <a:xfrm>
            <a:off x="984305" y="993639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模型參數比較</a:t>
            </a:r>
          </a:p>
        </p:txBody>
      </p:sp>
    </p:spTree>
    <p:extLst>
      <p:ext uri="{BB962C8B-B14F-4D97-AF65-F5344CB8AC3E}">
        <p14:creationId xmlns:p14="http://schemas.microsoft.com/office/powerpoint/2010/main" val="134336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F60D-E656-D4DC-3673-88BAD921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7187E76-8A7E-75AE-11FB-021215B8F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627" y="1598581"/>
            <a:ext cx="7880121" cy="48577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68BA386-8B47-6B0C-77DD-615DDE5753DF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B0FEA1-C2A8-CB1C-3DCC-54B8B958F670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7255D7-F633-907D-F631-96891AE08536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F9181E-FC96-95F0-457B-ED9EBB825B6E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4651B5-956F-E292-890F-427256B39626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EBC20AE3-72B0-AFA0-A0D6-967279923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4" y="354451"/>
            <a:ext cx="4209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知識蒸餾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AD14EF10-680D-EC4B-5060-EE234B1FA221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554133" y="616061"/>
            <a:ext cx="6352558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A1230CB-E7F1-07F0-E3FF-37C070A0BFFC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76CE844F-EC22-F290-CB00-5F1E97033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7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738A7E6-D300-47FC-143E-585D94855E36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知識蒸餾參數設定</a:t>
            </a:r>
            <a:endParaRPr lang="en-US" altLang="zh-TW" sz="18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FD21F33-6956-4AC8-7FCF-FE157D106189}"/>
              </a:ext>
            </a:extLst>
          </p:cNvPr>
          <p:cNvSpPr/>
          <p:nvPr/>
        </p:nvSpPr>
        <p:spPr>
          <a:xfrm>
            <a:off x="984305" y="993639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知識蒸餾參數設定</a:t>
            </a:r>
          </a:p>
        </p:txBody>
      </p:sp>
    </p:spTree>
    <p:extLst>
      <p:ext uri="{BB962C8B-B14F-4D97-AF65-F5344CB8AC3E}">
        <p14:creationId xmlns:p14="http://schemas.microsoft.com/office/powerpoint/2010/main" val="67534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C6397-0432-B303-5DF9-43030C65C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DFD1289-CB53-C392-4184-27A25D8B44A3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176584-7BB5-CD06-38CF-93A73FF22FB1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930403-0799-59A3-9CC0-B59F02BCECD1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270ABF-4BB0-861A-D515-005B8F4D35B7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6CDE3C-8308-A498-1E38-B36D1C502647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0FEF3DC3-C923-94A0-729C-EE4444A4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4" y="354451"/>
            <a:ext cx="4209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知識蒸餾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034CFD09-DE30-04C3-2005-13DED0AEE548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554133" y="616061"/>
            <a:ext cx="6352558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3870BB1-163B-1657-E272-DCB1E358ED69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DE51AA98-4F3D-B385-6D3D-733FDE14F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8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B48FD7-B832-1674-002D-DC6C23379641}"/>
              </a:ext>
            </a:extLst>
          </p:cNvPr>
          <p:cNvSpPr/>
          <p:nvPr/>
        </p:nvSpPr>
        <p:spPr>
          <a:xfrm>
            <a:off x="791677" y="993639"/>
            <a:ext cx="109126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學生模型訓練</a:t>
            </a:r>
            <a:r>
              <a:rPr lang="en-US" altLang="zh-TW" sz="20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student_preds</a:t>
            </a:r>
            <a:endParaRPr lang="en-US" altLang="zh-TW" sz="2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3622A4E9-A7BB-3DA3-0023-C7908021C0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94"/>
          <a:stretch/>
        </p:blipFill>
        <p:spPr>
          <a:xfrm>
            <a:off x="1344154" y="1924532"/>
            <a:ext cx="10191792" cy="255465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C000EB2A-42FE-48AA-248C-49487F082BBD}"/>
              </a:ext>
            </a:extLst>
          </p:cNvPr>
          <p:cNvSpPr/>
          <p:nvPr/>
        </p:nvSpPr>
        <p:spPr>
          <a:xfrm>
            <a:off x="1219610" y="4796543"/>
            <a:ext cx="109126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teacher_preds</a:t>
            </a:r>
            <a:r>
              <a:rPr lang="en-US" altLang="zh-TW" sz="2000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原先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教師模型預測出的結果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b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student_preds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學生模型的預測結果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b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student_loss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學生模型的預測結果的損失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distillation_loss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知識蒸餾損失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000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oss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總損失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=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Hard Loss+ Soft Loss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*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溫度補償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b="0" dirty="0">
              <a:effectLst/>
              <a:latin typeface="Courier New" panose="02070309020205020404" pitchFamily="49" charset="0"/>
            </a:endParaRPr>
          </a:p>
          <a:p>
            <a:endParaRPr lang="en-US" altLang="zh-TW" sz="2000" b="0" dirty="0">
              <a:effectLst/>
              <a:latin typeface="Courier New" panose="02070309020205020404" pitchFamily="49" charset="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653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8263-EC57-98BE-1F17-109922FB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69F596E-F5AD-7ED2-CA5F-A5B4A7D3271C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A15B6D-2E19-7137-540B-09B8B7F585F9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8B0B1A-6BC9-8897-7824-FF389A85FEE7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F82AA5-65F4-4D88-3C20-68C118FC3F81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359A41-F119-B576-E47A-05FB86075895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4C500E6A-55CC-C568-B1C7-D4827E5F9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4" y="354451"/>
            <a:ext cx="4209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知識蒸餾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A9E72F72-B30F-B5B4-65CA-548A5EA00649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554133" y="616061"/>
            <a:ext cx="6352558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862E335-B798-41D4-F1E1-E45AE79B9062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C3AE6E8E-D884-0C83-FEBC-17ED966B9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9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229C41D-9AA3-D088-C603-F31065426EE7}"/>
              </a:ext>
            </a:extLst>
          </p:cNvPr>
          <p:cNvSpPr/>
          <p:nvPr/>
        </p:nvSpPr>
        <p:spPr>
          <a:xfrm>
            <a:off x="529196" y="1094379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標籤定義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FF871C4-E62B-5DCB-D702-37F72785F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594" y="1693381"/>
            <a:ext cx="9768498" cy="154369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179F9CB1-1181-AF57-7BA0-F5EF26E764E5}"/>
              </a:ext>
            </a:extLst>
          </p:cNvPr>
          <p:cNvSpPr/>
          <p:nvPr/>
        </p:nvSpPr>
        <p:spPr>
          <a:xfrm>
            <a:off x="529196" y="3576692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逐行深度解析與狀態追蹤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82285EE8-E0BC-F3CE-74FA-F12DA33DE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535" y="4291494"/>
            <a:ext cx="9472806" cy="173921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B327764B-A8A2-7F92-DFCE-760584679CD0}"/>
              </a:ext>
            </a:extLst>
          </p:cNvPr>
          <p:cNvSpPr/>
          <p:nvPr/>
        </p:nvSpPr>
        <p:spPr>
          <a:xfrm>
            <a:off x="935132" y="4334863"/>
            <a:ext cx="109126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提取變數</a:t>
            </a:r>
            <a:endParaRPr lang="en-US" altLang="zh-TW" sz="20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E60858-373C-C3A5-FA21-F9D29BF708A8}"/>
              </a:ext>
            </a:extLst>
          </p:cNvPr>
          <p:cNvSpPr/>
          <p:nvPr/>
        </p:nvSpPr>
        <p:spPr>
          <a:xfrm>
            <a:off x="935132" y="4681107"/>
            <a:ext cx="109126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求取梯度</a:t>
            </a:r>
            <a:endParaRPr lang="en-US" altLang="zh-TW" sz="20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02A8E4D-6736-9427-D551-1608F51C8452}"/>
              </a:ext>
            </a:extLst>
          </p:cNvPr>
          <p:cNvSpPr/>
          <p:nvPr/>
        </p:nvSpPr>
        <p:spPr>
          <a:xfrm>
            <a:off x="920521" y="5011059"/>
            <a:ext cx="109126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應用梯度</a:t>
            </a:r>
            <a:endParaRPr lang="en-US" altLang="zh-TW" sz="20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8404D5-5272-5038-8164-5BC054B69FBC}"/>
              </a:ext>
            </a:extLst>
          </p:cNvPr>
          <p:cNvSpPr/>
          <p:nvPr/>
        </p:nvSpPr>
        <p:spPr>
          <a:xfrm>
            <a:off x="719706" y="5350556"/>
            <a:ext cx="109126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更新評估指標</a:t>
            </a:r>
            <a:endParaRPr lang="en-US" altLang="zh-TW" sz="20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888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3301-154E-52EB-093B-4F38E092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930D73E-E067-C3DA-0747-487FC69D57DC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42DDDF-F52A-D971-0891-30DBEF23A79D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344A12-1839-BC9E-7979-175C725C2813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E6D932-105A-7F8A-C8FC-61D3BE066237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2776D5-CC89-319C-D7BD-F68B74459E49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AAA090F0-D09C-736B-F728-CC7220067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4" y="354451"/>
            <a:ext cx="4209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知識蒸餾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6045397D-4278-A88A-8E9B-E905A50A393A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554133" y="616061"/>
            <a:ext cx="6352558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E397BFE-0A5A-5185-5B81-9453219684F3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B737A2BD-BC19-756C-25DC-6E806FEDC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10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A20871-5D21-BC0F-063D-2AA44A16F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88" y="1801001"/>
            <a:ext cx="8427786" cy="367119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EA2AE2B-841A-FF43-5DDD-9D090C93848C}"/>
              </a:ext>
            </a:extLst>
          </p:cNvPr>
          <p:cNvSpPr/>
          <p:nvPr/>
        </p:nvSpPr>
        <p:spPr>
          <a:xfrm>
            <a:off x="639678" y="993639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知識蒸餾參數設定</a:t>
            </a:r>
          </a:p>
        </p:txBody>
      </p:sp>
    </p:spTree>
    <p:extLst>
      <p:ext uri="{BB962C8B-B14F-4D97-AF65-F5344CB8AC3E}">
        <p14:creationId xmlns:p14="http://schemas.microsoft.com/office/powerpoint/2010/main" val="308645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37612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知識蒸餾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5105400" y="616061"/>
            <a:ext cx="6801290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11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圖片 3" descr="一張含有 文字, 螢幕擷取畫面, 功能表 的圖片&#10;&#10;AI 產生的內容可能不正確。">
            <a:extLst>
              <a:ext uri="{FF2B5EF4-FFF2-40B4-BE49-F238E27FC236}">
                <a16:creationId xmlns:a16="http://schemas.microsoft.com/office/drawing/2014/main" id="{7CC3A0B1-94CB-BE20-9F2A-9B8A47BDF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51" y="1747755"/>
            <a:ext cx="5014756" cy="4854116"/>
          </a:xfrm>
          <a:prstGeom prst="rect">
            <a:avLst/>
          </a:prstGeom>
        </p:spPr>
      </p:pic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2B6AD0BA-6219-3D12-F8EA-4831E809A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04" y="2474241"/>
            <a:ext cx="6113286" cy="3036018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C3A6BB9D-22F2-1A74-84E3-02E1F81D9912}"/>
              </a:ext>
            </a:extLst>
          </p:cNvPr>
          <p:cNvSpPr/>
          <p:nvPr/>
        </p:nvSpPr>
        <p:spPr>
          <a:xfrm>
            <a:off x="624451" y="1058431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知識蒸餾過程</a:t>
            </a:r>
          </a:p>
        </p:txBody>
      </p:sp>
    </p:spTree>
    <p:extLst>
      <p:ext uri="{BB962C8B-B14F-4D97-AF65-F5344CB8AC3E}">
        <p14:creationId xmlns:p14="http://schemas.microsoft.com/office/powerpoint/2010/main" val="404357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3301-154E-52EB-093B-4F38E092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930D73E-E067-C3DA-0747-487FC69D57DC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42DDDF-F52A-D971-0891-30DBEF23A79D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344A12-1839-BC9E-7979-175C725C2813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E6D932-105A-7F8A-C8FC-61D3BE066237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2776D5-CC89-319C-D7BD-F68B74459E49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AAA090F0-D09C-736B-F728-CC7220067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4" y="354451"/>
            <a:ext cx="4209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效能評比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6045397D-4278-A88A-8E9B-E905A50A393A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554133" y="616061"/>
            <a:ext cx="6352558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E397BFE-0A5A-5185-5B81-9453219684F3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B737A2BD-BC19-756C-25DC-6E806FEDC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12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6B84DA7-883A-AFEA-F9EC-385A3BF19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4" y="1504066"/>
            <a:ext cx="11946017" cy="166710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6421343-F2C4-2154-AEDE-676B94D7CF93}"/>
              </a:ext>
            </a:extLst>
          </p:cNvPr>
          <p:cNvSpPr/>
          <p:nvPr/>
        </p:nvSpPr>
        <p:spPr>
          <a:xfrm>
            <a:off x="984305" y="4033877"/>
            <a:ext cx="1091264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loss_fn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分類交叉熵</a:t>
            </a:r>
            <a:r>
              <a:rPr lang="zh-TW" altLang="en-US" sz="2000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000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Categorical </a:t>
            </a:r>
            <a:r>
              <a:rPr lang="en-US" altLang="zh-TW" sz="2000" b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Crossentropy</a:t>
            </a:r>
            <a:r>
              <a:rPr lang="zh-TW" altLang="en-US" sz="2000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）」</a:t>
            </a: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的損失函數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Result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計算測試集的正確率與損失率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result[0]: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總損失值</a:t>
            </a:r>
            <a:b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result[1]: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準確率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301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8D3F0-679B-8AC4-AED6-CE0938A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EE89ECA-5A54-6DFA-A529-AE10F384FC1F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43B16-9F5F-5838-5C20-9F72AFF94D7A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D2E9E4-0F81-243F-7CDD-E07A06E6AA36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8CAD7D-AD57-CC3B-02C0-81583D7E672B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BEA11D-5507-B6A3-D0CA-5A62B1045E43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A651F9DD-5822-0CEB-A548-1FB58058A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4" y="354451"/>
            <a:ext cx="4209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软雅黑" pitchFamily="34" charset="-122"/>
                <a:ea typeface="微软雅黑" pitchFamily="34" charset="-122"/>
              </a:rPr>
              <a:t>效能評比</a:t>
            </a:r>
            <a:endParaRPr lang="en-US" altLang="zh-TW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3155E141-165F-CE24-CD7F-0AFCF05EEB19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554133" y="616061"/>
            <a:ext cx="6352558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76D4F94-E4CD-868B-C6B5-15E8468AFF22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D2C3D257-139E-FBEB-6C3D-4F8129637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13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96232B-27D2-F7A2-F62F-79C7FA81E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06" y="3069912"/>
            <a:ext cx="5100459" cy="156527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E0279EC-AF8E-6A2F-700D-A042FB5E5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969" y="3069912"/>
            <a:ext cx="5447161" cy="1565276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C05915BD-61BA-9475-1684-CAEE8D1D9AA7}"/>
              </a:ext>
            </a:extLst>
          </p:cNvPr>
          <p:cNvSpPr/>
          <p:nvPr/>
        </p:nvSpPr>
        <p:spPr>
          <a:xfrm>
            <a:off x="624451" y="1058431"/>
            <a:ext cx="10912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最終效能比較</a:t>
            </a:r>
          </a:p>
        </p:txBody>
      </p:sp>
    </p:spTree>
    <p:extLst>
      <p:ext uri="{BB962C8B-B14F-4D97-AF65-F5344CB8AC3E}">
        <p14:creationId xmlns:p14="http://schemas.microsoft.com/office/powerpoint/2010/main" val="198140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284</Words>
  <Application>Microsoft Office PowerPoint</Application>
  <PresentationFormat>寬螢幕</PresentationFormat>
  <Paragraphs>74</Paragraphs>
  <Slides>13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3" baseType="lpstr">
      <vt:lpstr>ElsevierGulliver</vt:lpstr>
      <vt:lpstr>微软雅黑</vt:lpstr>
      <vt:lpstr>標楷體</vt:lpstr>
      <vt:lpstr>Arial</vt:lpstr>
      <vt:lpstr>Calibri</vt:lpstr>
      <vt:lpstr>Calibri Light</vt:lpstr>
      <vt:lpstr>Courier New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鼎祐 林</dc:creator>
  <cp:lastModifiedBy>Allen Chen</cp:lastModifiedBy>
  <cp:revision>43</cp:revision>
  <dcterms:created xsi:type="dcterms:W3CDTF">2026-01-13T12:59:30Z</dcterms:created>
  <dcterms:modified xsi:type="dcterms:W3CDTF">2026-04-29T16:38:40Z</dcterms:modified>
</cp:coreProperties>
</file>