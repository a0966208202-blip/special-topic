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592" r:id="rId2"/>
    <p:sldId id="777" r:id="rId3"/>
    <p:sldId id="791" r:id="rId4"/>
    <p:sldId id="787" r:id="rId5"/>
    <p:sldId id="793" r:id="rId6"/>
    <p:sldId id="796" r:id="rId7"/>
    <p:sldId id="788" r:id="rId8"/>
    <p:sldId id="807" r:id="rId9"/>
    <p:sldId id="811" r:id="rId10"/>
    <p:sldId id="810" r:id="rId11"/>
    <p:sldId id="809" r:id="rId12"/>
    <p:sldId id="800" r:id="rId13"/>
    <p:sldId id="805" r:id="rId14"/>
    <p:sldId id="802" r:id="rId15"/>
    <p:sldId id="812" r:id="rId16"/>
    <p:sldId id="804" r:id="rId17"/>
    <p:sldId id="803" r:id="rId18"/>
    <p:sldId id="801" r:id="rId19"/>
    <p:sldId id="808" r:id="rId20"/>
    <p:sldId id="744" r:id="rId21"/>
    <p:sldId id="794"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廷安 張" initials="廷安" lastIdx="1" clrIdx="0">
    <p:extLst>
      <p:ext uri="{19B8F6BF-5375-455C-9EA6-DF929625EA0E}">
        <p15:presenceInfo xmlns:p15="http://schemas.microsoft.com/office/powerpoint/2012/main" userId="55319b3ea971a315" providerId="Windows Live"/>
      </p:ext>
    </p:extLst>
  </p:cmAuthor>
  <p:cmAuthor id="2" name="鎗銘 葉" initials="鎗銘" lastIdx="6" clrIdx="1">
    <p:extLst>
      <p:ext uri="{19B8F6BF-5375-455C-9EA6-DF929625EA0E}">
        <p15:presenceInfo xmlns:p15="http://schemas.microsoft.com/office/powerpoint/2012/main" userId="15f4db87fb5f82c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a:srgbClr val="CCFFCC"/>
    <a:srgbClr val="99FFCC"/>
    <a:srgbClr val="6FC1D7"/>
    <a:srgbClr val="2E75B6"/>
    <a:srgbClr val="3FABC9"/>
    <a:srgbClr val="0000FF"/>
    <a:srgbClr val="FF99CC"/>
    <a:srgbClr val="35A0BD"/>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77225" autoAdjust="0"/>
  </p:normalViewPr>
  <p:slideViewPr>
    <p:cSldViewPr snapToGrid="0">
      <p:cViewPr varScale="1">
        <p:scale>
          <a:sx n="82" d="100"/>
          <a:sy n="82" d="100"/>
        </p:scale>
        <p:origin x="720"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工作表1!$B$1</c:f>
              <c:strCache>
                <c:ptCount val="1"/>
                <c:pt idx="0">
                  <c:v>Accuracy</c:v>
                </c:pt>
              </c:strCache>
            </c:strRef>
          </c:tx>
          <c:spPr>
            <a:solidFill>
              <a:schemeClr val="accent1"/>
            </a:solidFill>
            <a:ln>
              <a:noFill/>
            </a:ln>
            <a:effectLst/>
          </c:spPr>
          <c:invertIfNegative val="0"/>
          <c:cat>
            <c:strRef>
              <c:f>工作表1!$A$2:$A$9</c:f>
              <c:strCache>
                <c:ptCount val="8"/>
                <c:pt idx="0">
                  <c:v>3D_DenseNet-121</c:v>
                </c:pt>
                <c:pt idx="1">
                  <c:v>3D_Resnet-18</c:v>
                </c:pt>
                <c:pt idx="2">
                  <c:v>3D_DenseNet-121+資料增強</c:v>
                </c:pt>
                <c:pt idx="3">
                  <c:v>3D_Resnet-18+資料增強</c:v>
                </c:pt>
                <c:pt idx="4">
                  <c:v>3D_DenseNet-121+資料增強+非區域性平均降噪</c:v>
                </c:pt>
                <c:pt idx="5">
                  <c:v>3D_Resnet-18+資料增強+非區域性平均降噪</c:v>
                </c:pt>
                <c:pt idx="6">
                  <c:v>3D_DenseNet-121+資料增強+非區域性平均降噪+csv</c:v>
                </c:pt>
                <c:pt idx="7">
                  <c:v>3D_Resnet-18+資料增強+非區域性平均降噪+csv</c:v>
                </c:pt>
              </c:strCache>
            </c:strRef>
          </c:cat>
          <c:val>
            <c:numRef>
              <c:f>工作表1!$B$2:$B$9</c:f>
              <c:numCache>
                <c:formatCode>General</c:formatCode>
                <c:ptCount val="8"/>
                <c:pt idx="0">
                  <c:v>0.94199999999999995</c:v>
                </c:pt>
                <c:pt idx="1">
                  <c:v>0.92749999999999999</c:v>
                </c:pt>
                <c:pt idx="2">
                  <c:v>0.94199999999999995</c:v>
                </c:pt>
                <c:pt idx="3">
                  <c:v>0.92749999999999999</c:v>
                </c:pt>
                <c:pt idx="4">
                  <c:v>0.94199999999999995</c:v>
                </c:pt>
                <c:pt idx="5">
                  <c:v>0.96379999999999999</c:v>
                </c:pt>
                <c:pt idx="6">
                  <c:v>0.97099999999999997</c:v>
                </c:pt>
                <c:pt idx="7">
                  <c:v>0.96379999999999999</c:v>
                </c:pt>
              </c:numCache>
            </c:numRef>
          </c:val>
          <c:extLst>
            <c:ext xmlns:c16="http://schemas.microsoft.com/office/drawing/2014/chart" uri="{C3380CC4-5D6E-409C-BE32-E72D297353CC}">
              <c16:uniqueId val="{00000000-9ABF-42CA-8379-E54D01FF6109}"/>
            </c:ext>
          </c:extLst>
        </c:ser>
        <c:ser>
          <c:idx val="1"/>
          <c:order val="1"/>
          <c:tx>
            <c:strRef>
              <c:f>工作表1!$C$1</c:f>
              <c:strCache>
                <c:ptCount val="1"/>
                <c:pt idx="0">
                  <c:v>F1 Score</c:v>
                </c:pt>
              </c:strCache>
            </c:strRef>
          </c:tx>
          <c:spPr>
            <a:solidFill>
              <a:schemeClr val="accent2"/>
            </a:solidFill>
            <a:ln>
              <a:noFill/>
            </a:ln>
            <a:effectLst/>
          </c:spPr>
          <c:invertIfNegative val="0"/>
          <c:cat>
            <c:strRef>
              <c:f>工作表1!$A$2:$A$9</c:f>
              <c:strCache>
                <c:ptCount val="8"/>
                <c:pt idx="0">
                  <c:v>3D_DenseNet-121</c:v>
                </c:pt>
                <c:pt idx="1">
                  <c:v>3D_Resnet-18</c:v>
                </c:pt>
                <c:pt idx="2">
                  <c:v>3D_DenseNet-121+資料增強</c:v>
                </c:pt>
                <c:pt idx="3">
                  <c:v>3D_Resnet-18+資料增強</c:v>
                </c:pt>
                <c:pt idx="4">
                  <c:v>3D_DenseNet-121+資料增強+非區域性平均降噪</c:v>
                </c:pt>
                <c:pt idx="5">
                  <c:v>3D_Resnet-18+資料增強+非區域性平均降噪</c:v>
                </c:pt>
                <c:pt idx="6">
                  <c:v>3D_DenseNet-121+資料增強+非區域性平均降噪+csv</c:v>
                </c:pt>
                <c:pt idx="7">
                  <c:v>3D_Resnet-18+資料增強+非區域性平均降噪+csv</c:v>
                </c:pt>
              </c:strCache>
            </c:strRef>
          </c:cat>
          <c:val>
            <c:numRef>
              <c:f>工作表1!$C$2:$C$9</c:f>
              <c:numCache>
                <c:formatCode>General</c:formatCode>
                <c:ptCount val="8"/>
                <c:pt idx="0">
                  <c:v>0.86699999999999999</c:v>
                </c:pt>
                <c:pt idx="1">
                  <c:v>0.90769999999999995</c:v>
                </c:pt>
                <c:pt idx="2">
                  <c:v>0.82430000000000003</c:v>
                </c:pt>
                <c:pt idx="3">
                  <c:v>0.84040000000000004</c:v>
                </c:pt>
                <c:pt idx="4">
                  <c:v>0.84770000000000001</c:v>
                </c:pt>
                <c:pt idx="5">
                  <c:v>0.89749999999999996</c:v>
                </c:pt>
                <c:pt idx="6">
                  <c:v>0.92120000000000002</c:v>
                </c:pt>
                <c:pt idx="7">
                  <c:v>0.92410000000000003</c:v>
                </c:pt>
              </c:numCache>
            </c:numRef>
          </c:val>
          <c:extLst>
            <c:ext xmlns:c16="http://schemas.microsoft.com/office/drawing/2014/chart" uri="{C3380CC4-5D6E-409C-BE32-E72D297353CC}">
              <c16:uniqueId val="{00000001-9ABF-42CA-8379-E54D01FF6109}"/>
            </c:ext>
          </c:extLst>
        </c:ser>
        <c:ser>
          <c:idx val="2"/>
          <c:order val="2"/>
          <c:tx>
            <c:strRef>
              <c:f>工作表1!$D$1</c:f>
              <c:strCache>
                <c:ptCount val="1"/>
                <c:pt idx="0">
                  <c:v>Recall</c:v>
                </c:pt>
              </c:strCache>
            </c:strRef>
          </c:tx>
          <c:spPr>
            <a:solidFill>
              <a:schemeClr val="accent3"/>
            </a:solidFill>
            <a:ln>
              <a:noFill/>
            </a:ln>
            <a:effectLst/>
          </c:spPr>
          <c:invertIfNegative val="0"/>
          <c:cat>
            <c:strRef>
              <c:f>工作表1!$A$2:$A$9</c:f>
              <c:strCache>
                <c:ptCount val="8"/>
                <c:pt idx="0">
                  <c:v>3D_DenseNet-121</c:v>
                </c:pt>
                <c:pt idx="1">
                  <c:v>3D_Resnet-18</c:v>
                </c:pt>
                <c:pt idx="2">
                  <c:v>3D_DenseNet-121+資料增強</c:v>
                </c:pt>
                <c:pt idx="3">
                  <c:v>3D_Resnet-18+資料增強</c:v>
                </c:pt>
                <c:pt idx="4">
                  <c:v>3D_DenseNet-121+資料增強+非區域性平均降噪</c:v>
                </c:pt>
                <c:pt idx="5">
                  <c:v>3D_Resnet-18+資料增強+非區域性平均降噪</c:v>
                </c:pt>
                <c:pt idx="6">
                  <c:v>3D_DenseNet-121+資料增強+非區域性平均降噪+csv</c:v>
                </c:pt>
                <c:pt idx="7">
                  <c:v>3D_Resnet-18+資料增強+非區域性平均降噪+csv</c:v>
                </c:pt>
              </c:strCache>
            </c:strRef>
          </c:cat>
          <c:val>
            <c:numRef>
              <c:f>工作表1!$D$2:$D$9</c:f>
              <c:numCache>
                <c:formatCode>General</c:formatCode>
                <c:ptCount val="8"/>
                <c:pt idx="0">
                  <c:v>0.85509999999999997</c:v>
                </c:pt>
                <c:pt idx="1">
                  <c:v>0.90580000000000005</c:v>
                </c:pt>
                <c:pt idx="2">
                  <c:v>0.82430000000000003</c:v>
                </c:pt>
                <c:pt idx="3">
                  <c:v>0.82609999999999995</c:v>
                </c:pt>
                <c:pt idx="4">
                  <c:v>0.83699999999999997</c:v>
                </c:pt>
                <c:pt idx="5">
                  <c:v>0.89129999999999998</c:v>
                </c:pt>
                <c:pt idx="6">
                  <c:v>0.91669999999999996</c:v>
                </c:pt>
                <c:pt idx="7">
                  <c:v>0.91669999999999996</c:v>
                </c:pt>
              </c:numCache>
            </c:numRef>
          </c:val>
          <c:extLst>
            <c:ext xmlns:c16="http://schemas.microsoft.com/office/drawing/2014/chart" uri="{C3380CC4-5D6E-409C-BE32-E72D297353CC}">
              <c16:uniqueId val="{00000002-9ABF-42CA-8379-E54D01FF6109}"/>
            </c:ext>
          </c:extLst>
        </c:ser>
        <c:ser>
          <c:idx val="3"/>
          <c:order val="3"/>
          <c:tx>
            <c:strRef>
              <c:f>工作表1!$E$1</c:f>
              <c:strCache>
                <c:ptCount val="1"/>
                <c:pt idx="0">
                  <c:v>Precision</c:v>
                </c:pt>
              </c:strCache>
            </c:strRef>
          </c:tx>
          <c:spPr>
            <a:solidFill>
              <a:schemeClr val="accent4"/>
            </a:solidFill>
            <a:ln>
              <a:noFill/>
            </a:ln>
            <a:effectLst/>
          </c:spPr>
          <c:invertIfNegative val="0"/>
          <c:cat>
            <c:strRef>
              <c:f>工作表1!$A$2:$A$9</c:f>
              <c:strCache>
                <c:ptCount val="8"/>
                <c:pt idx="0">
                  <c:v>3D_DenseNet-121</c:v>
                </c:pt>
                <c:pt idx="1">
                  <c:v>3D_Resnet-18</c:v>
                </c:pt>
                <c:pt idx="2">
                  <c:v>3D_DenseNet-121+資料增強</c:v>
                </c:pt>
                <c:pt idx="3">
                  <c:v>3D_Resnet-18+資料增強</c:v>
                </c:pt>
                <c:pt idx="4">
                  <c:v>3D_DenseNet-121+資料增強+非區域性平均降噪</c:v>
                </c:pt>
                <c:pt idx="5">
                  <c:v>3D_Resnet-18+資料增強+非區域性平均降噪</c:v>
                </c:pt>
                <c:pt idx="6">
                  <c:v>3D_DenseNet-121+資料增強+非區域性平均降噪+csv</c:v>
                </c:pt>
                <c:pt idx="7">
                  <c:v>3D_Resnet-18+資料增強+非區域性平均降噪+csv</c:v>
                </c:pt>
              </c:strCache>
            </c:strRef>
          </c:cat>
          <c:val>
            <c:numRef>
              <c:f>工作表1!$E$2:$E$9</c:f>
              <c:numCache>
                <c:formatCode>General</c:formatCode>
                <c:ptCount val="8"/>
                <c:pt idx="0">
                  <c:v>0.88700000000000001</c:v>
                </c:pt>
                <c:pt idx="1">
                  <c:v>0.92749999999999999</c:v>
                </c:pt>
                <c:pt idx="2">
                  <c:v>0.84350000000000003</c:v>
                </c:pt>
                <c:pt idx="3">
                  <c:v>0.86519999999999997</c:v>
                </c:pt>
                <c:pt idx="4">
                  <c:v>0.86229999999999996</c:v>
                </c:pt>
                <c:pt idx="5">
                  <c:v>0.90580000000000005</c:v>
                </c:pt>
                <c:pt idx="6">
                  <c:v>0.92749999999999999</c:v>
                </c:pt>
                <c:pt idx="7">
                  <c:v>0.93479999999999996</c:v>
                </c:pt>
              </c:numCache>
            </c:numRef>
          </c:val>
          <c:extLst>
            <c:ext xmlns:c16="http://schemas.microsoft.com/office/drawing/2014/chart" uri="{C3380CC4-5D6E-409C-BE32-E72D297353CC}">
              <c16:uniqueId val="{00000003-9ABF-42CA-8379-E54D01FF6109}"/>
            </c:ext>
          </c:extLst>
        </c:ser>
        <c:dLbls>
          <c:showLegendKey val="0"/>
          <c:showVal val="0"/>
          <c:showCatName val="0"/>
          <c:showSerName val="0"/>
          <c:showPercent val="0"/>
          <c:showBubbleSize val="0"/>
        </c:dLbls>
        <c:gapWidth val="267"/>
        <c:overlap val="-43"/>
        <c:axId val="996350319"/>
        <c:axId val="996350799"/>
      </c:barChart>
      <c:catAx>
        <c:axId val="996350319"/>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zh-TW"/>
          </a:p>
        </c:txPr>
        <c:crossAx val="996350799"/>
        <c:crosses val="autoZero"/>
        <c:auto val="1"/>
        <c:lblAlgn val="ctr"/>
        <c:lblOffset val="100"/>
        <c:noMultiLvlLbl val="0"/>
      </c:catAx>
      <c:valAx>
        <c:axId val="996350799"/>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TW"/>
          </a:p>
        </c:txPr>
        <c:crossAx val="996350319"/>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CB1D3C-375F-4ECE-A61A-735B16C64ECD}" type="doc">
      <dgm:prSet loTypeId="urn:microsoft.com/office/officeart/2005/8/layout/chevron2" loCatId="process" qsTypeId="urn:microsoft.com/office/officeart/2005/8/quickstyle/simple3" qsCatId="simple" csTypeId="urn:microsoft.com/office/officeart/2005/8/colors/accent1_2" csCatId="accent1" phldr="1"/>
      <dgm:spPr/>
      <dgm:t>
        <a:bodyPr/>
        <a:lstStyle/>
        <a:p>
          <a:endParaRPr lang="zh-TW" altLang="en-US"/>
        </a:p>
      </dgm:t>
    </dgm:pt>
    <dgm:pt modelId="{949E97C4-7608-43A0-863B-09EFCAD396CB}">
      <dgm:prSet phldrT="[文字]" custT="1"/>
      <dgm:spPr/>
      <dgm:t>
        <a:bodyPr/>
        <a:lstStyle/>
        <a:p>
          <a:r>
            <a:rPr lang="zh-TW" altLang="en-US" sz="1200" b="1" dirty="0">
              <a:latin typeface="微軟正黑體" panose="020B0604030504040204" pitchFamily="34" charset="-120"/>
              <a:ea typeface="微軟正黑體" panose="020B0604030504040204" pitchFamily="34" charset="-120"/>
            </a:rPr>
            <a:t>先理解任務目標</a:t>
          </a:r>
        </a:p>
      </dgm:t>
    </dgm:pt>
    <dgm:pt modelId="{DD2E7793-39D8-4344-A9D6-3C5BB2EF2D14}" type="parTrans" cxnId="{6D566C58-CB70-4224-BC5F-1A866E9A5C60}">
      <dgm:prSet/>
      <dgm:spPr/>
      <dgm:t>
        <a:bodyPr/>
        <a:lstStyle/>
        <a:p>
          <a:endParaRPr lang="zh-TW" altLang="en-US"/>
        </a:p>
      </dgm:t>
    </dgm:pt>
    <dgm:pt modelId="{9D6B8CE0-E35A-4676-8C55-6351CB3ECF1B}" type="sibTrans" cxnId="{6D566C58-CB70-4224-BC5F-1A866E9A5C60}">
      <dgm:prSet/>
      <dgm:spPr/>
      <dgm:t>
        <a:bodyPr/>
        <a:lstStyle/>
        <a:p>
          <a:endParaRPr lang="zh-TW" altLang="en-US"/>
        </a:p>
      </dgm:t>
    </dgm:pt>
    <dgm:pt modelId="{CC9573E2-4663-44C9-960B-1F7DDA232917}">
      <dgm:prSet phldrT="[文字]" custT="1"/>
      <dgm:spPr/>
      <dgm:t>
        <a:bodyPr/>
        <a:lstStyle/>
        <a:p>
          <a:r>
            <a:rPr lang="zh-TW" altLang="en-US" sz="1800" dirty="0">
              <a:latin typeface="微軟正黑體" panose="020B0604030504040204" pitchFamily="34" charset="-120"/>
              <a:ea typeface="微軟正黑體" panose="020B0604030504040204" pitchFamily="34" charset="-120"/>
            </a:rPr>
            <a:t>分類（有無腫瘤 </a:t>
          </a:r>
          <a:r>
            <a:rPr lang="en-US" altLang="en-US" sz="1800" dirty="0">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腫瘤類型）？還是分割（腫瘤位置）？</a:t>
          </a:r>
        </a:p>
      </dgm:t>
    </dgm:pt>
    <dgm:pt modelId="{1EDC5B14-E01E-4EE4-AE55-F3D12EDAA1E9}" type="parTrans" cxnId="{3DB01887-85C1-4E10-ACE6-680BD3656E2B}">
      <dgm:prSet/>
      <dgm:spPr/>
      <dgm:t>
        <a:bodyPr/>
        <a:lstStyle/>
        <a:p>
          <a:endParaRPr lang="zh-TW" altLang="en-US"/>
        </a:p>
      </dgm:t>
    </dgm:pt>
    <dgm:pt modelId="{D01BD42E-1FD7-4C81-A8BB-AA0F29304C00}" type="sibTrans" cxnId="{3DB01887-85C1-4E10-ACE6-680BD3656E2B}">
      <dgm:prSet/>
      <dgm:spPr/>
      <dgm:t>
        <a:bodyPr/>
        <a:lstStyle/>
        <a:p>
          <a:endParaRPr lang="zh-TW" altLang="en-US"/>
        </a:p>
      </dgm:t>
    </dgm:pt>
    <dgm:pt modelId="{CC1FCC77-79F0-4248-9CCC-0D3429C022EE}">
      <dgm:prSet phldrT="[文字]" custT="1"/>
      <dgm:spPr/>
      <dgm:t>
        <a:bodyPr/>
        <a:lstStyle/>
        <a:p>
          <a:r>
            <a:rPr lang="zh-TW" altLang="en-US" sz="1200" b="1" dirty="0">
              <a:latin typeface="微軟正黑體" panose="020B0604030504040204" pitchFamily="34" charset="-120"/>
              <a:ea typeface="微軟正黑體" panose="020B0604030504040204" pitchFamily="34" charset="-120"/>
            </a:rPr>
            <a:t>下載公開資料集</a:t>
          </a:r>
        </a:p>
      </dgm:t>
    </dgm:pt>
    <dgm:pt modelId="{83D8BBBB-9441-4BED-BB51-7026927722AF}" type="parTrans" cxnId="{2F345D2F-A147-44A3-AD93-744F5F781B76}">
      <dgm:prSet/>
      <dgm:spPr/>
      <dgm:t>
        <a:bodyPr/>
        <a:lstStyle/>
        <a:p>
          <a:endParaRPr lang="zh-TW" altLang="en-US"/>
        </a:p>
      </dgm:t>
    </dgm:pt>
    <dgm:pt modelId="{4559D0BA-8C7F-4D64-9F61-77B6BFE2CEEB}" type="sibTrans" cxnId="{2F345D2F-A147-44A3-AD93-744F5F781B76}">
      <dgm:prSet/>
      <dgm:spPr/>
      <dgm:t>
        <a:bodyPr/>
        <a:lstStyle/>
        <a:p>
          <a:endParaRPr lang="zh-TW" altLang="en-US"/>
        </a:p>
      </dgm:t>
    </dgm:pt>
    <dgm:pt modelId="{1EEB8852-A464-4377-9012-4621F10E6ED6}">
      <dgm:prSet phldrT="[文字]" custT="1"/>
      <dgm:spPr/>
      <dgm:t>
        <a:bodyPr/>
        <a:lstStyle/>
        <a:p>
          <a:pPr>
            <a:buClrTx/>
            <a:buSzTx/>
            <a:buFontTx/>
            <a:buChar char="•"/>
          </a:pPr>
          <a:r>
            <a:rPr kumimoji="0" lang="zh-TW" altLang="zh-TW" sz="1800" b="0" i="0" u="none" strike="noStrike" cap="none" normalizeH="0" baseline="0" dirty="0">
              <a:ln/>
              <a:effectLst/>
              <a:latin typeface="微軟正黑體" panose="020B0604030504040204" pitchFamily="34" charset="-120"/>
              <a:ea typeface="微軟正黑體" panose="020B0604030504040204" pitchFamily="34" charset="-120"/>
            </a:rPr>
            <a:t>下載公開資料集（BraTS </a:t>
          </a:r>
          <a:r>
            <a:rPr kumimoji="0" lang="en-US" altLang="zh-TW" sz="1800" b="0" i="0" u="none" strike="noStrike" cap="none" normalizeH="0" baseline="0" dirty="0">
              <a:ln/>
              <a:effectLst/>
              <a:latin typeface="微軟正黑體" panose="020B0604030504040204" pitchFamily="34" charset="-120"/>
              <a:ea typeface="微軟正黑體" panose="020B0604030504040204" pitchFamily="34" charset="-120"/>
            </a:rPr>
            <a:t>/</a:t>
          </a:r>
          <a:r>
            <a:rPr kumimoji="0" lang="en-US" altLang="zh-TW" sz="1800" b="0" i="0" u="none" strike="noStrike" cap="none" normalizeH="0" baseline="0" dirty="0" err="1">
              <a:ln/>
              <a:effectLst/>
              <a:latin typeface="微軟正黑體" panose="020B0604030504040204" pitchFamily="34" charset="-120"/>
              <a:ea typeface="微軟正黑體" panose="020B0604030504040204" pitchFamily="34" charset="-120"/>
            </a:rPr>
            <a:t>kaggle</a:t>
          </a:r>
          <a:r>
            <a:rPr kumimoji="0" lang="zh-TW" altLang="zh-TW" sz="1800" b="0" i="0" u="none" strike="noStrike" cap="none" normalizeH="0" baseline="0" dirty="0">
              <a:ln/>
              <a:effectLst/>
              <a:latin typeface="微軟正黑體" panose="020B0604030504040204" pitchFamily="34" charset="-120"/>
              <a:ea typeface="微軟正黑體" panose="020B0604030504040204" pitchFamily="34" charset="-120"/>
            </a:rPr>
            <a:t>）</a:t>
          </a:r>
          <a:endParaRPr lang="zh-TW" altLang="en-US" sz="1800" b="0" dirty="0"/>
        </a:p>
      </dgm:t>
    </dgm:pt>
    <dgm:pt modelId="{909D2C03-BEA3-48BB-90F0-F0BF01B30790}" type="parTrans" cxnId="{9B36A713-A7FA-4473-BA42-649FFD658138}">
      <dgm:prSet/>
      <dgm:spPr/>
      <dgm:t>
        <a:bodyPr/>
        <a:lstStyle/>
        <a:p>
          <a:endParaRPr lang="zh-TW" altLang="en-US"/>
        </a:p>
      </dgm:t>
    </dgm:pt>
    <dgm:pt modelId="{4AE67EBD-BBA5-4B1C-BAB3-FCF8C4EFE373}" type="sibTrans" cxnId="{9B36A713-A7FA-4473-BA42-649FFD658138}">
      <dgm:prSet/>
      <dgm:spPr/>
      <dgm:t>
        <a:bodyPr/>
        <a:lstStyle/>
        <a:p>
          <a:endParaRPr lang="zh-TW" altLang="en-US"/>
        </a:p>
      </dgm:t>
    </dgm:pt>
    <dgm:pt modelId="{462208E8-E39B-4C0A-B8E2-5A9AD821ECB7}">
      <dgm:prSet phldrT="[文字]" custT="1"/>
      <dgm:spPr/>
      <dgm:t>
        <a:bodyPr/>
        <a:lstStyle/>
        <a:p>
          <a:r>
            <a:rPr lang="en-US" altLang="en-US" sz="1400" b="1" dirty="0">
              <a:latin typeface="微軟正黑體" panose="020B0604030504040204" pitchFamily="34" charset="-120"/>
              <a:ea typeface="微軟正黑體" panose="020B0604030504040204" pitchFamily="34" charset="-120"/>
            </a:rPr>
            <a:t>GitHub </a:t>
          </a:r>
          <a:endParaRPr lang="zh-TW" altLang="en-US" sz="1400" b="1" dirty="0">
            <a:latin typeface="微軟正黑體" panose="020B0604030504040204" pitchFamily="34" charset="-120"/>
            <a:ea typeface="微軟正黑體" panose="020B0604030504040204" pitchFamily="34" charset="-120"/>
          </a:endParaRPr>
        </a:p>
      </dgm:t>
    </dgm:pt>
    <dgm:pt modelId="{48255735-FE85-4027-911D-0B6A22354E10}" type="parTrans" cxnId="{718703B4-18CE-4073-A511-7D9984B78A74}">
      <dgm:prSet/>
      <dgm:spPr/>
      <dgm:t>
        <a:bodyPr/>
        <a:lstStyle/>
        <a:p>
          <a:endParaRPr lang="zh-TW" altLang="en-US"/>
        </a:p>
      </dgm:t>
    </dgm:pt>
    <dgm:pt modelId="{32D38E12-DF9B-4BB3-8E56-666B5C14B655}" type="sibTrans" cxnId="{718703B4-18CE-4073-A511-7D9984B78A74}">
      <dgm:prSet/>
      <dgm:spPr/>
      <dgm:t>
        <a:bodyPr/>
        <a:lstStyle/>
        <a:p>
          <a:endParaRPr lang="zh-TW" altLang="en-US"/>
        </a:p>
      </dgm:t>
    </dgm:pt>
    <dgm:pt modelId="{271257D6-DA1D-4FD8-95EB-B40A466780B1}">
      <dgm:prSet phldrT="[文字]" custT="1"/>
      <dgm:spPr/>
      <dgm:t>
        <a:bodyPr/>
        <a:lstStyle/>
        <a:p>
          <a:r>
            <a:rPr lang="zh-TW" altLang="en-US" sz="1800" dirty="0">
              <a:latin typeface="微軟正黑體" panose="020B0604030504040204" pitchFamily="34" charset="-120"/>
              <a:ea typeface="微軟正黑體" panose="020B0604030504040204" pitchFamily="34" charset="-120"/>
            </a:rPr>
            <a:t>用 </a:t>
          </a:r>
          <a:r>
            <a:rPr lang="en-US" altLang="en-US" sz="1800" dirty="0">
              <a:latin typeface="微軟正黑體" panose="020B0604030504040204" pitchFamily="34" charset="-120"/>
              <a:ea typeface="微軟正黑體" panose="020B0604030504040204" pitchFamily="34" charset="-120"/>
            </a:rPr>
            <a:t>GitHub </a:t>
          </a:r>
          <a:r>
            <a:rPr lang="zh-TW" altLang="en-US" sz="1800" dirty="0">
              <a:latin typeface="微軟正黑體" panose="020B0604030504040204" pitchFamily="34" charset="-120"/>
              <a:ea typeface="微軟正黑體" panose="020B0604030504040204" pitchFamily="34" charset="-120"/>
            </a:rPr>
            <a:t>或 </a:t>
          </a:r>
          <a:r>
            <a:rPr lang="en-US" altLang="en-US" sz="1800" dirty="0">
              <a:latin typeface="微軟正黑體" panose="020B0604030504040204" pitchFamily="34" charset="-120"/>
              <a:ea typeface="微軟正黑體" panose="020B0604030504040204" pitchFamily="34" charset="-120"/>
            </a:rPr>
            <a:t>Kaggle </a:t>
          </a:r>
          <a:r>
            <a:rPr lang="zh-TW" altLang="en-US" sz="1800" dirty="0">
              <a:latin typeface="微軟正黑體" panose="020B0604030504040204" pitchFamily="34" charset="-120"/>
              <a:ea typeface="微軟正黑體" panose="020B0604030504040204" pitchFamily="34" charset="-120"/>
            </a:rPr>
            <a:t>的 </a:t>
          </a:r>
          <a:r>
            <a:rPr lang="en-US" altLang="en-US" sz="1800" dirty="0">
              <a:latin typeface="微軟正黑體" panose="020B0604030504040204" pitchFamily="34" charset="-120"/>
              <a:ea typeface="微軟正黑體" panose="020B0604030504040204" pitchFamily="34" charset="-120"/>
            </a:rPr>
            <a:t>baseline code </a:t>
          </a:r>
          <a:r>
            <a:rPr lang="zh-TW" altLang="en-US" sz="1800" dirty="0">
              <a:latin typeface="微軟正黑體" panose="020B0604030504040204" pitchFamily="34" charset="-120"/>
              <a:ea typeface="微軟正黑體" panose="020B0604030504040204" pitchFamily="34" charset="-120"/>
            </a:rPr>
            <a:t>跑通一次</a:t>
          </a:r>
        </a:p>
      </dgm:t>
    </dgm:pt>
    <dgm:pt modelId="{A4DF7171-667E-4281-B105-F597C783B313}" type="parTrans" cxnId="{22987906-6BAE-4100-8D67-5A0B7E775337}">
      <dgm:prSet/>
      <dgm:spPr/>
      <dgm:t>
        <a:bodyPr/>
        <a:lstStyle/>
        <a:p>
          <a:endParaRPr lang="zh-TW" altLang="en-US"/>
        </a:p>
      </dgm:t>
    </dgm:pt>
    <dgm:pt modelId="{29818452-2E61-465E-8F1A-48B46043C138}" type="sibTrans" cxnId="{22987906-6BAE-4100-8D67-5A0B7E775337}">
      <dgm:prSet/>
      <dgm:spPr/>
      <dgm:t>
        <a:bodyPr/>
        <a:lstStyle/>
        <a:p>
          <a:endParaRPr lang="zh-TW" altLang="en-US"/>
        </a:p>
      </dgm:t>
    </dgm:pt>
    <dgm:pt modelId="{7F50DD57-95D2-4CDA-9CB1-D35C6E97416D}">
      <dgm:prSet phldrT="[文字]" custT="1"/>
      <dgm:spPr/>
      <dgm:t>
        <a:bodyPr/>
        <a:lstStyle/>
        <a:p>
          <a:r>
            <a:rPr lang="zh-TW" altLang="en-US" sz="1600" b="1" dirty="0">
              <a:latin typeface="微軟正黑體" panose="020B0604030504040204" pitchFamily="34" charset="-120"/>
              <a:ea typeface="微軟正黑體" panose="020B0604030504040204" pitchFamily="34" charset="-120"/>
            </a:rPr>
            <a:t>慢慢調整</a:t>
          </a:r>
        </a:p>
      </dgm:t>
    </dgm:pt>
    <dgm:pt modelId="{17961548-AEDB-4083-A948-CCC753F10D53}" type="parTrans" cxnId="{88E8D127-DC91-46D3-A8BB-4C3F7B49ACA7}">
      <dgm:prSet/>
      <dgm:spPr/>
      <dgm:t>
        <a:bodyPr/>
        <a:lstStyle/>
        <a:p>
          <a:endParaRPr lang="zh-TW" altLang="en-US"/>
        </a:p>
      </dgm:t>
    </dgm:pt>
    <dgm:pt modelId="{C83486FC-DA0E-4C40-8764-004C190810B6}" type="sibTrans" cxnId="{88E8D127-DC91-46D3-A8BB-4C3F7B49ACA7}">
      <dgm:prSet/>
      <dgm:spPr/>
      <dgm:t>
        <a:bodyPr/>
        <a:lstStyle/>
        <a:p>
          <a:endParaRPr lang="zh-TW" altLang="en-US"/>
        </a:p>
      </dgm:t>
    </dgm:pt>
    <dgm:pt modelId="{F9B1E927-38FC-4D64-83E8-71C626B9F7EE}">
      <dgm:prSet custT="1"/>
      <dgm:spPr/>
      <dgm:t>
        <a:bodyPr/>
        <a:lstStyle/>
        <a:p>
          <a:r>
            <a:rPr lang="zh-TW" altLang="en-US" sz="1800" dirty="0">
              <a:latin typeface="微軟正黑體" panose="020B0604030504040204" pitchFamily="34" charset="-120"/>
              <a:ea typeface="微軟正黑體" panose="020B0604030504040204" pitchFamily="34" charset="-120"/>
            </a:rPr>
            <a:t>前處理、模型架構（</a:t>
          </a:r>
          <a:r>
            <a:rPr lang="en-US" altLang="en-US" sz="1800" dirty="0" err="1">
              <a:latin typeface="微軟正黑體" panose="020B0604030504040204" pitchFamily="34" charset="-120"/>
              <a:ea typeface="微軟正黑體" panose="020B0604030504040204" pitchFamily="34" charset="-120"/>
            </a:rPr>
            <a:t>ResNet</a:t>
          </a:r>
          <a:r>
            <a:rPr lang="zh-TW" altLang="en-US" sz="1800" dirty="0">
              <a:latin typeface="微軟正黑體" panose="020B0604030504040204" pitchFamily="34" charset="-120"/>
              <a:ea typeface="微軟正黑體" panose="020B0604030504040204" pitchFamily="34" charset="-120"/>
            </a:rPr>
            <a:t>、</a:t>
          </a:r>
          <a:r>
            <a:rPr lang="en-US" altLang="en-US" sz="1800" dirty="0" err="1">
              <a:latin typeface="微軟正黑體" panose="020B0604030504040204" pitchFamily="34" charset="-120"/>
              <a:ea typeface="微軟正黑體" panose="020B0604030504040204" pitchFamily="34" charset="-120"/>
            </a:rPr>
            <a:t>DenseNet</a:t>
          </a:r>
          <a:r>
            <a:rPr lang="zh-TW" altLang="en-US" sz="1800" dirty="0">
              <a:latin typeface="微軟正黑體" panose="020B0604030504040204" pitchFamily="34" charset="-120"/>
              <a:ea typeface="微軟正黑體" panose="020B0604030504040204" pitchFamily="34" charset="-120"/>
            </a:rPr>
            <a:t>、</a:t>
          </a:r>
          <a:r>
            <a:rPr lang="en-US" altLang="en-US" sz="1800" dirty="0" err="1">
              <a:latin typeface="微軟正黑體" panose="020B0604030504040204" pitchFamily="34" charset="-120"/>
              <a:ea typeface="微軟正黑體" panose="020B0604030504040204" pitchFamily="34" charset="-120"/>
            </a:rPr>
            <a:t>UNet</a:t>
          </a:r>
          <a:r>
            <a:rPr lang="zh-TW" altLang="en-US" sz="1800" dirty="0">
              <a:latin typeface="微軟正黑體" panose="020B0604030504040204" pitchFamily="34" charset="-120"/>
              <a:ea typeface="微軟正黑體" panose="020B0604030504040204" pitchFamily="34" charset="-120"/>
            </a:rPr>
            <a:t>）、資料增強、超參數調整</a:t>
          </a:r>
        </a:p>
      </dgm:t>
    </dgm:pt>
    <dgm:pt modelId="{EC52481A-EE0D-4554-B9AB-B7131A0D1377}" type="parTrans" cxnId="{0F9DC5EE-16BE-4197-979E-6C6B13C2A9DA}">
      <dgm:prSet/>
      <dgm:spPr/>
      <dgm:t>
        <a:bodyPr/>
        <a:lstStyle/>
        <a:p>
          <a:endParaRPr lang="zh-TW" altLang="en-US"/>
        </a:p>
      </dgm:t>
    </dgm:pt>
    <dgm:pt modelId="{05F5E8D2-73A4-4535-9FAD-9F770F5911E4}" type="sibTrans" cxnId="{0F9DC5EE-16BE-4197-979E-6C6B13C2A9DA}">
      <dgm:prSet/>
      <dgm:spPr/>
      <dgm:t>
        <a:bodyPr/>
        <a:lstStyle/>
        <a:p>
          <a:endParaRPr lang="zh-TW" altLang="en-US"/>
        </a:p>
      </dgm:t>
    </dgm:pt>
    <dgm:pt modelId="{C029E521-99FC-438F-98AC-1F7DC949792C}" type="pres">
      <dgm:prSet presAssocID="{6ECB1D3C-375F-4ECE-A61A-735B16C64ECD}" presName="linearFlow" presStyleCnt="0">
        <dgm:presLayoutVars>
          <dgm:dir/>
          <dgm:animLvl val="lvl"/>
          <dgm:resizeHandles val="exact"/>
        </dgm:presLayoutVars>
      </dgm:prSet>
      <dgm:spPr/>
    </dgm:pt>
    <dgm:pt modelId="{BAD1D57B-EAE5-42AC-BE83-8C891547F7AD}" type="pres">
      <dgm:prSet presAssocID="{949E97C4-7608-43A0-863B-09EFCAD396CB}" presName="composite" presStyleCnt="0"/>
      <dgm:spPr/>
    </dgm:pt>
    <dgm:pt modelId="{E2C3A8E1-CE93-4E4E-9348-28496F74C37D}" type="pres">
      <dgm:prSet presAssocID="{949E97C4-7608-43A0-863B-09EFCAD396CB}" presName="parentText" presStyleLbl="alignNode1" presStyleIdx="0" presStyleCnt="4" custScaleX="116694">
        <dgm:presLayoutVars>
          <dgm:chMax val="1"/>
          <dgm:bulletEnabled val="1"/>
        </dgm:presLayoutVars>
      </dgm:prSet>
      <dgm:spPr/>
    </dgm:pt>
    <dgm:pt modelId="{4C85D1C5-F01B-41D8-A41B-0C13CD35ABDC}" type="pres">
      <dgm:prSet presAssocID="{949E97C4-7608-43A0-863B-09EFCAD396CB}" presName="descendantText" presStyleLbl="alignAcc1" presStyleIdx="0" presStyleCnt="4" custScaleX="68555" custLinFactNeighborX="-11183" custLinFactNeighborY="-3">
        <dgm:presLayoutVars>
          <dgm:bulletEnabled val="1"/>
        </dgm:presLayoutVars>
      </dgm:prSet>
      <dgm:spPr/>
    </dgm:pt>
    <dgm:pt modelId="{42AF4EAB-2F65-4E1F-B500-B083D57AF715}" type="pres">
      <dgm:prSet presAssocID="{9D6B8CE0-E35A-4676-8C55-6351CB3ECF1B}" presName="sp" presStyleCnt="0"/>
      <dgm:spPr/>
    </dgm:pt>
    <dgm:pt modelId="{26B49B35-8363-4538-A803-4AF872C7468A}" type="pres">
      <dgm:prSet presAssocID="{CC1FCC77-79F0-4248-9CCC-0D3429C022EE}" presName="composite" presStyleCnt="0"/>
      <dgm:spPr/>
    </dgm:pt>
    <dgm:pt modelId="{A62A53C2-3067-4C18-80C2-0EB7414273FD}" type="pres">
      <dgm:prSet presAssocID="{CC1FCC77-79F0-4248-9CCC-0D3429C022EE}" presName="parentText" presStyleLbl="alignNode1" presStyleIdx="1" presStyleCnt="4" custScaleX="115584">
        <dgm:presLayoutVars>
          <dgm:chMax val="1"/>
          <dgm:bulletEnabled val="1"/>
        </dgm:presLayoutVars>
      </dgm:prSet>
      <dgm:spPr/>
    </dgm:pt>
    <dgm:pt modelId="{60C3F974-7EB0-4514-997B-B68FD7CB8792}" type="pres">
      <dgm:prSet presAssocID="{CC1FCC77-79F0-4248-9CCC-0D3429C022EE}" presName="descendantText" presStyleLbl="alignAcc1" presStyleIdx="1" presStyleCnt="4" custScaleX="69595" custLinFactNeighborX="-10560" custLinFactNeighborY="-4764">
        <dgm:presLayoutVars>
          <dgm:bulletEnabled val="1"/>
        </dgm:presLayoutVars>
      </dgm:prSet>
      <dgm:spPr/>
    </dgm:pt>
    <dgm:pt modelId="{04C7CF3E-404A-4042-9CC3-6FC4C7AA19CD}" type="pres">
      <dgm:prSet presAssocID="{4559D0BA-8C7F-4D64-9F61-77B6BFE2CEEB}" presName="sp" presStyleCnt="0"/>
      <dgm:spPr/>
    </dgm:pt>
    <dgm:pt modelId="{D393D93C-E848-4CF0-83A4-0F362D05515D}" type="pres">
      <dgm:prSet presAssocID="{462208E8-E39B-4C0A-B8E2-5A9AD821ECB7}" presName="composite" presStyleCnt="0"/>
      <dgm:spPr/>
    </dgm:pt>
    <dgm:pt modelId="{B1B023A4-2FCE-421F-8475-03AC83AD7B93}" type="pres">
      <dgm:prSet presAssocID="{462208E8-E39B-4C0A-B8E2-5A9AD821ECB7}" presName="parentText" presStyleLbl="alignNode1" presStyleIdx="2" presStyleCnt="4" custScaleX="120928">
        <dgm:presLayoutVars>
          <dgm:chMax val="1"/>
          <dgm:bulletEnabled val="1"/>
        </dgm:presLayoutVars>
      </dgm:prSet>
      <dgm:spPr/>
    </dgm:pt>
    <dgm:pt modelId="{C982817A-E4D9-43D8-9F1B-97B363A9AFBF}" type="pres">
      <dgm:prSet presAssocID="{462208E8-E39B-4C0A-B8E2-5A9AD821ECB7}" presName="descendantText" presStyleLbl="alignAcc1" presStyleIdx="2" presStyleCnt="4" custScaleX="69442" custLinFactNeighborX="-11288" custLinFactNeighborY="-2859">
        <dgm:presLayoutVars>
          <dgm:bulletEnabled val="1"/>
        </dgm:presLayoutVars>
      </dgm:prSet>
      <dgm:spPr/>
    </dgm:pt>
    <dgm:pt modelId="{B85191AA-73CB-499D-94A2-6FBBB0B071E3}" type="pres">
      <dgm:prSet presAssocID="{32D38E12-DF9B-4BB3-8E56-666B5C14B655}" presName="sp" presStyleCnt="0"/>
      <dgm:spPr/>
    </dgm:pt>
    <dgm:pt modelId="{5D396A32-C423-4474-B66C-A55F5E28EAA7}" type="pres">
      <dgm:prSet presAssocID="{7F50DD57-95D2-4CDA-9CB1-D35C6E97416D}" presName="composite" presStyleCnt="0"/>
      <dgm:spPr/>
    </dgm:pt>
    <dgm:pt modelId="{3B754592-190C-48E4-898A-AB7A75B9A3C8}" type="pres">
      <dgm:prSet presAssocID="{7F50DD57-95D2-4CDA-9CB1-D35C6E97416D}" presName="parentText" presStyleLbl="alignNode1" presStyleIdx="3" presStyleCnt="4" custScaleX="114144">
        <dgm:presLayoutVars>
          <dgm:chMax val="1"/>
          <dgm:bulletEnabled val="1"/>
        </dgm:presLayoutVars>
      </dgm:prSet>
      <dgm:spPr/>
    </dgm:pt>
    <dgm:pt modelId="{4493DD8A-A6DB-4EF3-919C-B7BAFD7B5973}" type="pres">
      <dgm:prSet presAssocID="{7F50DD57-95D2-4CDA-9CB1-D35C6E97416D}" presName="descendantText" presStyleLbl="alignAcc1" presStyleIdx="3" presStyleCnt="4" custScaleX="70244" custLinFactNeighborX="-10462" custLinFactNeighborY="-1906">
        <dgm:presLayoutVars>
          <dgm:bulletEnabled val="1"/>
        </dgm:presLayoutVars>
      </dgm:prSet>
      <dgm:spPr/>
    </dgm:pt>
  </dgm:ptLst>
  <dgm:cxnLst>
    <dgm:cxn modelId="{22987906-6BAE-4100-8D67-5A0B7E775337}" srcId="{462208E8-E39B-4C0A-B8E2-5A9AD821ECB7}" destId="{271257D6-DA1D-4FD8-95EB-B40A466780B1}" srcOrd="0" destOrd="0" parTransId="{A4DF7171-667E-4281-B105-F597C783B313}" sibTransId="{29818452-2E61-465E-8F1A-48B46043C138}"/>
    <dgm:cxn modelId="{9B36A713-A7FA-4473-BA42-649FFD658138}" srcId="{CC1FCC77-79F0-4248-9CCC-0D3429C022EE}" destId="{1EEB8852-A464-4377-9012-4621F10E6ED6}" srcOrd="0" destOrd="0" parTransId="{909D2C03-BEA3-48BB-90F0-F0BF01B30790}" sibTransId="{4AE67EBD-BBA5-4B1C-BAB3-FCF8C4EFE373}"/>
    <dgm:cxn modelId="{92E93A1B-0005-404C-9EAF-1778868E0988}" type="presOf" srcId="{F9B1E927-38FC-4D64-83E8-71C626B9F7EE}" destId="{4493DD8A-A6DB-4EF3-919C-B7BAFD7B5973}" srcOrd="0" destOrd="0" presId="urn:microsoft.com/office/officeart/2005/8/layout/chevron2"/>
    <dgm:cxn modelId="{7FBC2F1D-33E5-4898-B626-E6512AC4CEE6}" type="presOf" srcId="{271257D6-DA1D-4FD8-95EB-B40A466780B1}" destId="{C982817A-E4D9-43D8-9F1B-97B363A9AFBF}" srcOrd="0" destOrd="0" presId="urn:microsoft.com/office/officeart/2005/8/layout/chevron2"/>
    <dgm:cxn modelId="{88E8D127-DC91-46D3-A8BB-4C3F7B49ACA7}" srcId="{6ECB1D3C-375F-4ECE-A61A-735B16C64ECD}" destId="{7F50DD57-95D2-4CDA-9CB1-D35C6E97416D}" srcOrd="3" destOrd="0" parTransId="{17961548-AEDB-4083-A948-CCC753F10D53}" sibTransId="{C83486FC-DA0E-4C40-8764-004C190810B6}"/>
    <dgm:cxn modelId="{2F345D2F-A147-44A3-AD93-744F5F781B76}" srcId="{6ECB1D3C-375F-4ECE-A61A-735B16C64ECD}" destId="{CC1FCC77-79F0-4248-9CCC-0D3429C022EE}" srcOrd="1" destOrd="0" parTransId="{83D8BBBB-9441-4BED-BB51-7026927722AF}" sibTransId="{4559D0BA-8C7F-4D64-9F61-77B6BFE2CEEB}"/>
    <dgm:cxn modelId="{AD019D5F-9BCB-4CD0-BEFE-03F89DE69056}" type="presOf" srcId="{949E97C4-7608-43A0-863B-09EFCAD396CB}" destId="{E2C3A8E1-CE93-4E4E-9348-28496F74C37D}" srcOrd="0" destOrd="0" presId="urn:microsoft.com/office/officeart/2005/8/layout/chevron2"/>
    <dgm:cxn modelId="{A461BA49-D393-4B31-88CE-477B87FCF1BE}" type="presOf" srcId="{7F50DD57-95D2-4CDA-9CB1-D35C6E97416D}" destId="{3B754592-190C-48E4-898A-AB7A75B9A3C8}" srcOrd="0" destOrd="0" presId="urn:microsoft.com/office/officeart/2005/8/layout/chevron2"/>
    <dgm:cxn modelId="{6D566C58-CB70-4224-BC5F-1A866E9A5C60}" srcId="{6ECB1D3C-375F-4ECE-A61A-735B16C64ECD}" destId="{949E97C4-7608-43A0-863B-09EFCAD396CB}" srcOrd="0" destOrd="0" parTransId="{DD2E7793-39D8-4344-A9D6-3C5BB2EF2D14}" sibTransId="{9D6B8CE0-E35A-4676-8C55-6351CB3ECF1B}"/>
    <dgm:cxn modelId="{FE03A379-8F30-4123-BABB-F8E78EE0CB61}" type="presOf" srcId="{CC1FCC77-79F0-4248-9CCC-0D3429C022EE}" destId="{A62A53C2-3067-4C18-80C2-0EB7414273FD}" srcOrd="0" destOrd="0" presId="urn:microsoft.com/office/officeart/2005/8/layout/chevron2"/>
    <dgm:cxn modelId="{55D9E85A-A904-4BD9-92BD-504EF8A61F65}" type="presOf" srcId="{6ECB1D3C-375F-4ECE-A61A-735B16C64ECD}" destId="{C029E521-99FC-438F-98AC-1F7DC949792C}" srcOrd="0" destOrd="0" presId="urn:microsoft.com/office/officeart/2005/8/layout/chevron2"/>
    <dgm:cxn modelId="{3DB01887-85C1-4E10-ACE6-680BD3656E2B}" srcId="{949E97C4-7608-43A0-863B-09EFCAD396CB}" destId="{CC9573E2-4663-44C9-960B-1F7DDA232917}" srcOrd="0" destOrd="0" parTransId="{1EDC5B14-E01E-4EE4-AE55-F3D12EDAA1E9}" sibTransId="{D01BD42E-1FD7-4C81-A8BB-AA0F29304C00}"/>
    <dgm:cxn modelId="{9AD9B58B-C91D-4E9D-A312-6B5054EDBE19}" type="presOf" srcId="{462208E8-E39B-4C0A-B8E2-5A9AD821ECB7}" destId="{B1B023A4-2FCE-421F-8475-03AC83AD7B93}" srcOrd="0" destOrd="0" presId="urn:microsoft.com/office/officeart/2005/8/layout/chevron2"/>
    <dgm:cxn modelId="{718703B4-18CE-4073-A511-7D9984B78A74}" srcId="{6ECB1D3C-375F-4ECE-A61A-735B16C64ECD}" destId="{462208E8-E39B-4C0A-B8E2-5A9AD821ECB7}" srcOrd="2" destOrd="0" parTransId="{48255735-FE85-4027-911D-0B6A22354E10}" sibTransId="{32D38E12-DF9B-4BB3-8E56-666B5C14B655}"/>
    <dgm:cxn modelId="{C1CF99D0-CE01-429E-B166-5ECAB45542CB}" type="presOf" srcId="{1EEB8852-A464-4377-9012-4621F10E6ED6}" destId="{60C3F974-7EB0-4514-997B-B68FD7CB8792}" srcOrd="0" destOrd="0" presId="urn:microsoft.com/office/officeart/2005/8/layout/chevron2"/>
    <dgm:cxn modelId="{B80F12EA-CAEF-4C61-A934-BAA1398B8C86}" type="presOf" srcId="{CC9573E2-4663-44C9-960B-1F7DDA232917}" destId="{4C85D1C5-F01B-41D8-A41B-0C13CD35ABDC}" srcOrd="0" destOrd="0" presId="urn:microsoft.com/office/officeart/2005/8/layout/chevron2"/>
    <dgm:cxn modelId="{0F9DC5EE-16BE-4197-979E-6C6B13C2A9DA}" srcId="{7F50DD57-95D2-4CDA-9CB1-D35C6E97416D}" destId="{F9B1E927-38FC-4D64-83E8-71C626B9F7EE}" srcOrd="0" destOrd="0" parTransId="{EC52481A-EE0D-4554-B9AB-B7131A0D1377}" sibTransId="{05F5E8D2-73A4-4535-9FAD-9F770F5911E4}"/>
    <dgm:cxn modelId="{F67999EC-77E0-42A7-A4A4-37F9FF16EED2}" type="presParOf" srcId="{C029E521-99FC-438F-98AC-1F7DC949792C}" destId="{BAD1D57B-EAE5-42AC-BE83-8C891547F7AD}" srcOrd="0" destOrd="0" presId="urn:microsoft.com/office/officeart/2005/8/layout/chevron2"/>
    <dgm:cxn modelId="{6A13D253-84F5-4B28-943C-9AFF5D8DA461}" type="presParOf" srcId="{BAD1D57B-EAE5-42AC-BE83-8C891547F7AD}" destId="{E2C3A8E1-CE93-4E4E-9348-28496F74C37D}" srcOrd="0" destOrd="0" presId="urn:microsoft.com/office/officeart/2005/8/layout/chevron2"/>
    <dgm:cxn modelId="{59DD1E04-6CE0-407B-9CB5-559F96BCBBEE}" type="presParOf" srcId="{BAD1D57B-EAE5-42AC-BE83-8C891547F7AD}" destId="{4C85D1C5-F01B-41D8-A41B-0C13CD35ABDC}" srcOrd="1" destOrd="0" presId="urn:microsoft.com/office/officeart/2005/8/layout/chevron2"/>
    <dgm:cxn modelId="{1654341C-189A-4271-A325-297938AAFC2B}" type="presParOf" srcId="{C029E521-99FC-438F-98AC-1F7DC949792C}" destId="{42AF4EAB-2F65-4E1F-B500-B083D57AF715}" srcOrd="1" destOrd="0" presId="urn:microsoft.com/office/officeart/2005/8/layout/chevron2"/>
    <dgm:cxn modelId="{19FA42A4-2590-4C57-B14B-F7B6E82C39C0}" type="presParOf" srcId="{C029E521-99FC-438F-98AC-1F7DC949792C}" destId="{26B49B35-8363-4538-A803-4AF872C7468A}" srcOrd="2" destOrd="0" presId="urn:microsoft.com/office/officeart/2005/8/layout/chevron2"/>
    <dgm:cxn modelId="{15126010-88A7-4C57-84A1-E07CB04CD16A}" type="presParOf" srcId="{26B49B35-8363-4538-A803-4AF872C7468A}" destId="{A62A53C2-3067-4C18-80C2-0EB7414273FD}" srcOrd="0" destOrd="0" presId="urn:microsoft.com/office/officeart/2005/8/layout/chevron2"/>
    <dgm:cxn modelId="{08CCAB3E-320C-400C-A16A-7143795FFFB7}" type="presParOf" srcId="{26B49B35-8363-4538-A803-4AF872C7468A}" destId="{60C3F974-7EB0-4514-997B-B68FD7CB8792}" srcOrd="1" destOrd="0" presId="urn:microsoft.com/office/officeart/2005/8/layout/chevron2"/>
    <dgm:cxn modelId="{EB9DCABD-D7AE-4ED3-971F-F3936A30C277}" type="presParOf" srcId="{C029E521-99FC-438F-98AC-1F7DC949792C}" destId="{04C7CF3E-404A-4042-9CC3-6FC4C7AA19CD}" srcOrd="3" destOrd="0" presId="urn:microsoft.com/office/officeart/2005/8/layout/chevron2"/>
    <dgm:cxn modelId="{EDFD0E5D-7E00-462A-BE03-036A8C3B4860}" type="presParOf" srcId="{C029E521-99FC-438F-98AC-1F7DC949792C}" destId="{D393D93C-E848-4CF0-83A4-0F362D05515D}" srcOrd="4" destOrd="0" presId="urn:microsoft.com/office/officeart/2005/8/layout/chevron2"/>
    <dgm:cxn modelId="{A8D8B4C1-B1CF-479C-841C-798281D51F91}" type="presParOf" srcId="{D393D93C-E848-4CF0-83A4-0F362D05515D}" destId="{B1B023A4-2FCE-421F-8475-03AC83AD7B93}" srcOrd="0" destOrd="0" presId="urn:microsoft.com/office/officeart/2005/8/layout/chevron2"/>
    <dgm:cxn modelId="{45D2082F-64E2-4DF6-A3A6-E6C58EBF8FE8}" type="presParOf" srcId="{D393D93C-E848-4CF0-83A4-0F362D05515D}" destId="{C982817A-E4D9-43D8-9F1B-97B363A9AFBF}" srcOrd="1" destOrd="0" presId="urn:microsoft.com/office/officeart/2005/8/layout/chevron2"/>
    <dgm:cxn modelId="{22925B25-4D85-45E9-884B-41A94C8255AF}" type="presParOf" srcId="{C029E521-99FC-438F-98AC-1F7DC949792C}" destId="{B85191AA-73CB-499D-94A2-6FBBB0B071E3}" srcOrd="5" destOrd="0" presId="urn:microsoft.com/office/officeart/2005/8/layout/chevron2"/>
    <dgm:cxn modelId="{700FEFA4-A1A0-4D47-8743-D60899189A37}" type="presParOf" srcId="{C029E521-99FC-438F-98AC-1F7DC949792C}" destId="{5D396A32-C423-4474-B66C-A55F5E28EAA7}" srcOrd="6" destOrd="0" presId="urn:microsoft.com/office/officeart/2005/8/layout/chevron2"/>
    <dgm:cxn modelId="{D9CEB3AB-DEEE-4482-A8D9-61354D30B8E7}" type="presParOf" srcId="{5D396A32-C423-4474-B66C-A55F5E28EAA7}" destId="{3B754592-190C-48E4-898A-AB7A75B9A3C8}" srcOrd="0" destOrd="0" presId="urn:microsoft.com/office/officeart/2005/8/layout/chevron2"/>
    <dgm:cxn modelId="{AB04973D-DC34-4E97-A88C-178651CCB52E}" type="presParOf" srcId="{5D396A32-C423-4474-B66C-A55F5E28EAA7}" destId="{4493DD8A-A6DB-4EF3-919C-B7BAFD7B597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03A156-31CB-4AD1-BA97-CCE3329000B6}"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TW" altLang="en-US"/>
        </a:p>
      </dgm:t>
    </dgm:pt>
    <dgm:pt modelId="{12956B9E-3F1E-4E0C-A6FE-103686094290}">
      <dgm:prSet phldrT="[文字]" custT="1"/>
      <dgm:spPr/>
      <dgm:t>
        <a:bodyPr/>
        <a:lstStyle/>
        <a:p>
          <a:r>
            <a:rPr lang="en-US" altLang="zh-TW" sz="1800" dirty="0"/>
            <a:t>MRI/CT (.</a:t>
          </a:r>
          <a:r>
            <a:rPr lang="en-US" altLang="zh-TW" sz="1800" dirty="0" err="1"/>
            <a:t>nii</a:t>
          </a:r>
          <a:r>
            <a:rPr lang="en-US" altLang="zh-TW" sz="1800" dirty="0"/>
            <a:t>/.nii.gz)</a:t>
          </a:r>
          <a:endParaRPr lang="zh-TW" altLang="en-US" sz="1800" dirty="0"/>
        </a:p>
      </dgm:t>
    </dgm:pt>
    <dgm:pt modelId="{74B79D7F-2D1F-4655-8077-079779584930}" type="parTrans" cxnId="{2B34FB7C-82C5-4CB6-8251-4BBF1B3670DE}">
      <dgm:prSet/>
      <dgm:spPr/>
      <dgm:t>
        <a:bodyPr/>
        <a:lstStyle/>
        <a:p>
          <a:endParaRPr lang="zh-TW" altLang="en-US"/>
        </a:p>
      </dgm:t>
    </dgm:pt>
    <dgm:pt modelId="{721F7B50-78AE-4F55-B831-842A34A4931E}" type="sibTrans" cxnId="{2B34FB7C-82C5-4CB6-8251-4BBF1B3670DE}">
      <dgm:prSet/>
      <dgm:spPr/>
      <dgm:t>
        <a:bodyPr/>
        <a:lstStyle/>
        <a:p>
          <a:endParaRPr lang="zh-TW" altLang="en-US"/>
        </a:p>
      </dgm:t>
    </dgm:pt>
    <dgm:pt modelId="{8DB48DDB-9865-4790-B167-6BBC79E89388}">
      <dgm:prSet phldrT="[文字]" custT="1"/>
      <dgm:spPr>
        <a:gradFill rotWithShape="0">
          <a:gsLst>
            <a:gs pos="0">
              <a:srgbClr val="5B9BD5">
                <a:hueOff val="0"/>
                <a:satOff val="0"/>
                <a:lumOff val="0"/>
                <a:alphaOff val="0"/>
                <a:lumMod val="110000"/>
                <a:satMod val="105000"/>
                <a:tint val="67000"/>
              </a:srgbClr>
            </a:gs>
            <a:gs pos="50000">
              <a:srgbClr val="5B9BD5">
                <a:hueOff val="0"/>
                <a:satOff val="0"/>
                <a:lumOff val="0"/>
                <a:alphaOff val="0"/>
                <a:lumMod val="105000"/>
                <a:satMod val="103000"/>
                <a:tint val="73000"/>
              </a:srgbClr>
            </a:gs>
            <a:gs pos="100000">
              <a:srgbClr val="5B9BD5">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spcFirstLastPara="0" vert="horz" wrap="square" lIns="145255" tIns="0" rIns="145255" bIns="0" numCol="1" spcCol="1270" anchor="ctr" anchorCtr="0"/>
        <a:lstStyle/>
        <a:p>
          <a:pPr marL="0" lvl="0" indent="0" algn="l" defTabSz="800100">
            <a:lnSpc>
              <a:spcPct val="90000"/>
            </a:lnSpc>
            <a:spcBef>
              <a:spcPct val="0"/>
            </a:spcBef>
            <a:spcAft>
              <a:spcPct val="35000"/>
            </a:spcAft>
            <a:buNone/>
          </a:pPr>
          <a:r>
            <a:rPr lang="en-US" altLang="zh-TW" sz="1800" kern="1200" dirty="0">
              <a:solidFill>
                <a:prstClr val="black"/>
              </a:solidFill>
              <a:latin typeface="Calibri" panose="020F0502020204030204"/>
              <a:ea typeface="新細明體" panose="02020500000000000000" pitchFamily="18" charset="-120"/>
              <a:cs typeface="+mn-cs"/>
            </a:rPr>
            <a:t>DICOM (.</a:t>
          </a:r>
          <a:r>
            <a:rPr lang="en-US" altLang="zh-TW" sz="1800" kern="1200" dirty="0" err="1">
              <a:solidFill>
                <a:prstClr val="black"/>
              </a:solidFill>
              <a:latin typeface="Calibri" panose="020F0502020204030204"/>
              <a:ea typeface="新細明體" panose="02020500000000000000" pitchFamily="18" charset="-120"/>
              <a:cs typeface="+mn-cs"/>
            </a:rPr>
            <a:t>dcm</a:t>
          </a:r>
          <a:r>
            <a:rPr lang="en-US" altLang="zh-TW" sz="1800" kern="1200" dirty="0">
              <a:solidFill>
                <a:prstClr val="black"/>
              </a:solidFill>
              <a:latin typeface="Calibri" panose="020F0502020204030204"/>
              <a:ea typeface="新細明體" panose="02020500000000000000" pitchFamily="18" charset="-120"/>
              <a:cs typeface="+mn-cs"/>
            </a:rPr>
            <a:t>)</a:t>
          </a:r>
          <a:endParaRPr lang="zh-TW" altLang="en-US" sz="1800" kern="1200" dirty="0">
            <a:solidFill>
              <a:prstClr val="black"/>
            </a:solidFill>
            <a:latin typeface="Calibri" panose="020F0502020204030204"/>
            <a:ea typeface="新細明體" panose="02020500000000000000" pitchFamily="18" charset="-120"/>
            <a:cs typeface="+mn-cs"/>
          </a:endParaRPr>
        </a:p>
      </dgm:t>
    </dgm:pt>
    <dgm:pt modelId="{07294F71-BAD9-4FBC-B2BC-3F0A9B739EDA}" type="parTrans" cxnId="{B3C36A2C-1532-422E-A758-ED55505EDB77}">
      <dgm:prSet/>
      <dgm:spPr/>
      <dgm:t>
        <a:bodyPr/>
        <a:lstStyle/>
        <a:p>
          <a:endParaRPr lang="zh-TW" altLang="en-US"/>
        </a:p>
      </dgm:t>
    </dgm:pt>
    <dgm:pt modelId="{C9DC3534-2DF2-4C26-8C99-2DFE2C2339D9}" type="sibTrans" cxnId="{B3C36A2C-1532-422E-A758-ED55505EDB77}">
      <dgm:prSet/>
      <dgm:spPr/>
      <dgm:t>
        <a:bodyPr/>
        <a:lstStyle/>
        <a:p>
          <a:endParaRPr lang="zh-TW" altLang="en-US"/>
        </a:p>
      </dgm:t>
    </dgm:pt>
    <dgm:pt modelId="{7559F53B-0C0B-4DF4-9431-AACBDC7D64D2}">
      <dgm:prSet phldrT="[文字]" custT="1"/>
      <dgm:spPr/>
      <dgm:t>
        <a:bodyPr/>
        <a:lstStyle/>
        <a:p>
          <a:pPr marL="0" lvl="0" indent="0" algn="l" defTabSz="800100">
            <a:lnSpc>
              <a:spcPct val="90000"/>
            </a:lnSpc>
            <a:spcBef>
              <a:spcPct val="0"/>
            </a:spcBef>
            <a:spcAft>
              <a:spcPct val="35000"/>
            </a:spcAft>
            <a:buNone/>
          </a:pPr>
          <a:r>
            <a:rPr lang="zh-TW" altLang="en-US" sz="1800" kern="1200" dirty="0">
              <a:solidFill>
                <a:prstClr val="black"/>
              </a:solidFill>
              <a:latin typeface="微軟正黑體" panose="020B0604030504040204" pitchFamily="34" charset="-120"/>
              <a:ea typeface="微軟正黑體" panose="020B0604030504040204" pitchFamily="34" charset="-120"/>
              <a:cs typeface="+mn-cs"/>
            </a:rPr>
            <a:t>一般圖片 </a:t>
          </a:r>
          <a:r>
            <a:rPr lang="en-US" altLang="zh-TW" sz="1800" kern="1200" dirty="0">
              <a:solidFill>
                <a:prstClr val="black"/>
              </a:solidFill>
              <a:latin typeface="Calibri" panose="020F0502020204030204"/>
              <a:ea typeface="新細明體" panose="02020500000000000000" pitchFamily="18" charset="-120"/>
              <a:cs typeface="+mn-cs"/>
            </a:rPr>
            <a:t>(.jpg/.</a:t>
          </a:r>
          <a:r>
            <a:rPr lang="en-US" altLang="zh-TW" sz="1800" kern="1200" dirty="0" err="1">
              <a:solidFill>
                <a:prstClr val="black"/>
              </a:solidFill>
              <a:latin typeface="Calibri" panose="020F0502020204030204"/>
              <a:ea typeface="新細明體" panose="02020500000000000000" pitchFamily="18" charset="-120"/>
              <a:cs typeface="+mn-cs"/>
            </a:rPr>
            <a:t>png</a:t>
          </a:r>
          <a:r>
            <a:rPr lang="en-US" altLang="zh-TW" sz="1800" kern="1200" dirty="0">
              <a:solidFill>
                <a:prstClr val="black"/>
              </a:solidFill>
              <a:latin typeface="Calibri" panose="020F0502020204030204"/>
              <a:ea typeface="新細明體" panose="02020500000000000000" pitchFamily="18" charset="-120"/>
              <a:cs typeface="+mn-cs"/>
            </a:rPr>
            <a:t>)</a:t>
          </a:r>
          <a:endParaRPr lang="zh-TW" altLang="en-US" sz="1800" kern="1200" dirty="0">
            <a:solidFill>
              <a:prstClr val="black"/>
            </a:solidFill>
            <a:latin typeface="Calibri" panose="020F0502020204030204"/>
            <a:ea typeface="新細明體" panose="02020500000000000000" pitchFamily="18" charset="-120"/>
            <a:cs typeface="+mn-cs"/>
          </a:endParaRPr>
        </a:p>
      </dgm:t>
    </dgm:pt>
    <dgm:pt modelId="{DFA4E7B6-42E6-4F54-A2FB-AEC85E7810CC}" type="parTrans" cxnId="{EF0F1529-F6ED-40DF-B645-E9F7D1282338}">
      <dgm:prSet/>
      <dgm:spPr/>
      <dgm:t>
        <a:bodyPr/>
        <a:lstStyle/>
        <a:p>
          <a:endParaRPr lang="zh-TW" altLang="en-US"/>
        </a:p>
      </dgm:t>
    </dgm:pt>
    <dgm:pt modelId="{CA980228-08AA-47B7-967C-9BCD97D57DA5}" type="sibTrans" cxnId="{EF0F1529-F6ED-40DF-B645-E9F7D1282338}">
      <dgm:prSet/>
      <dgm:spPr/>
      <dgm:t>
        <a:bodyPr/>
        <a:lstStyle/>
        <a:p>
          <a:endParaRPr lang="zh-TW" altLang="en-US"/>
        </a:p>
      </dgm:t>
    </dgm:pt>
    <dgm:pt modelId="{12D3AA7A-8A30-4DC1-8E18-DCDA799DCF1E}">
      <dgm:prSet custT="1"/>
      <dgm:spPr/>
      <dgm:t>
        <a:bodyPr/>
        <a:lstStyle/>
        <a:p>
          <a:r>
            <a:rPr lang="en-US" altLang="zh-TW" sz="1000" dirty="0">
              <a:latin typeface="微軟正黑體" panose="020B0604030504040204" pitchFamily="34" charset="-120"/>
              <a:ea typeface="微軟正黑體" panose="020B0604030504040204" pitchFamily="34" charset="-120"/>
            </a:rPr>
            <a:t>├─&gt; </a:t>
          </a:r>
          <a:r>
            <a:rPr lang="en-US" altLang="zh-TW" sz="1000" dirty="0" err="1">
              <a:latin typeface="微軟正黑體" panose="020B0604030504040204" pitchFamily="34" charset="-120"/>
              <a:ea typeface="微軟正黑體" panose="020B0604030504040204" pitchFamily="34" charset="-120"/>
            </a:rPr>
            <a:t>nibabel</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讀取</a:t>
          </a:r>
        </a:p>
      </dgm:t>
    </dgm:pt>
    <dgm:pt modelId="{5596D738-0CB1-40A4-AA71-8E4BA937A164}" type="parTrans" cxnId="{2E6B7903-A7CD-43E4-B6A3-8EF39F9F27A9}">
      <dgm:prSet/>
      <dgm:spPr/>
      <dgm:t>
        <a:bodyPr/>
        <a:lstStyle/>
        <a:p>
          <a:endParaRPr lang="zh-TW" altLang="en-US"/>
        </a:p>
      </dgm:t>
    </dgm:pt>
    <dgm:pt modelId="{1397B185-3A4D-4EE8-9EEA-F119600090C9}" type="sibTrans" cxnId="{2E6B7903-A7CD-43E4-B6A3-8EF39F9F27A9}">
      <dgm:prSet/>
      <dgm:spPr/>
      <dgm:t>
        <a:bodyPr/>
        <a:lstStyle/>
        <a:p>
          <a:endParaRPr lang="zh-TW" altLang="en-US"/>
        </a:p>
      </dgm:t>
    </dgm:pt>
    <dgm:pt modelId="{39204FCE-0B21-4020-92FB-74ACDABFB5AD}">
      <dgm:prSet custT="1"/>
      <dgm:spPr/>
      <dgm:t>
        <a:bodyPr/>
        <a:lstStyle/>
        <a:p>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&gt; Reorientation</a:t>
          </a:r>
        </a:p>
      </dgm:t>
    </dgm:pt>
    <dgm:pt modelId="{514D929C-4FC5-4C25-8D61-C27A4AEA7D51}" type="parTrans" cxnId="{CAA57383-0C23-482C-AD67-2D9DC9D5ED9F}">
      <dgm:prSet/>
      <dgm:spPr/>
      <dgm:t>
        <a:bodyPr/>
        <a:lstStyle/>
        <a:p>
          <a:endParaRPr lang="zh-TW" altLang="en-US"/>
        </a:p>
      </dgm:t>
    </dgm:pt>
    <dgm:pt modelId="{F4841306-89E6-4EA7-99EB-4AAAF2263102}" type="sibTrans" cxnId="{CAA57383-0C23-482C-AD67-2D9DC9D5ED9F}">
      <dgm:prSet/>
      <dgm:spPr/>
      <dgm:t>
        <a:bodyPr/>
        <a:lstStyle/>
        <a:p>
          <a:endParaRPr lang="zh-TW" altLang="en-US"/>
        </a:p>
      </dgm:t>
    </dgm:pt>
    <dgm:pt modelId="{52D9F37C-D284-4627-880F-626E38C2F25A}">
      <dgm:prSet custT="1"/>
      <dgm:spPr/>
      <dgm:t>
        <a:bodyPr/>
        <a:lstStyle/>
        <a:p>
          <a:r>
            <a:rPr lang="en-US" altLang="zh-TW" sz="1000" dirty="0">
              <a:latin typeface="微軟正黑體" panose="020B0604030504040204" pitchFamily="34" charset="-120"/>
              <a:ea typeface="微軟正黑體" panose="020B0604030504040204" pitchFamily="34" charset="-120"/>
            </a:rPr>
            <a:t>├─&gt; N4 Bias Correction</a:t>
          </a:r>
        </a:p>
      </dgm:t>
    </dgm:pt>
    <dgm:pt modelId="{8561A2EC-033C-43C2-B4F9-BF7B8D0712D5}" type="parTrans" cxnId="{189F0D39-622D-4B2C-962D-5CBAD1B3864D}">
      <dgm:prSet/>
      <dgm:spPr/>
      <dgm:t>
        <a:bodyPr/>
        <a:lstStyle/>
        <a:p>
          <a:endParaRPr lang="zh-TW" altLang="en-US"/>
        </a:p>
      </dgm:t>
    </dgm:pt>
    <dgm:pt modelId="{4A483591-BD24-4AC9-A345-DCF35CC56B10}" type="sibTrans" cxnId="{189F0D39-622D-4B2C-962D-5CBAD1B3864D}">
      <dgm:prSet/>
      <dgm:spPr/>
      <dgm:t>
        <a:bodyPr/>
        <a:lstStyle/>
        <a:p>
          <a:endParaRPr lang="zh-TW" altLang="en-US"/>
        </a:p>
      </dgm:t>
    </dgm:pt>
    <dgm:pt modelId="{61119AEB-AE43-4B87-9673-258005802CD7}">
      <dgm:prSet custT="1"/>
      <dgm:spPr/>
      <dgm:t>
        <a:bodyPr/>
        <a:lstStyle/>
        <a:p>
          <a:r>
            <a:rPr lang="en-US" altLang="zh-TW" sz="1000" dirty="0">
              <a:latin typeface="微軟正黑體" panose="020B0604030504040204" pitchFamily="34" charset="-120"/>
              <a:ea typeface="微軟正黑體" panose="020B0604030504040204" pitchFamily="34" charset="-120"/>
            </a:rPr>
            <a:t>├─&gt; Skull Stripping</a:t>
          </a:r>
        </a:p>
      </dgm:t>
    </dgm:pt>
    <dgm:pt modelId="{E67F25B2-4EC3-4B15-A43E-0E03992FC237}" type="parTrans" cxnId="{22EA612E-6D18-4CE7-B7B9-5C46E6867C94}">
      <dgm:prSet/>
      <dgm:spPr/>
      <dgm:t>
        <a:bodyPr/>
        <a:lstStyle/>
        <a:p>
          <a:endParaRPr lang="zh-TW" altLang="en-US"/>
        </a:p>
      </dgm:t>
    </dgm:pt>
    <dgm:pt modelId="{B3EF917C-CF26-40F2-9FE6-3BBE069C8F42}" type="sibTrans" cxnId="{22EA612E-6D18-4CE7-B7B9-5C46E6867C94}">
      <dgm:prSet/>
      <dgm:spPr/>
      <dgm:t>
        <a:bodyPr/>
        <a:lstStyle/>
        <a:p>
          <a:endParaRPr lang="zh-TW" altLang="en-US"/>
        </a:p>
      </dgm:t>
    </dgm:pt>
    <dgm:pt modelId="{345DB5F4-CC3D-4EF3-9055-D8A962B25794}">
      <dgm:prSet custT="1"/>
      <dgm:spPr/>
      <dgm:t>
        <a:bodyPr/>
        <a:lstStyle/>
        <a:p>
          <a:r>
            <a:rPr lang="en-US" altLang="zh-TW" sz="1000" dirty="0">
              <a:latin typeface="微軟正黑體" panose="020B0604030504040204" pitchFamily="34" charset="-120"/>
              <a:ea typeface="微軟正黑體" panose="020B0604030504040204" pitchFamily="34" charset="-120"/>
            </a:rPr>
            <a:t>├─&gt; Registration / Resampling</a:t>
          </a:r>
        </a:p>
      </dgm:t>
    </dgm:pt>
    <dgm:pt modelId="{A837B85E-8BD5-434E-9514-456B1A6A4C5D}" type="parTrans" cxnId="{0CE54636-4167-4031-A2E6-22F5C0283539}">
      <dgm:prSet/>
      <dgm:spPr/>
      <dgm:t>
        <a:bodyPr/>
        <a:lstStyle/>
        <a:p>
          <a:endParaRPr lang="zh-TW" altLang="en-US"/>
        </a:p>
      </dgm:t>
    </dgm:pt>
    <dgm:pt modelId="{F34BE33B-B1E7-4718-81F9-D461A4440157}" type="sibTrans" cxnId="{0CE54636-4167-4031-A2E6-22F5C0283539}">
      <dgm:prSet/>
      <dgm:spPr/>
      <dgm:t>
        <a:bodyPr/>
        <a:lstStyle/>
        <a:p>
          <a:endParaRPr lang="zh-TW" altLang="en-US"/>
        </a:p>
      </dgm:t>
    </dgm:pt>
    <dgm:pt modelId="{A04FB7A9-F00F-4841-9DE4-9FF93BF32656}">
      <dgm:prSet custT="1"/>
      <dgm:spPr/>
      <dgm:t>
        <a:bodyPr/>
        <a:lstStyle/>
        <a:p>
          <a:r>
            <a:rPr lang="en-US" altLang="zh-TW" sz="1000" dirty="0">
              <a:latin typeface="微軟正黑體" panose="020B0604030504040204" pitchFamily="34" charset="-120"/>
              <a:ea typeface="微軟正黑體" panose="020B0604030504040204" pitchFamily="34" charset="-120"/>
            </a:rPr>
            <a:t>└─&gt; Intensity Normalization → </a:t>
          </a:r>
          <a:r>
            <a:rPr lang="zh-TW" altLang="en-US" sz="1000" dirty="0">
              <a:latin typeface="微軟正黑體" panose="020B0604030504040204" pitchFamily="34" charset="-120"/>
              <a:ea typeface="微軟正黑體" panose="020B0604030504040204" pitchFamily="34" charset="-120"/>
            </a:rPr>
            <a:t>輸入 </a:t>
          </a:r>
          <a:r>
            <a:rPr lang="en-US" altLang="zh-TW" sz="1000" dirty="0">
              <a:latin typeface="微軟正黑體" panose="020B0604030504040204" pitchFamily="34" charset="-120"/>
              <a:ea typeface="微軟正黑體" panose="020B0604030504040204" pitchFamily="34" charset="-120"/>
            </a:rPr>
            <a:t>3D CNN</a:t>
          </a:r>
        </a:p>
      </dgm:t>
    </dgm:pt>
    <dgm:pt modelId="{1D81F0A0-3939-4F9C-9472-15D8E2514BDF}" type="parTrans" cxnId="{B2EA0CCA-6FB6-41A0-A9C2-984A8175D0D9}">
      <dgm:prSet/>
      <dgm:spPr/>
      <dgm:t>
        <a:bodyPr/>
        <a:lstStyle/>
        <a:p>
          <a:endParaRPr lang="zh-TW" altLang="en-US"/>
        </a:p>
      </dgm:t>
    </dgm:pt>
    <dgm:pt modelId="{3507F772-3821-40BC-98C6-8E5D860FE09F}" type="sibTrans" cxnId="{B2EA0CCA-6FB6-41A0-A9C2-984A8175D0D9}">
      <dgm:prSet/>
      <dgm:spPr/>
      <dgm:t>
        <a:bodyPr/>
        <a:lstStyle/>
        <a:p>
          <a:endParaRPr lang="zh-TW" altLang="en-US"/>
        </a:p>
      </dgm:t>
    </dgm:pt>
    <dgm:pt modelId="{D27B6C5B-961A-4E4D-817D-D865C1AAF948}">
      <dgm:prSet custT="1"/>
      <dgm:spPr/>
      <dgm:t>
        <a:bodyPr/>
        <a:lstStyle/>
        <a:p>
          <a:r>
            <a:rPr lang="en-US" altLang="zh-TW" sz="1000" dirty="0">
              <a:latin typeface="微軟正黑體" panose="020B0604030504040204" pitchFamily="34" charset="-120"/>
              <a:ea typeface="微軟正黑體" panose="020B0604030504040204" pitchFamily="34" charset="-120"/>
            </a:rPr>
            <a:t>├─&gt; </a:t>
          </a:r>
          <a:r>
            <a:rPr lang="en-US" altLang="zh-TW" sz="1000" dirty="0" err="1">
              <a:latin typeface="微軟正黑體" panose="020B0604030504040204" pitchFamily="34" charset="-120"/>
              <a:ea typeface="微軟正黑體" panose="020B0604030504040204" pitchFamily="34" charset="-120"/>
            </a:rPr>
            <a:t>pydicom</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讀取 </a:t>
          </a:r>
          <a:r>
            <a:rPr lang="en-US" altLang="zh-TW" sz="1000" dirty="0">
              <a:latin typeface="微軟正黑體" panose="020B0604030504040204" pitchFamily="34" charset="-120"/>
              <a:ea typeface="微軟正黑體" panose="020B0604030504040204" pitchFamily="34" charset="-120"/>
            </a:rPr>
            <a:t>Pixel Array</a:t>
          </a:r>
          <a:endParaRPr lang="zh-TW" altLang="en-US" sz="1000" dirty="0">
            <a:latin typeface="微軟正黑體" panose="020B0604030504040204" pitchFamily="34" charset="-120"/>
            <a:ea typeface="微軟正黑體" panose="020B0604030504040204" pitchFamily="34" charset="-120"/>
          </a:endParaRPr>
        </a:p>
      </dgm:t>
    </dgm:pt>
    <dgm:pt modelId="{B741FF91-CBD6-4E7D-905E-C52134DE6DDB}" type="parTrans" cxnId="{0ED45DDA-FC40-4D19-8911-BAEC468224C8}">
      <dgm:prSet/>
      <dgm:spPr/>
      <dgm:t>
        <a:bodyPr/>
        <a:lstStyle/>
        <a:p>
          <a:endParaRPr lang="zh-TW" altLang="en-US"/>
        </a:p>
      </dgm:t>
    </dgm:pt>
    <dgm:pt modelId="{30C0E10C-194B-49BE-9532-FD4DA5A54ECC}" type="sibTrans" cxnId="{0ED45DDA-FC40-4D19-8911-BAEC468224C8}">
      <dgm:prSet/>
      <dgm:spPr/>
      <dgm:t>
        <a:bodyPr/>
        <a:lstStyle/>
        <a:p>
          <a:endParaRPr lang="zh-TW" altLang="en-US"/>
        </a:p>
      </dgm:t>
    </dgm:pt>
    <dgm:pt modelId="{601AF619-E742-419A-BC95-6E1BB8526401}">
      <dgm:prSet custT="1"/>
      <dgm:spPr/>
      <dgm:t>
        <a:bodyPr/>
        <a:lstStyle/>
        <a:p>
          <a:r>
            <a:rPr lang="en-US" altLang="zh-TW" sz="1000" dirty="0">
              <a:latin typeface="微軟正黑體" panose="020B0604030504040204" pitchFamily="34" charset="-120"/>
              <a:ea typeface="微軟正黑體" panose="020B0604030504040204" pitchFamily="34" charset="-120"/>
            </a:rPr>
            <a:t>├─&gt; Resampling / Resize</a:t>
          </a:r>
        </a:p>
      </dgm:t>
    </dgm:pt>
    <dgm:pt modelId="{DC41B0C6-C351-4795-BA10-B3011961B7DA}" type="parTrans" cxnId="{A3FA3301-DCED-4F45-A08E-F0C207037E6C}">
      <dgm:prSet/>
      <dgm:spPr/>
      <dgm:t>
        <a:bodyPr/>
        <a:lstStyle/>
        <a:p>
          <a:endParaRPr lang="zh-TW" altLang="en-US"/>
        </a:p>
      </dgm:t>
    </dgm:pt>
    <dgm:pt modelId="{74C932E0-EF9F-4D7F-ABA2-88E628548B60}" type="sibTrans" cxnId="{A3FA3301-DCED-4F45-A08E-F0C207037E6C}">
      <dgm:prSet/>
      <dgm:spPr/>
      <dgm:t>
        <a:bodyPr/>
        <a:lstStyle/>
        <a:p>
          <a:endParaRPr lang="zh-TW" altLang="en-US"/>
        </a:p>
      </dgm:t>
    </dgm:pt>
    <dgm:pt modelId="{730A1320-02F9-42E2-BE5C-E78B4451AA7E}">
      <dgm:prSet custT="1"/>
      <dgm:spPr/>
      <dgm:t>
        <a:bodyPr/>
        <a:lstStyle/>
        <a:p>
          <a:r>
            <a:rPr lang="en-US" altLang="zh-TW" sz="1000" dirty="0">
              <a:latin typeface="微軟正黑體" panose="020B0604030504040204" pitchFamily="34" charset="-120"/>
              <a:ea typeface="微軟正黑體" panose="020B0604030504040204" pitchFamily="34" charset="-120"/>
            </a:rPr>
            <a:t>├─&gt; Windowing / Crop</a:t>
          </a:r>
        </a:p>
      </dgm:t>
    </dgm:pt>
    <dgm:pt modelId="{388700D4-D329-46E8-B730-9CEAE941DBE3}" type="parTrans" cxnId="{7F9715B1-DCE1-4C73-B8CB-101B81082376}">
      <dgm:prSet/>
      <dgm:spPr/>
      <dgm:t>
        <a:bodyPr/>
        <a:lstStyle/>
        <a:p>
          <a:endParaRPr lang="zh-TW" altLang="en-US"/>
        </a:p>
      </dgm:t>
    </dgm:pt>
    <dgm:pt modelId="{CCB0372A-2F8D-4635-9074-D08700D4736C}" type="sibTrans" cxnId="{7F9715B1-DCE1-4C73-B8CB-101B81082376}">
      <dgm:prSet/>
      <dgm:spPr/>
      <dgm:t>
        <a:bodyPr/>
        <a:lstStyle/>
        <a:p>
          <a:endParaRPr lang="zh-TW" altLang="en-US"/>
        </a:p>
      </dgm:t>
    </dgm:pt>
    <dgm:pt modelId="{3F98B43A-E5A6-4827-B184-30E54A76D401}">
      <dgm:prSet custT="1"/>
      <dgm:spPr/>
      <dgm:t>
        <a:bodyPr/>
        <a:lstStyle/>
        <a:p>
          <a:r>
            <a:rPr lang="en-US" altLang="zh-TW" sz="1000" dirty="0">
              <a:latin typeface="微軟正黑體" panose="020B0604030504040204" pitchFamily="34" charset="-120"/>
              <a:ea typeface="微軟正黑體" panose="020B0604030504040204" pitchFamily="34" charset="-120"/>
            </a:rPr>
            <a:t>└─&gt; Normalization → </a:t>
          </a:r>
          <a:r>
            <a:rPr lang="zh-TW" altLang="en-US" sz="1000" dirty="0">
              <a:latin typeface="微軟正黑體" panose="020B0604030504040204" pitchFamily="34" charset="-120"/>
              <a:ea typeface="微軟正黑體" panose="020B0604030504040204" pitchFamily="34" charset="-120"/>
            </a:rPr>
            <a:t>輸入 </a:t>
          </a:r>
          <a:r>
            <a:rPr lang="en-US" altLang="zh-TW" sz="1000" dirty="0">
              <a:latin typeface="微軟正黑體" panose="020B0604030504040204" pitchFamily="34" charset="-120"/>
              <a:ea typeface="微軟正黑體" panose="020B0604030504040204" pitchFamily="34" charset="-120"/>
            </a:rPr>
            <a:t>3D/2D CNN</a:t>
          </a:r>
        </a:p>
      </dgm:t>
    </dgm:pt>
    <dgm:pt modelId="{6F105C7A-6CDA-48EC-831D-2EDB6C63C3BA}" type="parTrans" cxnId="{204E49A3-40D2-4156-BEC7-194E62FABC1D}">
      <dgm:prSet/>
      <dgm:spPr/>
      <dgm:t>
        <a:bodyPr/>
        <a:lstStyle/>
        <a:p>
          <a:endParaRPr lang="zh-TW" altLang="en-US"/>
        </a:p>
      </dgm:t>
    </dgm:pt>
    <dgm:pt modelId="{E9248A42-8A75-4041-B0B4-C9D0E72318D0}" type="sibTrans" cxnId="{204E49A3-40D2-4156-BEC7-194E62FABC1D}">
      <dgm:prSet/>
      <dgm:spPr/>
      <dgm:t>
        <a:bodyPr/>
        <a:lstStyle/>
        <a:p>
          <a:endParaRPr lang="zh-TW" altLang="en-US"/>
        </a:p>
      </dgm:t>
    </dgm:pt>
    <dgm:pt modelId="{F5D44B17-D5CB-4D24-BD28-48D9D55C84EE}">
      <dgm:prSet custT="1"/>
      <dgm:spPr/>
      <dgm:t>
        <a:bodyPr/>
        <a:lstStyle/>
        <a:p>
          <a:r>
            <a:rPr lang="en-US" altLang="zh-TW" sz="1000" dirty="0">
              <a:latin typeface="微軟正黑體" panose="020B0604030504040204" pitchFamily="34" charset="-120"/>
              <a:ea typeface="微軟正黑體" panose="020B0604030504040204" pitchFamily="34" charset="-120"/>
            </a:rPr>
            <a:t>├─&gt; PIL/OpenCV </a:t>
          </a:r>
          <a:r>
            <a:rPr lang="zh-TW" altLang="en-US" sz="1000" dirty="0">
              <a:latin typeface="微軟正黑體" panose="020B0604030504040204" pitchFamily="34" charset="-120"/>
              <a:ea typeface="微軟正黑體" panose="020B0604030504040204" pitchFamily="34" charset="-120"/>
            </a:rPr>
            <a:t>讀取</a:t>
          </a:r>
        </a:p>
      </dgm:t>
    </dgm:pt>
    <dgm:pt modelId="{417936DD-5D05-4D92-9C0F-406B202AA353}" type="parTrans" cxnId="{C08A4255-06B2-452F-9EA7-BAA21453893E}">
      <dgm:prSet/>
      <dgm:spPr/>
      <dgm:t>
        <a:bodyPr/>
        <a:lstStyle/>
        <a:p>
          <a:endParaRPr lang="zh-TW" altLang="en-US"/>
        </a:p>
      </dgm:t>
    </dgm:pt>
    <dgm:pt modelId="{CFB9F735-EECF-44BF-ADFB-EE99DFF2E754}" type="sibTrans" cxnId="{C08A4255-06B2-452F-9EA7-BAA21453893E}">
      <dgm:prSet/>
      <dgm:spPr/>
      <dgm:t>
        <a:bodyPr/>
        <a:lstStyle/>
        <a:p>
          <a:endParaRPr lang="zh-TW" altLang="en-US"/>
        </a:p>
      </dgm:t>
    </dgm:pt>
    <dgm:pt modelId="{48CF592C-499D-4645-A5DD-FD3C30752E73}">
      <dgm:prSet custT="1"/>
      <dgm:spPr/>
      <dgm:t>
        <a:bodyPr/>
        <a:lstStyle/>
        <a:p>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&gt; Resize / Grayscale</a:t>
          </a:r>
        </a:p>
      </dgm:t>
    </dgm:pt>
    <dgm:pt modelId="{0D483B77-CC99-4C77-BB66-289442B88063}" type="parTrans" cxnId="{3F19EB2B-3938-4672-8CF1-42DD0F8F2BF8}">
      <dgm:prSet/>
      <dgm:spPr/>
      <dgm:t>
        <a:bodyPr/>
        <a:lstStyle/>
        <a:p>
          <a:endParaRPr lang="zh-TW" altLang="en-US"/>
        </a:p>
      </dgm:t>
    </dgm:pt>
    <dgm:pt modelId="{C70244FB-71AF-4D1C-B912-B1B741D3D9D2}" type="sibTrans" cxnId="{3F19EB2B-3938-4672-8CF1-42DD0F8F2BF8}">
      <dgm:prSet/>
      <dgm:spPr/>
      <dgm:t>
        <a:bodyPr/>
        <a:lstStyle/>
        <a:p>
          <a:endParaRPr lang="zh-TW" altLang="en-US"/>
        </a:p>
      </dgm:t>
    </dgm:pt>
    <dgm:pt modelId="{10164642-5EE4-41A6-BC07-A026E79E3FDD}">
      <dgm:prSet custT="1"/>
      <dgm:spPr/>
      <dgm:t>
        <a:bodyPr/>
        <a:lstStyle/>
        <a:p>
          <a:r>
            <a:rPr lang="en-US" altLang="zh-TW" sz="1000" dirty="0">
              <a:latin typeface="微軟正黑體" panose="020B0604030504040204" pitchFamily="34" charset="-120"/>
              <a:ea typeface="微軟正黑體" panose="020B0604030504040204" pitchFamily="34" charset="-120"/>
            </a:rPr>
            <a:t>├─&gt; Intensity Normalization</a:t>
          </a:r>
        </a:p>
      </dgm:t>
    </dgm:pt>
    <dgm:pt modelId="{7839ECF9-8442-45A2-B26F-E2638A2B3375}" type="parTrans" cxnId="{3C5D73A7-762F-4929-BAC6-60FF3C675934}">
      <dgm:prSet/>
      <dgm:spPr/>
      <dgm:t>
        <a:bodyPr/>
        <a:lstStyle/>
        <a:p>
          <a:endParaRPr lang="zh-TW" altLang="en-US"/>
        </a:p>
      </dgm:t>
    </dgm:pt>
    <dgm:pt modelId="{5B5DB76B-49D1-4B36-BCBB-802636AAC51B}" type="sibTrans" cxnId="{3C5D73A7-762F-4929-BAC6-60FF3C675934}">
      <dgm:prSet/>
      <dgm:spPr/>
      <dgm:t>
        <a:bodyPr/>
        <a:lstStyle/>
        <a:p>
          <a:endParaRPr lang="zh-TW" altLang="en-US"/>
        </a:p>
      </dgm:t>
    </dgm:pt>
    <dgm:pt modelId="{6EB050B5-A416-4EE8-8027-1F489656DFF0}">
      <dgm:prSet custT="1"/>
      <dgm:spPr/>
      <dgm:t>
        <a:bodyPr/>
        <a:lstStyle/>
        <a:p>
          <a:r>
            <a:rPr lang="en-US" altLang="zh-TW" sz="1000" dirty="0">
              <a:latin typeface="微軟正黑體" panose="020B0604030504040204" pitchFamily="34" charset="-120"/>
              <a:ea typeface="微軟正黑體" panose="020B0604030504040204" pitchFamily="34" charset="-120"/>
            </a:rPr>
            <a:t>└─&gt; Data Augmentation → </a:t>
          </a:r>
          <a:r>
            <a:rPr lang="zh-TW" altLang="en-US" sz="1000" dirty="0">
              <a:latin typeface="微軟正黑體" panose="020B0604030504040204" pitchFamily="34" charset="-120"/>
              <a:ea typeface="微軟正黑體" panose="020B0604030504040204" pitchFamily="34" charset="-120"/>
            </a:rPr>
            <a:t>輸入 </a:t>
          </a:r>
          <a:r>
            <a:rPr lang="en-US" altLang="zh-TW" sz="1000" dirty="0">
              <a:latin typeface="微軟正黑體" panose="020B0604030504040204" pitchFamily="34" charset="-120"/>
              <a:ea typeface="微軟正黑體" panose="020B0604030504040204" pitchFamily="34" charset="-120"/>
            </a:rPr>
            <a:t>2D CNN</a:t>
          </a:r>
        </a:p>
      </dgm:t>
    </dgm:pt>
    <dgm:pt modelId="{BB3F2E64-C94A-42E9-9495-AA916DB3E858}" type="parTrans" cxnId="{8B66AEF9-9808-477B-8885-2487D82BB0D1}">
      <dgm:prSet/>
      <dgm:spPr/>
      <dgm:t>
        <a:bodyPr/>
        <a:lstStyle/>
        <a:p>
          <a:endParaRPr lang="zh-TW" altLang="en-US"/>
        </a:p>
      </dgm:t>
    </dgm:pt>
    <dgm:pt modelId="{BC26FD4B-736A-4D07-969A-F3A6546FBEED}" type="sibTrans" cxnId="{8B66AEF9-9808-477B-8885-2487D82BB0D1}">
      <dgm:prSet/>
      <dgm:spPr/>
      <dgm:t>
        <a:bodyPr/>
        <a:lstStyle/>
        <a:p>
          <a:endParaRPr lang="zh-TW" altLang="en-US"/>
        </a:p>
      </dgm:t>
    </dgm:pt>
    <dgm:pt modelId="{F34690A2-8FFF-4456-851B-B415A641201E}">
      <dgm:prSet phldrT="[文字]" custT="1"/>
      <dgm:spPr/>
      <dgm:t>
        <a:bodyPr/>
        <a:lstStyle/>
        <a:p>
          <a:r>
            <a:rPr lang="en-US" altLang="zh-TW" sz="2000" dirty="0"/>
            <a:t>CSV (.csv)</a:t>
          </a:r>
          <a:endParaRPr lang="zh-TW" altLang="en-US" sz="2000" dirty="0"/>
        </a:p>
      </dgm:t>
    </dgm:pt>
    <dgm:pt modelId="{56F75AF6-AC5A-4E1B-A877-53DF345CB8CB}" type="parTrans" cxnId="{81BAD079-F65D-4646-AA5C-85FD96297016}">
      <dgm:prSet/>
      <dgm:spPr/>
      <dgm:t>
        <a:bodyPr/>
        <a:lstStyle/>
        <a:p>
          <a:endParaRPr lang="zh-TW" altLang="en-US"/>
        </a:p>
      </dgm:t>
    </dgm:pt>
    <dgm:pt modelId="{5E6C898A-8C01-41BD-8653-A9F3817B176D}" type="sibTrans" cxnId="{81BAD079-F65D-4646-AA5C-85FD96297016}">
      <dgm:prSet/>
      <dgm:spPr/>
      <dgm:t>
        <a:bodyPr/>
        <a:lstStyle/>
        <a:p>
          <a:endParaRPr lang="zh-TW" altLang="en-US"/>
        </a:p>
      </dgm:t>
    </dgm:pt>
    <dgm:pt modelId="{4D58FFE3-5992-45A5-80D3-673CC2811ABF}">
      <dgm:prSet custT="1"/>
      <dgm:spPr/>
      <dgm:t>
        <a:bodyPr/>
        <a:lstStyle/>
        <a:p>
          <a:r>
            <a:rPr lang="en-US" altLang="zh-TW" sz="1000" dirty="0">
              <a:latin typeface="微軟正黑體" panose="020B0604030504040204" pitchFamily="34" charset="-120"/>
              <a:ea typeface="微軟正黑體" panose="020B0604030504040204" pitchFamily="34" charset="-120"/>
            </a:rPr>
            <a:t>├─&gt; pandas </a:t>
          </a:r>
          <a:r>
            <a:rPr lang="zh-TW" altLang="en-US" sz="1000" dirty="0">
              <a:latin typeface="微軟正黑體" panose="020B0604030504040204" pitchFamily="34" charset="-120"/>
              <a:ea typeface="微軟正黑體" panose="020B0604030504040204" pitchFamily="34" charset="-120"/>
            </a:rPr>
            <a:t>讀取</a:t>
          </a:r>
        </a:p>
      </dgm:t>
    </dgm:pt>
    <dgm:pt modelId="{AE7B28DB-54DC-4155-89DA-A542EA8A2CB3}" type="parTrans" cxnId="{12A77A0B-93AC-46D4-A24C-CEF481D1F988}">
      <dgm:prSet/>
      <dgm:spPr/>
      <dgm:t>
        <a:bodyPr/>
        <a:lstStyle/>
        <a:p>
          <a:endParaRPr lang="zh-TW" altLang="en-US"/>
        </a:p>
      </dgm:t>
    </dgm:pt>
    <dgm:pt modelId="{5713813E-8F93-4CBA-BE8D-9573229C19F9}" type="sibTrans" cxnId="{12A77A0B-93AC-46D4-A24C-CEF481D1F988}">
      <dgm:prSet/>
      <dgm:spPr/>
      <dgm:t>
        <a:bodyPr/>
        <a:lstStyle/>
        <a:p>
          <a:endParaRPr lang="zh-TW" altLang="en-US"/>
        </a:p>
      </dgm:t>
    </dgm:pt>
    <dgm:pt modelId="{F43F7D0C-E781-435B-B66F-A3FAC19D8418}">
      <dgm:prSet custT="1"/>
      <dgm:spPr/>
      <dgm:t>
        <a:bodyPr/>
        <a:lstStyle/>
        <a:p>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&gt; </a:t>
          </a:r>
          <a:r>
            <a:rPr lang="zh-TW" altLang="en-US" sz="1000" dirty="0">
              <a:latin typeface="微軟正黑體" panose="020B0604030504040204" pitchFamily="34" charset="-120"/>
              <a:ea typeface="微軟正黑體" panose="020B0604030504040204" pitchFamily="34" charset="-120"/>
            </a:rPr>
            <a:t>缺值處理</a:t>
          </a:r>
        </a:p>
      </dgm:t>
    </dgm:pt>
    <dgm:pt modelId="{91974525-B4B9-41BF-9738-F2E67C37389C}" type="parTrans" cxnId="{04E1270F-15AD-49A0-897B-5D9F5638C580}">
      <dgm:prSet/>
      <dgm:spPr/>
      <dgm:t>
        <a:bodyPr/>
        <a:lstStyle/>
        <a:p>
          <a:endParaRPr lang="zh-TW" altLang="en-US"/>
        </a:p>
      </dgm:t>
    </dgm:pt>
    <dgm:pt modelId="{7EAD380A-1C74-45FD-BE5F-77962CC27DB4}" type="sibTrans" cxnId="{04E1270F-15AD-49A0-897B-5D9F5638C580}">
      <dgm:prSet/>
      <dgm:spPr/>
      <dgm:t>
        <a:bodyPr/>
        <a:lstStyle/>
        <a:p>
          <a:endParaRPr lang="zh-TW" altLang="en-US"/>
        </a:p>
      </dgm:t>
    </dgm:pt>
    <dgm:pt modelId="{2CB05856-9424-4779-BB5D-9A1D51F726F7}">
      <dgm:prSet custT="1"/>
      <dgm:spPr/>
      <dgm:t>
        <a:bodyPr/>
        <a:lstStyle/>
        <a:p>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&gt; </a:t>
          </a:r>
          <a:r>
            <a:rPr lang="zh-TW" altLang="en-US" sz="1000" dirty="0">
              <a:latin typeface="微軟正黑體" panose="020B0604030504040204" pitchFamily="34" charset="-120"/>
              <a:ea typeface="微軟正黑體" panose="020B0604030504040204" pitchFamily="34" charset="-120"/>
            </a:rPr>
            <a:t>標準化 </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類別編碼</a:t>
          </a:r>
        </a:p>
      </dgm:t>
    </dgm:pt>
    <dgm:pt modelId="{F517C66E-D842-44B2-9F15-2841405AE1BB}" type="parTrans" cxnId="{ED9F4A1B-A610-406B-A24B-46BFA53FA29C}">
      <dgm:prSet/>
      <dgm:spPr/>
      <dgm:t>
        <a:bodyPr/>
        <a:lstStyle/>
        <a:p>
          <a:endParaRPr lang="zh-TW" altLang="en-US"/>
        </a:p>
      </dgm:t>
    </dgm:pt>
    <dgm:pt modelId="{574CC96E-BBC2-4803-8CB2-3FB24F2D133C}" type="sibTrans" cxnId="{ED9F4A1B-A610-406B-A24B-46BFA53FA29C}">
      <dgm:prSet/>
      <dgm:spPr/>
      <dgm:t>
        <a:bodyPr/>
        <a:lstStyle/>
        <a:p>
          <a:endParaRPr lang="zh-TW" altLang="en-US"/>
        </a:p>
      </dgm:t>
    </dgm:pt>
    <dgm:pt modelId="{E071F8D6-506A-441F-891C-98492B401902}">
      <dgm:prSet custT="1"/>
      <dgm:spPr/>
      <dgm:t>
        <a:bodyPr/>
        <a:lstStyle/>
        <a:p>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&gt; </a:t>
          </a:r>
          <a:r>
            <a:rPr lang="zh-TW" altLang="en-US" sz="1000" dirty="0">
              <a:latin typeface="微軟正黑體" panose="020B0604030504040204" pitchFamily="34" charset="-120"/>
              <a:ea typeface="微軟正黑體" panose="020B0604030504040204" pitchFamily="34" charset="-120"/>
            </a:rPr>
            <a:t>輸入模型（可與影像特徵結合）</a:t>
          </a:r>
        </a:p>
      </dgm:t>
    </dgm:pt>
    <dgm:pt modelId="{8959F176-4FB1-4164-A6C7-3F324D940DA6}" type="parTrans" cxnId="{91483EBC-FF90-41CB-85FE-5E9170D0F483}">
      <dgm:prSet/>
      <dgm:spPr/>
      <dgm:t>
        <a:bodyPr/>
        <a:lstStyle/>
        <a:p>
          <a:endParaRPr lang="zh-TW" altLang="en-US"/>
        </a:p>
      </dgm:t>
    </dgm:pt>
    <dgm:pt modelId="{088ED922-36D8-45C5-9C8F-DDDE4A92C551}" type="sibTrans" cxnId="{91483EBC-FF90-41CB-85FE-5E9170D0F483}">
      <dgm:prSet/>
      <dgm:spPr/>
      <dgm:t>
        <a:bodyPr/>
        <a:lstStyle/>
        <a:p>
          <a:endParaRPr lang="zh-TW" altLang="en-US"/>
        </a:p>
      </dgm:t>
    </dgm:pt>
    <dgm:pt modelId="{A39DE97E-4E40-464A-82F9-D0150132AF8C}" type="pres">
      <dgm:prSet presAssocID="{7903A156-31CB-4AD1-BA97-CCE3329000B6}" presName="linear" presStyleCnt="0">
        <dgm:presLayoutVars>
          <dgm:dir/>
          <dgm:animLvl val="lvl"/>
          <dgm:resizeHandles val="exact"/>
        </dgm:presLayoutVars>
      </dgm:prSet>
      <dgm:spPr/>
    </dgm:pt>
    <dgm:pt modelId="{CDA72F24-F27A-48E4-9155-8EBF7636FD98}" type="pres">
      <dgm:prSet presAssocID="{12956B9E-3F1E-4E0C-A6FE-103686094290}" presName="parentLin" presStyleCnt="0"/>
      <dgm:spPr/>
    </dgm:pt>
    <dgm:pt modelId="{176E7501-11D9-4F4F-AA7B-BF9F5494AB80}" type="pres">
      <dgm:prSet presAssocID="{12956B9E-3F1E-4E0C-A6FE-103686094290}" presName="parentLeftMargin" presStyleLbl="node1" presStyleIdx="0" presStyleCnt="4"/>
      <dgm:spPr/>
    </dgm:pt>
    <dgm:pt modelId="{2AD2CA0A-E426-4E21-8B3E-5E22E45BD58C}" type="pres">
      <dgm:prSet presAssocID="{12956B9E-3F1E-4E0C-A6FE-103686094290}" presName="parentText" presStyleLbl="node1" presStyleIdx="0" presStyleCnt="4" custScaleY="126559">
        <dgm:presLayoutVars>
          <dgm:chMax val="0"/>
          <dgm:bulletEnabled val="1"/>
        </dgm:presLayoutVars>
      </dgm:prSet>
      <dgm:spPr/>
    </dgm:pt>
    <dgm:pt modelId="{4F410940-F243-40C7-8C18-5EE9EE19F3FC}" type="pres">
      <dgm:prSet presAssocID="{12956B9E-3F1E-4E0C-A6FE-103686094290}" presName="negativeSpace" presStyleCnt="0"/>
      <dgm:spPr/>
    </dgm:pt>
    <dgm:pt modelId="{9B09BAC6-4D97-4F40-94E4-F0F946EFB7A8}" type="pres">
      <dgm:prSet presAssocID="{12956B9E-3F1E-4E0C-A6FE-103686094290}" presName="childText" presStyleLbl="conFgAcc1" presStyleIdx="0" presStyleCnt="4" custScaleX="100000">
        <dgm:presLayoutVars>
          <dgm:bulletEnabled val="1"/>
        </dgm:presLayoutVars>
      </dgm:prSet>
      <dgm:spPr/>
    </dgm:pt>
    <dgm:pt modelId="{0D9A118C-EA7B-40C0-AB4E-9CB317EC264A}" type="pres">
      <dgm:prSet presAssocID="{721F7B50-78AE-4F55-B831-842A34A4931E}" presName="spaceBetweenRectangles" presStyleCnt="0"/>
      <dgm:spPr/>
    </dgm:pt>
    <dgm:pt modelId="{7FC97E55-5CB0-4001-BD0C-253A1D36F7DD}" type="pres">
      <dgm:prSet presAssocID="{8DB48DDB-9865-4790-B167-6BBC79E89388}" presName="parentLin" presStyleCnt="0"/>
      <dgm:spPr/>
    </dgm:pt>
    <dgm:pt modelId="{937D24E5-872C-4082-8B2D-4CAD1E28A4B7}" type="pres">
      <dgm:prSet presAssocID="{8DB48DDB-9865-4790-B167-6BBC79E89388}" presName="parentLeftMargin" presStyleLbl="node1" presStyleIdx="0" presStyleCnt="4"/>
      <dgm:spPr/>
    </dgm:pt>
    <dgm:pt modelId="{5805E80B-3C68-4F1A-B98A-A0CA36859DE4}" type="pres">
      <dgm:prSet presAssocID="{8DB48DDB-9865-4790-B167-6BBC79E89388}" presName="parentText" presStyleLbl="node1" presStyleIdx="1" presStyleCnt="4" custScaleY="130657">
        <dgm:presLayoutVars>
          <dgm:chMax val="0"/>
          <dgm:bulletEnabled val="1"/>
        </dgm:presLayoutVars>
      </dgm:prSet>
      <dgm:spPr>
        <a:xfrm>
          <a:off x="274498" y="1863616"/>
          <a:ext cx="3842979" cy="177120"/>
        </a:xfrm>
        <a:prstGeom prst="roundRect">
          <a:avLst/>
        </a:prstGeom>
      </dgm:spPr>
    </dgm:pt>
    <dgm:pt modelId="{B21E31D2-AD16-4B72-BFA8-4B28D303330A}" type="pres">
      <dgm:prSet presAssocID="{8DB48DDB-9865-4790-B167-6BBC79E89388}" presName="negativeSpace" presStyleCnt="0"/>
      <dgm:spPr/>
    </dgm:pt>
    <dgm:pt modelId="{392CD5A1-A8C4-499C-8A9C-42B5615687E4}" type="pres">
      <dgm:prSet presAssocID="{8DB48DDB-9865-4790-B167-6BBC79E89388}" presName="childText" presStyleLbl="conFgAcc1" presStyleIdx="1" presStyleCnt="4" custScaleX="100000">
        <dgm:presLayoutVars>
          <dgm:bulletEnabled val="1"/>
        </dgm:presLayoutVars>
      </dgm:prSet>
      <dgm:spPr/>
    </dgm:pt>
    <dgm:pt modelId="{C4AB99E9-7068-4C3B-A327-F9643C009361}" type="pres">
      <dgm:prSet presAssocID="{C9DC3534-2DF2-4C26-8C99-2DFE2C2339D9}" presName="spaceBetweenRectangles" presStyleCnt="0"/>
      <dgm:spPr/>
    </dgm:pt>
    <dgm:pt modelId="{73105B01-B8E0-4122-BB4D-28D4DEE4411E}" type="pres">
      <dgm:prSet presAssocID="{7559F53B-0C0B-4DF4-9431-AACBDC7D64D2}" presName="parentLin" presStyleCnt="0"/>
      <dgm:spPr/>
    </dgm:pt>
    <dgm:pt modelId="{F5E8ADD3-96A2-487C-87CD-E879C28CD62C}" type="pres">
      <dgm:prSet presAssocID="{7559F53B-0C0B-4DF4-9431-AACBDC7D64D2}" presName="parentLeftMargin" presStyleLbl="node1" presStyleIdx="1" presStyleCnt="4"/>
      <dgm:spPr/>
    </dgm:pt>
    <dgm:pt modelId="{534A929F-A2AA-4520-9E7D-FA67DF07A971}" type="pres">
      <dgm:prSet presAssocID="{7559F53B-0C0B-4DF4-9431-AACBDC7D64D2}" presName="parentText" presStyleLbl="node1" presStyleIdx="2" presStyleCnt="4">
        <dgm:presLayoutVars>
          <dgm:chMax val="0"/>
          <dgm:bulletEnabled val="1"/>
        </dgm:presLayoutVars>
      </dgm:prSet>
      <dgm:spPr/>
    </dgm:pt>
    <dgm:pt modelId="{34444B21-654B-4737-B5EC-45497FF8A5D8}" type="pres">
      <dgm:prSet presAssocID="{7559F53B-0C0B-4DF4-9431-AACBDC7D64D2}" presName="negativeSpace" presStyleCnt="0"/>
      <dgm:spPr/>
    </dgm:pt>
    <dgm:pt modelId="{B3CD83F5-7B98-4088-95D9-08EF81063ACE}" type="pres">
      <dgm:prSet presAssocID="{7559F53B-0C0B-4DF4-9431-AACBDC7D64D2}" presName="childText" presStyleLbl="conFgAcc1" presStyleIdx="2" presStyleCnt="4">
        <dgm:presLayoutVars>
          <dgm:bulletEnabled val="1"/>
        </dgm:presLayoutVars>
      </dgm:prSet>
      <dgm:spPr/>
    </dgm:pt>
    <dgm:pt modelId="{647D7FFF-30D4-4EB8-87E4-C4E549BBD36C}" type="pres">
      <dgm:prSet presAssocID="{CA980228-08AA-47B7-967C-9BCD97D57DA5}" presName="spaceBetweenRectangles" presStyleCnt="0"/>
      <dgm:spPr/>
    </dgm:pt>
    <dgm:pt modelId="{7378A243-10F7-46DB-958C-4F4E63D4FCAC}" type="pres">
      <dgm:prSet presAssocID="{F34690A2-8FFF-4456-851B-B415A641201E}" presName="parentLin" presStyleCnt="0"/>
      <dgm:spPr/>
    </dgm:pt>
    <dgm:pt modelId="{F776A29D-16BC-4DB2-986A-64CD2CB0F5CB}" type="pres">
      <dgm:prSet presAssocID="{F34690A2-8FFF-4456-851B-B415A641201E}" presName="parentLeftMargin" presStyleLbl="node1" presStyleIdx="2" presStyleCnt="4"/>
      <dgm:spPr/>
    </dgm:pt>
    <dgm:pt modelId="{FC1AC79D-3BD0-42C4-BFAE-E80918275C57}" type="pres">
      <dgm:prSet presAssocID="{F34690A2-8FFF-4456-851B-B415A641201E}" presName="parentText" presStyleLbl="node1" presStyleIdx="3" presStyleCnt="4" custScaleY="74233">
        <dgm:presLayoutVars>
          <dgm:chMax val="0"/>
          <dgm:bulletEnabled val="1"/>
        </dgm:presLayoutVars>
      </dgm:prSet>
      <dgm:spPr/>
    </dgm:pt>
    <dgm:pt modelId="{B819A8FC-C9FF-4C32-90D6-EA208CA21959}" type="pres">
      <dgm:prSet presAssocID="{F34690A2-8FFF-4456-851B-B415A641201E}" presName="negativeSpace" presStyleCnt="0"/>
      <dgm:spPr/>
    </dgm:pt>
    <dgm:pt modelId="{B3BDBF1E-FC40-4EB1-9284-E62E427AC0BF}" type="pres">
      <dgm:prSet presAssocID="{F34690A2-8FFF-4456-851B-B415A641201E}" presName="childText" presStyleLbl="conFgAcc1" presStyleIdx="3" presStyleCnt="4">
        <dgm:presLayoutVars>
          <dgm:bulletEnabled val="1"/>
        </dgm:presLayoutVars>
      </dgm:prSet>
      <dgm:spPr/>
    </dgm:pt>
  </dgm:ptLst>
  <dgm:cxnLst>
    <dgm:cxn modelId="{A3FA3301-DCED-4F45-A08E-F0C207037E6C}" srcId="{8DB48DDB-9865-4790-B167-6BBC79E89388}" destId="{601AF619-E742-419A-BC95-6E1BB8526401}" srcOrd="1" destOrd="0" parTransId="{DC41B0C6-C351-4795-BA10-B3011961B7DA}" sibTransId="{74C932E0-EF9F-4D7F-ABA2-88E628548B60}"/>
    <dgm:cxn modelId="{AD46C202-C430-4ECE-8583-EDC1CE5A7BEC}" type="presOf" srcId="{6EB050B5-A416-4EE8-8027-1F489656DFF0}" destId="{B3CD83F5-7B98-4088-95D9-08EF81063ACE}" srcOrd="0" destOrd="3" presId="urn:microsoft.com/office/officeart/2005/8/layout/list1"/>
    <dgm:cxn modelId="{2E6B7903-A7CD-43E4-B6A3-8EF39F9F27A9}" srcId="{12956B9E-3F1E-4E0C-A6FE-103686094290}" destId="{12D3AA7A-8A30-4DC1-8E18-DCDA799DCF1E}" srcOrd="0" destOrd="0" parTransId="{5596D738-0CB1-40A4-AA71-8E4BA937A164}" sibTransId="{1397B185-3A4D-4EE8-9EEA-F119600090C9}"/>
    <dgm:cxn modelId="{932E8709-7F41-4000-9E90-68B9965BCD5D}" type="presOf" srcId="{E071F8D6-506A-441F-891C-98492B401902}" destId="{B3BDBF1E-FC40-4EB1-9284-E62E427AC0BF}" srcOrd="0" destOrd="3" presId="urn:microsoft.com/office/officeart/2005/8/layout/list1"/>
    <dgm:cxn modelId="{12A77A0B-93AC-46D4-A24C-CEF481D1F988}" srcId="{F34690A2-8FFF-4456-851B-B415A641201E}" destId="{4D58FFE3-5992-45A5-80D3-673CC2811ABF}" srcOrd="0" destOrd="0" parTransId="{AE7B28DB-54DC-4155-89DA-A542EA8A2CB3}" sibTransId="{5713813E-8F93-4CBA-BE8D-9573229C19F9}"/>
    <dgm:cxn modelId="{F338500E-E20D-401E-BA6C-1EF9CA9CAADC}" type="presOf" srcId="{4D58FFE3-5992-45A5-80D3-673CC2811ABF}" destId="{B3BDBF1E-FC40-4EB1-9284-E62E427AC0BF}" srcOrd="0" destOrd="0" presId="urn:microsoft.com/office/officeart/2005/8/layout/list1"/>
    <dgm:cxn modelId="{04E1270F-15AD-49A0-897B-5D9F5638C580}" srcId="{F34690A2-8FFF-4456-851B-B415A641201E}" destId="{F43F7D0C-E781-435B-B66F-A3FAC19D8418}" srcOrd="1" destOrd="0" parTransId="{91974525-B4B9-41BF-9738-F2E67C37389C}" sibTransId="{7EAD380A-1C74-45FD-BE5F-77962CC27DB4}"/>
    <dgm:cxn modelId="{ED9F4A1B-A610-406B-A24B-46BFA53FA29C}" srcId="{F34690A2-8FFF-4456-851B-B415A641201E}" destId="{2CB05856-9424-4779-BB5D-9A1D51F726F7}" srcOrd="2" destOrd="0" parTransId="{F517C66E-D842-44B2-9F15-2841405AE1BB}" sibTransId="{574CC96E-BBC2-4803-8CB2-3FB24F2D133C}"/>
    <dgm:cxn modelId="{EF0F1529-F6ED-40DF-B645-E9F7D1282338}" srcId="{7903A156-31CB-4AD1-BA97-CCE3329000B6}" destId="{7559F53B-0C0B-4DF4-9431-AACBDC7D64D2}" srcOrd="2" destOrd="0" parTransId="{DFA4E7B6-42E6-4F54-A2FB-AEC85E7810CC}" sibTransId="{CA980228-08AA-47B7-967C-9BCD97D57DA5}"/>
    <dgm:cxn modelId="{3F19EB2B-3938-4672-8CF1-42DD0F8F2BF8}" srcId="{7559F53B-0C0B-4DF4-9431-AACBDC7D64D2}" destId="{48CF592C-499D-4645-A5DD-FD3C30752E73}" srcOrd="1" destOrd="0" parTransId="{0D483B77-CC99-4C77-BB66-289442B88063}" sibTransId="{C70244FB-71AF-4D1C-B912-B1B741D3D9D2}"/>
    <dgm:cxn modelId="{B3C36A2C-1532-422E-A758-ED55505EDB77}" srcId="{7903A156-31CB-4AD1-BA97-CCE3329000B6}" destId="{8DB48DDB-9865-4790-B167-6BBC79E89388}" srcOrd="1" destOrd="0" parTransId="{07294F71-BAD9-4FBC-B2BC-3F0A9B739EDA}" sibTransId="{C9DC3534-2DF2-4C26-8C99-2DFE2C2339D9}"/>
    <dgm:cxn modelId="{22EA612E-6D18-4CE7-B7B9-5C46E6867C94}" srcId="{12956B9E-3F1E-4E0C-A6FE-103686094290}" destId="{61119AEB-AE43-4B87-9673-258005802CD7}" srcOrd="3" destOrd="0" parTransId="{E67F25B2-4EC3-4B15-A43E-0E03992FC237}" sibTransId="{B3EF917C-CF26-40F2-9FE6-3BBE069C8F42}"/>
    <dgm:cxn modelId="{6BFF0633-3FD0-48AF-B58C-0CED856B0A14}" type="presOf" srcId="{52D9F37C-D284-4627-880F-626E38C2F25A}" destId="{9B09BAC6-4D97-4F40-94E4-F0F946EFB7A8}" srcOrd="0" destOrd="2" presId="urn:microsoft.com/office/officeart/2005/8/layout/list1"/>
    <dgm:cxn modelId="{77CA0435-7BCD-43FF-ACDB-918DFFDB1198}" type="presOf" srcId="{D27B6C5B-961A-4E4D-817D-D865C1AAF948}" destId="{392CD5A1-A8C4-499C-8A9C-42B5615687E4}" srcOrd="0" destOrd="0" presId="urn:microsoft.com/office/officeart/2005/8/layout/list1"/>
    <dgm:cxn modelId="{0CE54636-4167-4031-A2E6-22F5C0283539}" srcId="{12956B9E-3F1E-4E0C-A6FE-103686094290}" destId="{345DB5F4-CC3D-4EF3-9055-D8A962B25794}" srcOrd="4" destOrd="0" parTransId="{A837B85E-8BD5-434E-9514-456B1A6A4C5D}" sibTransId="{F34BE33B-B1E7-4718-81F9-D461A4440157}"/>
    <dgm:cxn modelId="{189F0D39-622D-4B2C-962D-5CBAD1B3864D}" srcId="{12956B9E-3F1E-4E0C-A6FE-103686094290}" destId="{52D9F37C-D284-4627-880F-626E38C2F25A}" srcOrd="2" destOrd="0" parTransId="{8561A2EC-033C-43C2-B4F9-BF7B8D0712D5}" sibTransId="{4A483591-BD24-4AC9-A345-DCF35CC56B10}"/>
    <dgm:cxn modelId="{2C9CE743-56DC-44DE-AF08-C5354D7C90D2}" type="presOf" srcId="{F34690A2-8FFF-4456-851B-B415A641201E}" destId="{F776A29D-16BC-4DB2-986A-64CD2CB0F5CB}" srcOrd="0" destOrd="0" presId="urn:microsoft.com/office/officeart/2005/8/layout/list1"/>
    <dgm:cxn modelId="{23C7DE45-6FEA-4FB8-BE27-C2FB7FAE40E0}" type="presOf" srcId="{48CF592C-499D-4645-A5DD-FD3C30752E73}" destId="{B3CD83F5-7B98-4088-95D9-08EF81063ACE}" srcOrd="0" destOrd="1" presId="urn:microsoft.com/office/officeart/2005/8/layout/list1"/>
    <dgm:cxn modelId="{E714CE47-D942-44A2-ADD8-2BCEC457E8B1}" type="presOf" srcId="{12D3AA7A-8A30-4DC1-8E18-DCDA799DCF1E}" destId="{9B09BAC6-4D97-4F40-94E4-F0F946EFB7A8}" srcOrd="0" destOrd="0" presId="urn:microsoft.com/office/officeart/2005/8/layout/list1"/>
    <dgm:cxn modelId="{721A1668-0283-446D-B98C-C54EAC48FDAB}" type="presOf" srcId="{F34690A2-8FFF-4456-851B-B415A641201E}" destId="{FC1AC79D-3BD0-42C4-BFAE-E80918275C57}" srcOrd="1" destOrd="0" presId="urn:microsoft.com/office/officeart/2005/8/layout/list1"/>
    <dgm:cxn modelId="{B65D2869-6D5A-441E-A664-DDE25E0E81A7}" type="presOf" srcId="{8DB48DDB-9865-4790-B167-6BBC79E89388}" destId="{937D24E5-872C-4082-8B2D-4CAD1E28A4B7}" srcOrd="0" destOrd="0" presId="urn:microsoft.com/office/officeart/2005/8/layout/list1"/>
    <dgm:cxn modelId="{1C9C274B-893B-4B5F-9F97-E4F7BAB8A56F}" type="presOf" srcId="{A04FB7A9-F00F-4841-9DE4-9FF93BF32656}" destId="{9B09BAC6-4D97-4F40-94E4-F0F946EFB7A8}" srcOrd="0" destOrd="5" presId="urn:microsoft.com/office/officeart/2005/8/layout/list1"/>
    <dgm:cxn modelId="{E387DA6C-80A3-4888-BD4F-261C0D0EDB01}" type="presOf" srcId="{3F98B43A-E5A6-4827-B184-30E54A76D401}" destId="{392CD5A1-A8C4-499C-8A9C-42B5615687E4}" srcOrd="0" destOrd="3" presId="urn:microsoft.com/office/officeart/2005/8/layout/list1"/>
    <dgm:cxn modelId="{F015816F-9E7E-4543-ACE9-6B26DB7F34FC}" type="presOf" srcId="{10164642-5EE4-41A6-BC07-A026E79E3FDD}" destId="{B3CD83F5-7B98-4088-95D9-08EF81063ACE}" srcOrd="0" destOrd="2" presId="urn:microsoft.com/office/officeart/2005/8/layout/list1"/>
    <dgm:cxn modelId="{C08A4255-06B2-452F-9EA7-BAA21453893E}" srcId="{7559F53B-0C0B-4DF4-9431-AACBDC7D64D2}" destId="{F5D44B17-D5CB-4D24-BD28-48D9D55C84EE}" srcOrd="0" destOrd="0" parTransId="{417936DD-5D05-4D92-9C0F-406B202AA353}" sibTransId="{CFB9F735-EECF-44BF-ADFB-EE99DFF2E754}"/>
    <dgm:cxn modelId="{6DFCE955-96AB-4A7A-B3C2-676D30D33845}" type="presOf" srcId="{39204FCE-0B21-4020-92FB-74ACDABFB5AD}" destId="{9B09BAC6-4D97-4F40-94E4-F0F946EFB7A8}" srcOrd="0" destOrd="1" presId="urn:microsoft.com/office/officeart/2005/8/layout/list1"/>
    <dgm:cxn modelId="{81BAD079-F65D-4646-AA5C-85FD96297016}" srcId="{7903A156-31CB-4AD1-BA97-CCE3329000B6}" destId="{F34690A2-8FFF-4456-851B-B415A641201E}" srcOrd="3" destOrd="0" parTransId="{56F75AF6-AC5A-4E1B-A877-53DF345CB8CB}" sibTransId="{5E6C898A-8C01-41BD-8653-A9F3817B176D}"/>
    <dgm:cxn modelId="{3631B67B-6003-45C0-8FFB-7CF494DA7DEB}" type="presOf" srcId="{7559F53B-0C0B-4DF4-9431-AACBDC7D64D2}" destId="{F5E8ADD3-96A2-487C-87CD-E879C28CD62C}" srcOrd="0" destOrd="0" presId="urn:microsoft.com/office/officeart/2005/8/layout/list1"/>
    <dgm:cxn modelId="{2B34FB7C-82C5-4CB6-8251-4BBF1B3670DE}" srcId="{7903A156-31CB-4AD1-BA97-CCE3329000B6}" destId="{12956B9E-3F1E-4E0C-A6FE-103686094290}" srcOrd="0" destOrd="0" parTransId="{74B79D7F-2D1F-4655-8077-079779584930}" sibTransId="{721F7B50-78AE-4F55-B831-842A34A4931E}"/>
    <dgm:cxn modelId="{A9465183-4FAA-426E-8ED9-8172C99D2C0A}" type="presOf" srcId="{601AF619-E742-419A-BC95-6E1BB8526401}" destId="{392CD5A1-A8C4-499C-8A9C-42B5615687E4}" srcOrd="0" destOrd="1" presId="urn:microsoft.com/office/officeart/2005/8/layout/list1"/>
    <dgm:cxn modelId="{CAA57383-0C23-482C-AD67-2D9DC9D5ED9F}" srcId="{12956B9E-3F1E-4E0C-A6FE-103686094290}" destId="{39204FCE-0B21-4020-92FB-74ACDABFB5AD}" srcOrd="1" destOrd="0" parTransId="{514D929C-4FC5-4C25-8D61-C27A4AEA7D51}" sibTransId="{F4841306-89E6-4EA7-99EB-4AAAF2263102}"/>
    <dgm:cxn modelId="{428A4C84-6BE7-45AE-BFAF-CCC039702427}" type="presOf" srcId="{7903A156-31CB-4AD1-BA97-CCE3329000B6}" destId="{A39DE97E-4E40-464A-82F9-D0150132AF8C}" srcOrd="0" destOrd="0" presId="urn:microsoft.com/office/officeart/2005/8/layout/list1"/>
    <dgm:cxn modelId="{D506ED84-E195-4958-BD4D-934BDE234C49}" type="presOf" srcId="{7559F53B-0C0B-4DF4-9431-AACBDC7D64D2}" destId="{534A929F-A2AA-4520-9E7D-FA67DF07A971}" srcOrd="1" destOrd="0" presId="urn:microsoft.com/office/officeart/2005/8/layout/list1"/>
    <dgm:cxn modelId="{C7599385-BEA5-4684-9976-64CA46C2D178}" type="presOf" srcId="{8DB48DDB-9865-4790-B167-6BBC79E89388}" destId="{5805E80B-3C68-4F1A-B98A-A0CA36859DE4}" srcOrd="1" destOrd="0" presId="urn:microsoft.com/office/officeart/2005/8/layout/list1"/>
    <dgm:cxn modelId="{93FCE592-9302-4A1C-A5A3-DB189A4EF16A}" type="presOf" srcId="{F5D44B17-D5CB-4D24-BD28-48D9D55C84EE}" destId="{B3CD83F5-7B98-4088-95D9-08EF81063ACE}" srcOrd="0" destOrd="0" presId="urn:microsoft.com/office/officeart/2005/8/layout/list1"/>
    <dgm:cxn modelId="{95EA8896-AF17-4DBD-B582-41B69E0F8850}" type="presOf" srcId="{2CB05856-9424-4779-BB5D-9A1D51F726F7}" destId="{B3BDBF1E-FC40-4EB1-9284-E62E427AC0BF}" srcOrd="0" destOrd="2" presId="urn:microsoft.com/office/officeart/2005/8/layout/list1"/>
    <dgm:cxn modelId="{D157A199-CEC8-402B-BFE7-D97BF0D8DE42}" type="presOf" srcId="{12956B9E-3F1E-4E0C-A6FE-103686094290}" destId="{176E7501-11D9-4F4F-AA7B-BF9F5494AB80}" srcOrd="0" destOrd="0" presId="urn:microsoft.com/office/officeart/2005/8/layout/list1"/>
    <dgm:cxn modelId="{204E49A3-40D2-4156-BEC7-194E62FABC1D}" srcId="{8DB48DDB-9865-4790-B167-6BBC79E89388}" destId="{3F98B43A-E5A6-4827-B184-30E54A76D401}" srcOrd="3" destOrd="0" parTransId="{6F105C7A-6CDA-48EC-831D-2EDB6C63C3BA}" sibTransId="{E9248A42-8A75-4041-B0B4-C9D0E72318D0}"/>
    <dgm:cxn modelId="{3C5D73A7-762F-4929-BAC6-60FF3C675934}" srcId="{7559F53B-0C0B-4DF4-9431-AACBDC7D64D2}" destId="{10164642-5EE4-41A6-BC07-A026E79E3FDD}" srcOrd="2" destOrd="0" parTransId="{7839ECF9-8442-45A2-B26F-E2638A2B3375}" sibTransId="{5B5DB76B-49D1-4B36-BCBB-802636AAC51B}"/>
    <dgm:cxn modelId="{7F9715B1-DCE1-4C73-B8CB-101B81082376}" srcId="{8DB48DDB-9865-4790-B167-6BBC79E89388}" destId="{730A1320-02F9-42E2-BE5C-E78B4451AA7E}" srcOrd="2" destOrd="0" parTransId="{388700D4-D329-46E8-B730-9CEAE941DBE3}" sibTransId="{CCB0372A-2F8D-4635-9074-D08700D4736C}"/>
    <dgm:cxn modelId="{C02123B5-E5A1-4552-8D4E-477198EE0496}" type="presOf" srcId="{F43F7D0C-E781-435B-B66F-A3FAC19D8418}" destId="{B3BDBF1E-FC40-4EB1-9284-E62E427AC0BF}" srcOrd="0" destOrd="1" presId="urn:microsoft.com/office/officeart/2005/8/layout/list1"/>
    <dgm:cxn modelId="{91483EBC-FF90-41CB-85FE-5E9170D0F483}" srcId="{F34690A2-8FFF-4456-851B-B415A641201E}" destId="{E071F8D6-506A-441F-891C-98492B401902}" srcOrd="3" destOrd="0" parTransId="{8959F176-4FB1-4164-A6C7-3F324D940DA6}" sibTransId="{088ED922-36D8-45C5-9C8F-DDDE4A92C551}"/>
    <dgm:cxn modelId="{B2EA0CCA-6FB6-41A0-A9C2-984A8175D0D9}" srcId="{12956B9E-3F1E-4E0C-A6FE-103686094290}" destId="{A04FB7A9-F00F-4841-9DE4-9FF93BF32656}" srcOrd="5" destOrd="0" parTransId="{1D81F0A0-3939-4F9C-9472-15D8E2514BDF}" sibTransId="{3507F772-3821-40BC-98C6-8E5D860FE09F}"/>
    <dgm:cxn modelId="{044B66CB-8DE2-40BE-B59E-D090B124FB6E}" type="presOf" srcId="{61119AEB-AE43-4B87-9673-258005802CD7}" destId="{9B09BAC6-4D97-4F40-94E4-F0F946EFB7A8}" srcOrd="0" destOrd="3" presId="urn:microsoft.com/office/officeart/2005/8/layout/list1"/>
    <dgm:cxn modelId="{A86ADBCD-E944-4C61-B7D0-E91DBAFC9111}" type="presOf" srcId="{12956B9E-3F1E-4E0C-A6FE-103686094290}" destId="{2AD2CA0A-E426-4E21-8B3E-5E22E45BD58C}" srcOrd="1" destOrd="0" presId="urn:microsoft.com/office/officeart/2005/8/layout/list1"/>
    <dgm:cxn modelId="{C2C5EFD2-78F0-488E-AD91-C70511C6D2D4}" type="presOf" srcId="{730A1320-02F9-42E2-BE5C-E78B4451AA7E}" destId="{392CD5A1-A8C4-499C-8A9C-42B5615687E4}" srcOrd="0" destOrd="2" presId="urn:microsoft.com/office/officeart/2005/8/layout/list1"/>
    <dgm:cxn modelId="{0ED45DDA-FC40-4D19-8911-BAEC468224C8}" srcId="{8DB48DDB-9865-4790-B167-6BBC79E89388}" destId="{D27B6C5B-961A-4E4D-817D-D865C1AAF948}" srcOrd="0" destOrd="0" parTransId="{B741FF91-CBD6-4E7D-905E-C52134DE6DDB}" sibTransId="{30C0E10C-194B-49BE-9532-FD4DA5A54ECC}"/>
    <dgm:cxn modelId="{217E7AE0-6221-47CA-9DC5-5F927377566F}" type="presOf" srcId="{345DB5F4-CC3D-4EF3-9055-D8A962B25794}" destId="{9B09BAC6-4D97-4F40-94E4-F0F946EFB7A8}" srcOrd="0" destOrd="4" presId="urn:microsoft.com/office/officeart/2005/8/layout/list1"/>
    <dgm:cxn modelId="{8B66AEF9-9808-477B-8885-2487D82BB0D1}" srcId="{7559F53B-0C0B-4DF4-9431-AACBDC7D64D2}" destId="{6EB050B5-A416-4EE8-8027-1F489656DFF0}" srcOrd="3" destOrd="0" parTransId="{BB3F2E64-C94A-42E9-9495-AA916DB3E858}" sibTransId="{BC26FD4B-736A-4D07-969A-F3A6546FBEED}"/>
    <dgm:cxn modelId="{C4812BC5-71CB-4DBA-8929-C00E647B8C84}" type="presParOf" srcId="{A39DE97E-4E40-464A-82F9-D0150132AF8C}" destId="{CDA72F24-F27A-48E4-9155-8EBF7636FD98}" srcOrd="0" destOrd="0" presId="urn:microsoft.com/office/officeart/2005/8/layout/list1"/>
    <dgm:cxn modelId="{7E3E944F-1697-4C43-90CD-7B893ACCEF56}" type="presParOf" srcId="{CDA72F24-F27A-48E4-9155-8EBF7636FD98}" destId="{176E7501-11D9-4F4F-AA7B-BF9F5494AB80}" srcOrd="0" destOrd="0" presId="urn:microsoft.com/office/officeart/2005/8/layout/list1"/>
    <dgm:cxn modelId="{DAB0F64E-976F-4E10-8315-1486C6C119EF}" type="presParOf" srcId="{CDA72F24-F27A-48E4-9155-8EBF7636FD98}" destId="{2AD2CA0A-E426-4E21-8B3E-5E22E45BD58C}" srcOrd="1" destOrd="0" presId="urn:microsoft.com/office/officeart/2005/8/layout/list1"/>
    <dgm:cxn modelId="{0D9A5728-882E-47C4-BBCF-9768CA59BCB9}" type="presParOf" srcId="{A39DE97E-4E40-464A-82F9-D0150132AF8C}" destId="{4F410940-F243-40C7-8C18-5EE9EE19F3FC}" srcOrd="1" destOrd="0" presId="urn:microsoft.com/office/officeart/2005/8/layout/list1"/>
    <dgm:cxn modelId="{0E792E02-D49F-4741-B408-595DE248CF7C}" type="presParOf" srcId="{A39DE97E-4E40-464A-82F9-D0150132AF8C}" destId="{9B09BAC6-4D97-4F40-94E4-F0F946EFB7A8}" srcOrd="2" destOrd="0" presId="urn:microsoft.com/office/officeart/2005/8/layout/list1"/>
    <dgm:cxn modelId="{8CD9C1F0-6331-4B58-94DD-FD8CB2BC456A}" type="presParOf" srcId="{A39DE97E-4E40-464A-82F9-D0150132AF8C}" destId="{0D9A118C-EA7B-40C0-AB4E-9CB317EC264A}" srcOrd="3" destOrd="0" presId="urn:microsoft.com/office/officeart/2005/8/layout/list1"/>
    <dgm:cxn modelId="{B789E255-B0F5-4712-A413-E48FD94C9838}" type="presParOf" srcId="{A39DE97E-4E40-464A-82F9-D0150132AF8C}" destId="{7FC97E55-5CB0-4001-BD0C-253A1D36F7DD}" srcOrd="4" destOrd="0" presId="urn:microsoft.com/office/officeart/2005/8/layout/list1"/>
    <dgm:cxn modelId="{33B627BF-A497-4298-8DFC-0A13D31232AF}" type="presParOf" srcId="{7FC97E55-5CB0-4001-BD0C-253A1D36F7DD}" destId="{937D24E5-872C-4082-8B2D-4CAD1E28A4B7}" srcOrd="0" destOrd="0" presId="urn:microsoft.com/office/officeart/2005/8/layout/list1"/>
    <dgm:cxn modelId="{50D8AB0F-7F3D-4C27-B49A-12C0DCB19DC1}" type="presParOf" srcId="{7FC97E55-5CB0-4001-BD0C-253A1D36F7DD}" destId="{5805E80B-3C68-4F1A-B98A-A0CA36859DE4}" srcOrd="1" destOrd="0" presId="urn:microsoft.com/office/officeart/2005/8/layout/list1"/>
    <dgm:cxn modelId="{C72BF120-D5DB-410C-8368-30D56FF63004}" type="presParOf" srcId="{A39DE97E-4E40-464A-82F9-D0150132AF8C}" destId="{B21E31D2-AD16-4B72-BFA8-4B28D303330A}" srcOrd="5" destOrd="0" presId="urn:microsoft.com/office/officeart/2005/8/layout/list1"/>
    <dgm:cxn modelId="{C29A3DE7-C03C-4FCC-A1AE-BE5FA611694D}" type="presParOf" srcId="{A39DE97E-4E40-464A-82F9-D0150132AF8C}" destId="{392CD5A1-A8C4-499C-8A9C-42B5615687E4}" srcOrd="6" destOrd="0" presId="urn:microsoft.com/office/officeart/2005/8/layout/list1"/>
    <dgm:cxn modelId="{10EA5EE2-6280-4307-BBD9-C743C221D6F8}" type="presParOf" srcId="{A39DE97E-4E40-464A-82F9-D0150132AF8C}" destId="{C4AB99E9-7068-4C3B-A327-F9643C009361}" srcOrd="7" destOrd="0" presId="urn:microsoft.com/office/officeart/2005/8/layout/list1"/>
    <dgm:cxn modelId="{6DBF067F-0DA3-49A7-A060-50DB148E0E3C}" type="presParOf" srcId="{A39DE97E-4E40-464A-82F9-D0150132AF8C}" destId="{73105B01-B8E0-4122-BB4D-28D4DEE4411E}" srcOrd="8" destOrd="0" presId="urn:microsoft.com/office/officeart/2005/8/layout/list1"/>
    <dgm:cxn modelId="{95450707-9DE0-4173-BE0E-7610DBEF0029}" type="presParOf" srcId="{73105B01-B8E0-4122-BB4D-28D4DEE4411E}" destId="{F5E8ADD3-96A2-487C-87CD-E879C28CD62C}" srcOrd="0" destOrd="0" presId="urn:microsoft.com/office/officeart/2005/8/layout/list1"/>
    <dgm:cxn modelId="{92165BEA-7351-4E65-BD29-34210B021D70}" type="presParOf" srcId="{73105B01-B8E0-4122-BB4D-28D4DEE4411E}" destId="{534A929F-A2AA-4520-9E7D-FA67DF07A971}" srcOrd="1" destOrd="0" presId="urn:microsoft.com/office/officeart/2005/8/layout/list1"/>
    <dgm:cxn modelId="{6787C14F-C0BE-4E26-9F6D-E7B6FFC701E4}" type="presParOf" srcId="{A39DE97E-4E40-464A-82F9-D0150132AF8C}" destId="{34444B21-654B-4737-B5EC-45497FF8A5D8}" srcOrd="9" destOrd="0" presId="urn:microsoft.com/office/officeart/2005/8/layout/list1"/>
    <dgm:cxn modelId="{36877B74-3237-43EA-8460-C7D3DB7AC392}" type="presParOf" srcId="{A39DE97E-4E40-464A-82F9-D0150132AF8C}" destId="{B3CD83F5-7B98-4088-95D9-08EF81063ACE}" srcOrd="10" destOrd="0" presId="urn:microsoft.com/office/officeart/2005/8/layout/list1"/>
    <dgm:cxn modelId="{29E91F04-F575-4264-8466-EBD91330CAB2}" type="presParOf" srcId="{A39DE97E-4E40-464A-82F9-D0150132AF8C}" destId="{647D7FFF-30D4-4EB8-87E4-C4E549BBD36C}" srcOrd="11" destOrd="0" presId="urn:microsoft.com/office/officeart/2005/8/layout/list1"/>
    <dgm:cxn modelId="{09AD24C7-F9D3-46A8-8381-86869C960710}" type="presParOf" srcId="{A39DE97E-4E40-464A-82F9-D0150132AF8C}" destId="{7378A243-10F7-46DB-958C-4F4E63D4FCAC}" srcOrd="12" destOrd="0" presId="urn:microsoft.com/office/officeart/2005/8/layout/list1"/>
    <dgm:cxn modelId="{29C1E81B-7F75-4B4E-9B4E-4FCF3206F4FB}" type="presParOf" srcId="{7378A243-10F7-46DB-958C-4F4E63D4FCAC}" destId="{F776A29D-16BC-4DB2-986A-64CD2CB0F5CB}" srcOrd="0" destOrd="0" presId="urn:microsoft.com/office/officeart/2005/8/layout/list1"/>
    <dgm:cxn modelId="{DDB71CFD-08AA-47F2-97F0-FCC56567212C}" type="presParOf" srcId="{7378A243-10F7-46DB-958C-4F4E63D4FCAC}" destId="{FC1AC79D-3BD0-42C4-BFAE-E80918275C57}" srcOrd="1" destOrd="0" presId="urn:microsoft.com/office/officeart/2005/8/layout/list1"/>
    <dgm:cxn modelId="{17895F34-9972-4AFC-822A-CC2CB2DF7B80}" type="presParOf" srcId="{A39DE97E-4E40-464A-82F9-D0150132AF8C}" destId="{B819A8FC-C9FF-4C32-90D6-EA208CA21959}" srcOrd="13" destOrd="0" presId="urn:microsoft.com/office/officeart/2005/8/layout/list1"/>
    <dgm:cxn modelId="{70CC0F90-D0EB-40C5-9784-16A687B8D13F}" type="presParOf" srcId="{A39DE97E-4E40-464A-82F9-D0150132AF8C}" destId="{B3BDBF1E-FC40-4EB1-9284-E62E427AC0BF}"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C3A8E1-CE93-4E4E-9348-28496F74C37D}">
      <dsp:nvSpPr>
        <dsp:cNvPr id="0" name=""/>
        <dsp:cNvSpPr/>
      </dsp:nvSpPr>
      <dsp:spPr>
        <a:xfrm rot="5400000">
          <a:off x="1175815" y="136504"/>
          <a:ext cx="1461717" cy="1194015"/>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先理解任務目標</a:t>
          </a:r>
        </a:p>
      </dsp:txBody>
      <dsp:txXfrm rot="-5400000">
        <a:off x="1309667" y="599661"/>
        <a:ext cx="1194015" cy="267702"/>
      </dsp:txXfrm>
    </dsp:sp>
    <dsp:sp modelId="{4C85D1C5-F01B-41D8-A41B-0C13CD35ABDC}">
      <dsp:nvSpPr>
        <dsp:cNvPr id="0" name=""/>
        <dsp:cNvSpPr/>
      </dsp:nvSpPr>
      <dsp:spPr>
        <a:xfrm rot="5400000">
          <a:off x="4401675" y="-1693239"/>
          <a:ext cx="950615" cy="4342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分類（有無腫瘤 </a:t>
          </a:r>
          <a:r>
            <a:rPr lang="en-US" altLang="en-US" sz="1800" kern="1200" dirty="0">
              <a:latin typeface="微軟正黑體" panose="020B0604030504040204" pitchFamily="34" charset="-120"/>
              <a:ea typeface="微軟正黑體" panose="020B0604030504040204" pitchFamily="34" charset="-120"/>
            </a:rPr>
            <a:t>/ </a:t>
          </a:r>
          <a:r>
            <a:rPr lang="zh-TW" altLang="en-US" sz="1800" kern="1200" dirty="0">
              <a:latin typeface="微軟正黑體" panose="020B0604030504040204" pitchFamily="34" charset="-120"/>
              <a:ea typeface="微軟正黑體" panose="020B0604030504040204" pitchFamily="34" charset="-120"/>
            </a:rPr>
            <a:t>腫瘤類型）？還是分割（腫瘤位置）？</a:t>
          </a:r>
        </a:p>
      </dsp:txBody>
      <dsp:txXfrm rot="-5400000">
        <a:off x="2705811" y="49030"/>
        <a:ext cx="4295939" cy="857805"/>
      </dsp:txXfrm>
    </dsp:sp>
    <dsp:sp modelId="{A62A53C2-3067-4C18-80C2-0EB7414273FD}">
      <dsp:nvSpPr>
        <dsp:cNvPr id="0" name=""/>
        <dsp:cNvSpPr/>
      </dsp:nvSpPr>
      <dsp:spPr>
        <a:xfrm rot="5400000">
          <a:off x="1170136" y="1459397"/>
          <a:ext cx="1461717" cy="1182657"/>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下載公開資料集</a:t>
          </a:r>
        </a:p>
      </dsp:txBody>
      <dsp:txXfrm rot="-5400000">
        <a:off x="1309667" y="1911196"/>
        <a:ext cx="1182657" cy="279060"/>
      </dsp:txXfrm>
    </dsp:sp>
    <dsp:sp modelId="{60C3F974-7EB0-4514-997B-B68FD7CB8792}">
      <dsp:nvSpPr>
        <dsp:cNvPr id="0" name=""/>
        <dsp:cNvSpPr/>
      </dsp:nvSpPr>
      <dsp:spPr>
        <a:xfrm rot="5400000">
          <a:off x="4473606" y="-487884"/>
          <a:ext cx="950116" cy="4475092"/>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lrTx/>
            <a:buSzTx/>
            <a:buFontTx/>
            <a:buChar char="•"/>
          </a:pPr>
          <a:r>
            <a:rPr kumimoji="0" lang="zh-TW" altLang="zh-TW" sz="1800" b="0" i="0" u="none" strike="noStrike" kern="1200" cap="none" normalizeH="0" baseline="0" dirty="0">
              <a:ln/>
              <a:effectLst/>
              <a:latin typeface="微軟正黑體" panose="020B0604030504040204" pitchFamily="34" charset="-120"/>
              <a:ea typeface="微軟正黑體" panose="020B0604030504040204" pitchFamily="34" charset="-120"/>
            </a:rPr>
            <a:t>下載公開資料集（BraTS </a:t>
          </a:r>
          <a:r>
            <a:rPr kumimoji="0" lang="en-US" altLang="zh-TW" sz="1800" b="0" i="0" u="none" strike="noStrike" kern="1200" cap="none" normalizeH="0" baseline="0" dirty="0">
              <a:ln/>
              <a:effectLst/>
              <a:latin typeface="微軟正黑體" panose="020B0604030504040204" pitchFamily="34" charset="-120"/>
              <a:ea typeface="微軟正黑體" panose="020B0604030504040204" pitchFamily="34" charset="-120"/>
            </a:rPr>
            <a:t>/</a:t>
          </a:r>
          <a:r>
            <a:rPr kumimoji="0" lang="en-US" altLang="zh-TW" sz="1800" b="0" i="0" u="none" strike="noStrike" kern="1200" cap="none" normalizeH="0" baseline="0" dirty="0" err="1">
              <a:ln/>
              <a:effectLst/>
              <a:latin typeface="微軟正黑體" panose="020B0604030504040204" pitchFamily="34" charset="-120"/>
              <a:ea typeface="微軟正黑體" panose="020B0604030504040204" pitchFamily="34" charset="-120"/>
            </a:rPr>
            <a:t>kaggle</a:t>
          </a:r>
          <a:r>
            <a:rPr kumimoji="0" lang="zh-TW" altLang="zh-TW" sz="1800" b="0" i="0" u="none" strike="noStrike" kern="1200" cap="none" normalizeH="0" baseline="0" dirty="0">
              <a:ln/>
              <a:effectLst/>
              <a:latin typeface="微軟正黑體" panose="020B0604030504040204" pitchFamily="34" charset="-120"/>
              <a:ea typeface="微軟正黑體" panose="020B0604030504040204" pitchFamily="34" charset="-120"/>
            </a:rPr>
            <a:t>）</a:t>
          </a:r>
          <a:endParaRPr lang="zh-TW" altLang="en-US" sz="1800" b="0" kern="1200" dirty="0"/>
        </a:p>
      </dsp:txBody>
      <dsp:txXfrm rot="-5400000">
        <a:off x="2711119" y="1320984"/>
        <a:ext cx="4428711" cy="857354"/>
      </dsp:txXfrm>
    </dsp:sp>
    <dsp:sp modelId="{B1B023A4-2FCE-421F-8475-03AC83AD7B93}">
      <dsp:nvSpPr>
        <dsp:cNvPr id="0" name=""/>
        <dsp:cNvSpPr/>
      </dsp:nvSpPr>
      <dsp:spPr>
        <a:xfrm rot="5400000">
          <a:off x="1197476" y="2749271"/>
          <a:ext cx="1461717" cy="1237337"/>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en-US" sz="1400" b="1" kern="1200" dirty="0">
              <a:latin typeface="微軟正黑體" panose="020B0604030504040204" pitchFamily="34" charset="-120"/>
              <a:ea typeface="微軟正黑體" panose="020B0604030504040204" pitchFamily="34" charset="-120"/>
            </a:rPr>
            <a:t>GitHub </a:t>
          </a:r>
          <a:endParaRPr lang="zh-TW" altLang="en-US" sz="1400" b="1" kern="1200" dirty="0">
            <a:latin typeface="微軟正黑體" panose="020B0604030504040204" pitchFamily="34" charset="-120"/>
            <a:ea typeface="微軟正黑體" panose="020B0604030504040204" pitchFamily="34" charset="-120"/>
          </a:endParaRPr>
        </a:p>
      </dsp:txBody>
      <dsp:txXfrm rot="-5400000">
        <a:off x="1309667" y="3255750"/>
        <a:ext cx="1237337" cy="224380"/>
      </dsp:txXfrm>
    </dsp:sp>
    <dsp:sp modelId="{C982817A-E4D9-43D8-9F1B-97B363A9AFBF}">
      <dsp:nvSpPr>
        <dsp:cNvPr id="0" name=""/>
        <dsp:cNvSpPr/>
      </dsp:nvSpPr>
      <dsp:spPr>
        <a:xfrm rot="5400000">
          <a:off x="4448661" y="857257"/>
          <a:ext cx="950116" cy="4455438"/>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用 </a:t>
          </a:r>
          <a:r>
            <a:rPr lang="en-US" altLang="en-US" sz="1800" kern="1200" dirty="0">
              <a:latin typeface="微軟正黑體" panose="020B0604030504040204" pitchFamily="34" charset="-120"/>
              <a:ea typeface="微軟正黑體" panose="020B0604030504040204" pitchFamily="34" charset="-120"/>
            </a:rPr>
            <a:t>GitHub </a:t>
          </a:r>
          <a:r>
            <a:rPr lang="zh-TW" altLang="en-US" sz="1800" kern="1200" dirty="0">
              <a:latin typeface="微軟正黑體" panose="020B0604030504040204" pitchFamily="34" charset="-120"/>
              <a:ea typeface="微軟正黑體" panose="020B0604030504040204" pitchFamily="34" charset="-120"/>
            </a:rPr>
            <a:t>或 </a:t>
          </a:r>
          <a:r>
            <a:rPr lang="en-US" altLang="en-US" sz="1800" kern="1200" dirty="0">
              <a:latin typeface="微軟正黑體" panose="020B0604030504040204" pitchFamily="34" charset="-120"/>
              <a:ea typeface="微軟正黑體" panose="020B0604030504040204" pitchFamily="34" charset="-120"/>
            </a:rPr>
            <a:t>Kaggle </a:t>
          </a:r>
          <a:r>
            <a:rPr lang="zh-TW" altLang="en-US" sz="1800" kern="1200" dirty="0">
              <a:latin typeface="微軟正黑體" panose="020B0604030504040204" pitchFamily="34" charset="-120"/>
              <a:ea typeface="微軟正黑體" panose="020B0604030504040204" pitchFamily="34" charset="-120"/>
            </a:rPr>
            <a:t>的 </a:t>
          </a:r>
          <a:r>
            <a:rPr lang="en-US" altLang="en-US" sz="1800" kern="1200" dirty="0">
              <a:latin typeface="微軟正黑體" panose="020B0604030504040204" pitchFamily="34" charset="-120"/>
              <a:ea typeface="微軟正黑體" panose="020B0604030504040204" pitchFamily="34" charset="-120"/>
            </a:rPr>
            <a:t>baseline code </a:t>
          </a:r>
          <a:r>
            <a:rPr lang="zh-TW" altLang="en-US" sz="1800" kern="1200" dirty="0">
              <a:latin typeface="微軟正黑體" panose="020B0604030504040204" pitchFamily="34" charset="-120"/>
              <a:ea typeface="微軟正黑體" panose="020B0604030504040204" pitchFamily="34" charset="-120"/>
            </a:rPr>
            <a:t>跑通一次</a:t>
          </a:r>
        </a:p>
      </dsp:txBody>
      <dsp:txXfrm rot="-5400000">
        <a:off x="2696001" y="2656299"/>
        <a:ext cx="4409057" cy="857354"/>
      </dsp:txXfrm>
    </dsp:sp>
    <dsp:sp modelId="{3B754592-190C-48E4-898A-AB7A75B9A3C8}">
      <dsp:nvSpPr>
        <dsp:cNvPr id="0" name=""/>
        <dsp:cNvSpPr/>
      </dsp:nvSpPr>
      <dsp:spPr>
        <a:xfrm rot="5400000">
          <a:off x="1162769" y="4101193"/>
          <a:ext cx="1461717" cy="1167923"/>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慢慢調整</a:t>
          </a:r>
        </a:p>
      </dsp:txBody>
      <dsp:txXfrm rot="-5400000">
        <a:off x="1309667" y="4538258"/>
        <a:ext cx="1167923" cy="293794"/>
      </dsp:txXfrm>
    </dsp:sp>
    <dsp:sp modelId="{4493DD8A-A6DB-4EF3-919C-B7BAFD7B5973}">
      <dsp:nvSpPr>
        <dsp:cNvPr id="0" name=""/>
        <dsp:cNvSpPr/>
      </dsp:nvSpPr>
      <dsp:spPr>
        <a:xfrm rot="5400000">
          <a:off x="4496249" y="2131772"/>
          <a:ext cx="950116" cy="455894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前處理、模型架構（</a:t>
          </a:r>
          <a:r>
            <a:rPr lang="en-US" altLang="en-US" sz="1800" kern="1200" dirty="0" err="1">
              <a:latin typeface="微軟正黑體" panose="020B0604030504040204" pitchFamily="34" charset="-120"/>
              <a:ea typeface="微軟正黑體" panose="020B0604030504040204" pitchFamily="34" charset="-120"/>
            </a:rPr>
            <a:t>ResNet</a:t>
          </a:r>
          <a:r>
            <a:rPr lang="zh-TW" altLang="en-US" sz="1800" kern="1200" dirty="0">
              <a:latin typeface="微軟正黑體" panose="020B0604030504040204" pitchFamily="34" charset="-120"/>
              <a:ea typeface="微軟正黑體" panose="020B0604030504040204" pitchFamily="34" charset="-120"/>
            </a:rPr>
            <a:t>、</a:t>
          </a:r>
          <a:r>
            <a:rPr lang="en-US" altLang="en-US" sz="1800" kern="1200" dirty="0" err="1">
              <a:latin typeface="微軟正黑體" panose="020B0604030504040204" pitchFamily="34" charset="-120"/>
              <a:ea typeface="微軟正黑體" panose="020B0604030504040204" pitchFamily="34" charset="-120"/>
            </a:rPr>
            <a:t>DenseNet</a:t>
          </a:r>
          <a:r>
            <a:rPr lang="zh-TW" altLang="en-US" sz="1800" kern="1200" dirty="0">
              <a:latin typeface="微軟正黑體" panose="020B0604030504040204" pitchFamily="34" charset="-120"/>
              <a:ea typeface="微軟正黑體" panose="020B0604030504040204" pitchFamily="34" charset="-120"/>
            </a:rPr>
            <a:t>、</a:t>
          </a:r>
          <a:r>
            <a:rPr lang="en-US" altLang="en-US" sz="1800" kern="1200" dirty="0" err="1">
              <a:latin typeface="微軟正黑體" panose="020B0604030504040204" pitchFamily="34" charset="-120"/>
              <a:ea typeface="微軟正黑體" panose="020B0604030504040204" pitchFamily="34" charset="-120"/>
            </a:rPr>
            <a:t>UNet</a:t>
          </a:r>
          <a:r>
            <a:rPr lang="zh-TW" altLang="en-US" sz="1800" kern="1200" dirty="0">
              <a:latin typeface="微軟正黑體" panose="020B0604030504040204" pitchFamily="34" charset="-120"/>
              <a:ea typeface="微軟正黑體" panose="020B0604030504040204" pitchFamily="34" charset="-120"/>
            </a:rPr>
            <a:t>）、資料增強、超參數調整</a:t>
          </a:r>
        </a:p>
      </dsp:txBody>
      <dsp:txXfrm rot="-5400000">
        <a:off x="2691835" y="3982568"/>
        <a:ext cx="4512564" cy="857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9BAC6-4D97-4F40-94E4-F0F946EFB7A8}">
      <dsp:nvSpPr>
        <dsp:cNvPr id="0" name=""/>
        <dsp:cNvSpPr/>
      </dsp:nvSpPr>
      <dsp:spPr>
        <a:xfrm>
          <a:off x="0" y="244649"/>
          <a:ext cx="5489971" cy="16128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6083" tIns="166624" rIns="426083" bIns="71120" numCol="1" spcCol="1270" anchor="t" anchorCtr="0">
          <a:noAutofit/>
        </a:bodyPr>
        <a:lstStyle/>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a:t>
          </a:r>
          <a:r>
            <a:rPr lang="en-US" altLang="zh-TW" sz="1000" kern="1200" dirty="0" err="1">
              <a:latin typeface="微軟正黑體" panose="020B0604030504040204" pitchFamily="34" charset="-120"/>
              <a:ea typeface="微軟正黑體" panose="020B0604030504040204" pitchFamily="34" charset="-120"/>
            </a:rPr>
            <a:t>nibabel</a:t>
          </a:r>
          <a:r>
            <a:rPr lang="en-US" altLang="zh-TW" sz="1000" kern="1200" dirty="0">
              <a:latin typeface="微軟正黑體" panose="020B0604030504040204" pitchFamily="34" charset="-120"/>
              <a:ea typeface="微軟正黑體" panose="020B0604030504040204" pitchFamily="34" charset="-120"/>
            </a:rPr>
            <a:t> </a:t>
          </a:r>
          <a:r>
            <a:rPr lang="zh-TW" altLang="en-US" sz="1000" kern="1200" dirty="0">
              <a:latin typeface="微軟正黑體" panose="020B0604030504040204" pitchFamily="34" charset="-120"/>
              <a:ea typeface="微軟正黑體" panose="020B0604030504040204" pitchFamily="34" charset="-120"/>
            </a:rPr>
            <a:t>讀取</a:t>
          </a:r>
        </a:p>
        <a:p>
          <a:pPr marL="57150" lvl="1" indent="-57150" algn="l" defTabSz="444500">
            <a:lnSpc>
              <a:spcPct val="90000"/>
            </a:lnSpc>
            <a:spcBef>
              <a:spcPct val="0"/>
            </a:spcBef>
            <a:spcAft>
              <a:spcPct val="15000"/>
            </a:spcAft>
            <a:buChar char="•"/>
          </a:pPr>
          <a:r>
            <a:rPr lang="zh-TW" altLang="en-US" sz="1000" kern="1200" dirty="0">
              <a:latin typeface="微軟正黑體" panose="020B0604030504040204" pitchFamily="34" charset="-120"/>
              <a:ea typeface="微軟正黑體" panose="020B0604030504040204" pitchFamily="34" charset="-120"/>
            </a:rPr>
            <a:t>├─</a:t>
          </a:r>
          <a:r>
            <a:rPr lang="en-US" altLang="zh-TW" sz="1000" kern="1200" dirty="0">
              <a:latin typeface="微軟正黑體" panose="020B0604030504040204" pitchFamily="34" charset="-120"/>
              <a:ea typeface="微軟正黑體" panose="020B0604030504040204" pitchFamily="34" charset="-120"/>
            </a:rPr>
            <a:t>&gt; Reorientation</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N4 Bias Correction</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Skull Stripping</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Registration / Resampling</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Intensity Normalization → </a:t>
          </a:r>
          <a:r>
            <a:rPr lang="zh-TW" altLang="en-US" sz="1000" kern="1200" dirty="0">
              <a:latin typeface="微軟正黑體" panose="020B0604030504040204" pitchFamily="34" charset="-120"/>
              <a:ea typeface="微軟正黑體" panose="020B0604030504040204" pitchFamily="34" charset="-120"/>
            </a:rPr>
            <a:t>輸入 </a:t>
          </a:r>
          <a:r>
            <a:rPr lang="en-US" altLang="zh-TW" sz="1000" kern="1200" dirty="0">
              <a:latin typeface="微軟正黑體" panose="020B0604030504040204" pitchFamily="34" charset="-120"/>
              <a:ea typeface="微軟正黑體" panose="020B0604030504040204" pitchFamily="34" charset="-120"/>
            </a:rPr>
            <a:t>3D CNN</a:t>
          </a:r>
        </a:p>
      </dsp:txBody>
      <dsp:txXfrm>
        <a:off x="0" y="244649"/>
        <a:ext cx="5489971" cy="1612800"/>
      </dsp:txXfrm>
    </dsp:sp>
    <dsp:sp modelId="{2AD2CA0A-E426-4E21-8B3E-5E22E45BD58C}">
      <dsp:nvSpPr>
        <dsp:cNvPr id="0" name=""/>
        <dsp:cNvSpPr/>
      </dsp:nvSpPr>
      <dsp:spPr>
        <a:xfrm>
          <a:off x="274498" y="63848"/>
          <a:ext cx="3842979" cy="298881"/>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5255" tIns="0" rIns="145255" bIns="0" numCol="1" spcCol="1270" anchor="ctr" anchorCtr="0">
          <a:noAutofit/>
        </a:bodyPr>
        <a:lstStyle/>
        <a:p>
          <a:pPr marL="0" lvl="0" indent="0" algn="l" defTabSz="800100">
            <a:lnSpc>
              <a:spcPct val="90000"/>
            </a:lnSpc>
            <a:spcBef>
              <a:spcPct val="0"/>
            </a:spcBef>
            <a:spcAft>
              <a:spcPct val="35000"/>
            </a:spcAft>
            <a:buNone/>
          </a:pPr>
          <a:r>
            <a:rPr lang="en-US" altLang="zh-TW" sz="1800" kern="1200" dirty="0"/>
            <a:t>MRI/CT (.</a:t>
          </a:r>
          <a:r>
            <a:rPr lang="en-US" altLang="zh-TW" sz="1800" kern="1200" dirty="0" err="1"/>
            <a:t>nii</a:t>
          </a:r>
          <a:r>
            <a:rPr lang="en-US" altLang="zh-TW" sz="1800" kern="1200" dirty="0"/>
            <a:t>/.nii.gz)</a:t>
          </a:r>
          <a:endParaRPr lang="zh-TW" altLang="en-US" sz="1800" kern="1200" dirty="0"/>
        </a:p>
      </dsp:txBody>
      <dsp:txXfrm>
        <a:off x="289088" y="78438"/>
        <a:ext cx="3813799" cy="269701"/>
      </dsp:txXfrm>
    </dsp:sp>
    <dsp:sp modelId="{392CD5A1-A8C4-499C-8A9C-42B5615687E4}">
      <dsp:nvSpPr>
        <dsp:cNvPr id="0" name=""/>
        <dsp:cNvSpPr/>
      </dsp:nvSpPr>
      <dsp:spPr>
        <a:xfrm>
          <a:off x="0" y="2091129"/>
          <a:ext cx="5489971" cy="113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6083" tIns="166624" rIns="426083" bIns="71120" numCol="1" spcCol="1270" anchor="t" anchorCtr="0">
          <a:noAutofit/>
        </a:bodyPr>
        <a:lstStyle/>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a:t>
          </a:r>
          <a:r>
            <a:rPr lang="en-US" altLang="zh-TW" sz="1000" kern="1200" dirty="0" err="1">
              <a:latin typeface="微軟正黑體" panose="020B0604030504040204" pitchFamily="34" charset="-120"/>
              <a:ea typeface="微軟正黑體" panose="020B0604030504040204" pitchFamily="34" charset="-120"/>
            </a:rPr>
            <a:t>pydicom</a:t>
          </a:r>
          <a:r>
            <a:rPr lang="en-US" altLang="zh-TW" sz="1000" kern="1200" dirty="0">
              <a:latin typeface="微軟正黑體" panose="020B0604030504040204" pitchFamily="34" charset="-120"/>
              <a:ea typeface="微軟正黑體" panose="020B0604030504040204" pitchFamily="34" charset="-120"/>
            </a:rPr>
            <a:t> </a:t>
          </a:r>
          <a:r>
            <a:rPr lang="zh-TW" altLang="en-US" sz="1000" kern="1200" dirty="0">
              <a:latin typeface="微軟正黑體" panose="020B0604030504040204" pitchFamily="34" charset="-120"/>
              <a:ea typeface="微軟正黑體" panose="020B0604030504040204" pitchFamily="34" charset="-120"/>
            </a:rPr>
            <a:t>讀取 </a:t>
          </a:r>
          <a:r>
            <a:rPr lang="en-US" altLang="zh-TW" sz="1000" kern="1200" dirty="0">
              <a:latin typeface="微軟正黑體" panose="020B0604030504040204" pitchFamily="34" charset="-120"/>
              <a:ea typeface="微軟正黑體" panose="020B0604030504040204" pitchFamily="34" charset="-120"/>
            </a:rPr>
            <a:t>Pixel Array</a:t>
          </a:r>
          <a:endParaRPr lang="zh-TW" altLang="en-US" sz="1000" kern="1200" dirty="0">
            <a:latin typeface="微軟正黑體" panose="020B0604030504040204" pitchFamily="34" charset="-120"/>
            <a:ea typeface="微軟正黑體" panose="020B0604030504040204" pitchFamily="34" charset="-120"/>
          </a:endParaRP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Resampling / Resize</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Windowing / Crop</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Normalization → </a:t>
          </a:r>
          <a:r>
            <a:rPr lang="zh-TW" altLang="en-US" sz="1000" kern="1200" dirty="0">
              <a:latin typeface="微軟正黑體" panose="020B0604030504040204" pitchFamily="34" charset="-120"/>
              <a:ea typeface="微軟正黑體" panose="020B0604030504040204" pitchFamily="34" charset="-120"/>
            </a:rPr>
            <a:t>輸入 </a:t>
          </a:r>
          <a:r>
            <a:rPr lang="en-US" altLang="zh-TW" sz="1000" kern="1200" dirty="0">
              <a:latin typeface="微軟正黑體" panose="020B0604030504040204" pitchFamily="34" charset="-120"/>
              <a:ea typeface="微軟正黑體" panose="020B0604030504040204" pitchFamily="34" charset="-120"/>
            </a:rPr>
            <a:t>3D/2D CNN</a:t>
          </a:r>
        </a:p>
      </dsp:txBody>
      <dsp:txXfrm>
        <a:off x="0" y="2091129"/>
        <a:ext cx="5489971" cy="1134000"/>
      </dsp:txXfrm>
    </dsp:sp>
    <dsp:sp modelId="{5805E80B-3C68-4F1A-B98A-A0CA36859DE4}">
      <dsp:nvSpPr>
        <dsp:cNvPr id="0" name=""/>
        <dsp:cNvSpPr/>
      </dsp:nvSpPr>
      <dsp:spPr>
        <a:xfrm>
          <a:off x="274498" y="1900649"/>
          <a:ext cx="3842979" cy="308559"/>
        </a:xfrm>
        <a:prstGeom prst="roundRect">
          <a:avLst/>
        </a:prstGeom>
        <a:gradFill rotWithShape="0">
          <a:gsLst>
            <a:gs pos="0">
              <a:srgbClr val="5B9BD5">
                <a:hueOff val="0"/>
                <a:satOff val="0"/>
                <a:lumOff val="0"/>
                <a:alphaOff val="0"/>
                <a:lumMod val="110000"/>
                <a:satMod val="105000"/>
                <a:tint val="67000"/>
              </a:srgbClr>
            </a:gs>
            <a:gs pos="50000">
              <a:srgbClr val="5B9BD5">
                <a:hueOff val="0"/>
                <a:satOff val="0"/>
                <a:lumOff val="0"/>
                <a:alphaOff val="0"/>
                <a:lumMod val="105000"/>
                <a:satMod val="103000"/>
                <a:tint val="73000"/>
              </a:srgbClr>
            </a:gs>
            <a:gs pos="100000">
              <a:srgbClr val="5B9BD5">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5255" tIns="0" rIns="145255" bIns="0" numCol="1" spcCol="1270" anchor="ctr" anchorCtr="0">
          <a:noAutofit/>
        </a:bodyPr>
        <a:lstStyle/>
        <a:p>
          <a:pPr marL="0" lvl="0" indent="0" algn="l" defTabSz="800100">
            <a:lnSpc>
              <a:spcPct val="90000"/>
            </a:lnSpc>
            <a:spcBef>
              <a:spcPct val="0"/>
            </a:spcBef>
            <a:spcAft>
              <a:spcPct val="35000"/>
            </a:spcAft>
            <a:buNone/>
          </a:pPr>
          <a:r>
            <a:rPr lang="en-US" altLang="zh-TW" sz="1800" kern="1200" dirty="0">
              <a:solidFill>
                <a:prstClr val="black"/>
              </a:solidFill>
              <a:latin typeface="Calibri" panose="020F0502020204030204"/>
              <a:ea typeface="新細明體" panose="02020500000000000000" pitchFamily="18" charset="-120"/>
              <a:cs typeface="+mn-cs"/>
            </a:rPr>
            <a:t>DICOM (.</a:t>
          </a:r>
          <a:r>
            <a:rPr lang="en-US" altLang="zh-TW" sz="1800" kern="1200" dirty="0" err="1">
              <a:solidFill>
                <a:prstClr val="black"/>
              </a:solidFill>
              <a:latin typeface="Calibri" panose="020F0502020204030204"/>
              <a:ea typeface="新細明體" panose="02020500000000000000" pitchFamily="18" charset="-120"/>
              <a:cs typeface="+mn-cs"/>
            </a:rPr>
            <a:t>dcm</a:t>
          </a:r>
          <a:r>
            <a:rPr lang="en-US" altLang="zh-TW" sz="1800" kern="1200" dirty="0">
              <a:solidFill>
                <a:prstClr val="black"/>
              </a:solidFill>
              <a:latin typeface="Calibri" panose="020F0502020204030204"/>
              <a:ea typeface="新細明體" panose="02020500000000000000" pitchFamily="18" charset="-120"/>
              <a:cs typeface="+mn-cs"/>
            </a:rPr>
            <a:t>)</a:t>
          </a:r>
          <a:endParaRPr lang="zh-TW" altLang="en-US" sz="1800" kern="1200" dirty="0">
            <a:solidFill>
              <a:prstClr val="black"/>
            </a:solidFill>
            <a:latin typeface="Calibri" panose="020F0502020204030204"/>
            <a:ea typeface="新細明體" panose="02020500000000000000" pitchFamily="18" charset="-120"/>
            <a:cs typeface="+mn-cs"/>
          </a:endParaRPr>
        </a:p>
      </dsp:txBody>
      <dsp:txXfrm>
        <a:off x="289561" y="1915712"/>
        <a:ext cx="3812853" cy="278433"/>
      </dsp:txXfrm>
    </dsp:sp>
    <dsp:sp modelId="{B3CD83F5-7B98-4088-95D9-08EF81063ACE}">
      <dsp:nvSpPr>
        <dsp:cNvPr id="0" name=""/>
        <dsp:cNvSpPr/>
      </dsp:nvSpPr>
      <dsp:spPr>
        <a:xfrm>
          <a:off x="0" y="3386409"/>
          <a:ext cx="5489971" cy="113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6083" tIns="166624" rIns="426083" bIns="71120" numCol="1" spcCol="1270" anchor="t" anchorCtr="0">
          <a:noAutofit/>
        </a:bodyPr>
        <a:lstStyle/>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PIL/OpenCV </a:t>
          </a:r>
          <a:r>
            <a:rPr lang="zh-TW" altLang="en-US" sz="1000" kern="1200" dirty="0">
              <a:latin typeface="微軟正黑體" panose="020B0604030504040204" pitchFamily="34" charset="-120"/>
              <a:ea typeface="微軟正黑體" panose="020B0604030504040204" pitchFamily="34" charset="-120"/>
            </a:rPr>
            <a:t>讀取</a:t>
          </a:r>
        </a:p>
        <a:p>
          <a:pPr marL="57150" lvl="1" indent="-57150" algn="l" defTabSz="444500">
            <a:lnSpc>
              <a:spcPct val="90000"/>
            </a:lnSpc>
            <a:spcBef>
              <a:spcPct val="0"/>
            </a:spcBef>
            <a:spcAft>
              <a:spcPct val="15000"/>
            </a:spcAft>
            <a:buChar char="•"/>
          </a:pPr>
          <a:r>
            <a:rPr lang="zh-TW" altLang="en-US" sz="1000" kern="1200" dirty="0">
              <a:latin typeface="微軟正黑體" panose="020B0604030504040204" pitchFamily="34" charset="-120"/>
              <a:ea typeface="微軟正黑體" panose="020B0604030504040204" pitchFamily="34" charset="-120"/>
            </a:rPr>
            <a:t>├─</a:t>
          </a:r>
          <a:r>
            <a:rPr lang="en-US" altLang="zh-TW" sz="1000" kern="1200" dirty="0">
              <a:latin typeface="微軟正黑體" panose="020B0604030504040204" pitchFamily="34" charset="-120"/>
              <a:ea typeface="微軟正黑體" panose="020B0604030504040204" pitchFamily="34" charset="-120"/>
            </a:rPr>
            <a:t>&gt; Resize / Grayscale</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Intensity Normalization</a:t>
          </a:r>
        </a:p>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Data Augmentation → </a:t>
          </a:r>
          <a:r>
            <a:rPr lang="zh-TW" altLang="en-US" sz="1000" kern="1200" dirty="0">
              <a:latin typeface="微軟正黑體" panose="020B0604030504040204" pitchFamily="34" charset="-120"/>
              <a:ea typeface="微軟正黑體" panose="020B0604030504040204" pitchFamily="34" charset="-120"/>
            </a:rPr>
            <a:t>輸入 </a:t>
          </a:r>
          <a:r>
            <a:rPr lang="en-US" altLang="zh-TW" sz="1000" kern="1200" dirty="0">
              <a:latin typeface="微軟正黑體" panose="020B0604030504040204" pitchFamily="34" charset="-120"/>
              <a:ea typeface="微軟正黑體" panose="020B0604030504040204" pitchFamily="34" charset="-120"/>
            </a:rPr>
            <a:t>2D CNN</a:t>
          </a:r>
        </a:p>
      </dsp:txBody>
      <dsp:txXfrm>
        <a:off x="0" y="3386409"/>
        <a:ext cx="5489971" cy="1134000"/>
      </dsp:txXfrm>
    </dsp:sp>
    <dsp:sp modelId="{534A929F-A2AA-4520-9E7D-FA67DF07A971}">
      <dsp:nvSpPr>
        <dsp:cNvPr id="0" name=""/>
        <dsp:cNvSpPr/>
      </dsp:nvSpPr>
      <dsp:spPr>
        <a:xfrm>
          <a:off x="274498" y="3268329"/>
          <a:ext cx="3842979" cy="23616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5255" tIns="0" rIns="145255" bIns="0" numCol="1" spcCol="1270" anchor="ctr" anchorCtr="0">
          <a:noAutofit/>
        </a:bodyPr>
        <a:lstStyle/>
        <a:p>
          <a:pPr marL="0" lvl="0" indent="0" algn="l" defTabSz="800100">
            <a:lnSpc>
              <a:spcPct val="90000"/>
            </a:lnSpc>
            <a:spcBef>
              <a:spcPct val="0"/>
            </a:spcBef>
            <a:spcAft>
              <a:spcPct val="35000"/>
            </a:spcAft>
            <a:buNone/>
          </a:pPr>
          <a:r>
            <a:rPr lang="zh-TW" altLang="en-US" sz="1800" kern="1200" dirty="0">
              <a:solidFill>
                <a:prstClr val="black"/>
              </a:solidFill>
              <a:latin typeface="微軟正黑體" panose="020B0604030504040204" pitchFamily="34" charset="-120"/>
              <a:ea typeface="微軟正黑體" panose="020B0604030504040204" pitchFamily="34" charset="-120"/>
              <a:cs typeface="+mn-cs"/>
            </a:rPr>
            <a:t>一般圖片 </a:t>
          </a:r>
          <a:r>
            <a:rPr lang="en-US" altLang="zh-TW" sz="1800" kern="1200" dirty="0">
              <a:solidFill>
                <a:prstClr val="black"/>
              </a:solidFill>
              <a:latin typeface="Calibri" panose="020F0502020204030204"/>
              <a:ea typeface="新細明體" panose="02020500000000000000" pitchFamily="18" charset="-120"/>
              <a:cs typeface="+mn-cs"/>
            </a:rPr>
            <a:t>(.jpg/.</a:t>
          </a:r>
          <a:r>
            <a:rPr lang="en-US" altLang="zh-TW" sz="1800" kern="1200" dirty="0" err="1">
              <a:solidFill>
                <a:prstClr val="black"/>
              </a:solidFill>
              <a:latin typeface="Calibri" panose="020F0502020204030204"/>
              <a:ea typeface="新細明體" panose="02020500000000000000" pitchFamily="18" charset="-120"/>
              <a:cs typeface="+mn-cs"/>
            </a:rPr>
            <a:t>png</a:t>
          </a:r>
          <a:r>
            <a:rPr lang="en-US" altLang="zh-TW" sz="1800" kern="1200" dirty="0">
              <a:solidFill>
                <a:prstClr val="black"/>
              </a:solidFill>
              <a:latin typeface="Calibri" panose="020F0502020204030204"/>
              <a:ea typeface="新細明體" panose="02020500000000000000" pitchFamily="18" charset="-120"/>
              <a:cs typeface="+mn-cs"/>
            </a:rPr>
            <a:t>)</a:t>
          </a:r>
          <a:endParaRPr lang="zh-TW" altLang="en-US" sz="1800" kern="1200" dirty="0">
            <a:solidFill>
              <a:prstClr val="black"/>
            </a:solidFill>
            <a:latin typeface="Calibri" panose="020F0502020204030204"/>
            <a:ea typeface="新細明體" panose="02020500000000000000" pitchFamily="18" charset="-120"/>
            <a:cs typeface="+mn-cs"/>
          </a:endParaRPr>
        </a:p>
      </dsp:txBody>
      <dsp:txXfrm>
        <a:off x="286026" y="3279857"/>
        <a:ext cx="3819923" cy="213104"/>
      </dsp:txXfrm>
    </dsp:sp>
    <dsp:sp modelId="{B3BDBF1E-FC40-4EB1-9284-E62E427AC0BF}">
      <dsp:nvSpPr>
        <dsp:cNvPr id="0" name=""/>
        <dsp:cNvSpPr/>
      </dsp:nvSpPr>
      <dsp:spPr>
        <a:xfrm>
          <a:off x="0" y="4620837"/>
          <a:ext cx="5489971" cy="113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6083" tIns="166624" rIns="426083" bIns="71120" numCol="1" spcCol="1270" anchor="t" anchorCtr="0">
          <a:noAutofit/>
        </a:bodyPr>
        <a:lstStyle/>
        <a:p>
          <a:pPr marL="57150" lvl="1" indent="-57150" algn="l" defTabSz="444500">
            <a:lnSpc>
              <a:spcPct val="90000"/>
            </a:lnSpc>
            <a:spcBef>
              <a:spcPct val="0"/>
            </a:spcBef>
            <a:spcAft>
              <a:spcPct val="15000"/>
            </a:spcAft>
            <a:buChar char="•"/>
          </a:pPr>
          <a:r>
            <a:rPr lang="en-US" altLang="zh-TW" sz="1000" kern="1200" dirty="0">
              <a:latin typeface="微軟正黑體" panose="020B0604030504040204" pitchFamily="34" charset="-120"/>
              <a:ea typeface="微軟正黑體" panose="020B0604030504040204" pitchFamily="34" charset="-120"/>
            </a:rPr>
            <a:t>├─&gt; pandas </a:t>
          </a:r>
          <a:r>
            <a:rPr lang="zh-TW" altLang="en-US" sz="1000" kern="1200" dirty="0">
              <a:latin typeface="微軟正黑體" panose="020B0604030504040204" pitchFamily="34" charset="-120"/>
              <a:ea typeface="微軟正黑體" panose="020B0604030504040204" pitchFamily="34" charset="-120"/>
            </a:rPr>
            <a:t>讀取</a:t>
          </a:r>
        </a:p>
        <a:p>
          <a:pPr marL="57150" lvl="1" indent="-57150" algn="l" defTabSz="444500">
            <a:lnSpc>
              <a:spcPct val="90000"/>
            </a:lnSpc>
            <a:spcBef>
              <a:spcPct val="0"/>
            </a:spcBef>
            <a:spcAft>
              <a:spcPct val="15000"/>
            </a:spcAft>
            <a:buChar char="•"/>
          </a:pPr>
          <a:r>
            <a:rPr lang="zh-TW" altLang="en-US" sz="1000" kern="1200" dirty="0">
              <a:latin typeface="微軟正黑體" panose="020B0604030504040204" pitchFamily="34" charset="-120"/>
              <a:ea typeface="微軟正黑體" panose="020B0604030504040204" pitchFamily="34" charset="-120"/>
            </a:rPr>
            <a:t>├─</a:t>
          </a:r>
          <a:r>
            <a:rPr lang="en-US" altLang="zh-TW" sz="1000" kern="1200" dirty="0">
              <a:latin typeface="微軟正黑體" panose="020B0604030504040204" pitchFamily="34" charset="-120"/>
              <a:ea typeface="微軟正黑體" panose="020B0604030504040204" pitchFamily="34" charset="-120"/>
            </a:rPr>
            <a:t>&gt; </a:t>
          </a:r>
          <a:r>
            <a:rPr lang="zh-TW" altLang="en-US" sz="1000" kern="1200" dirty="0">
              <a:latin typeface="微軟正黑體" panose="020B0604030504040204" pitchFamily="34" charset="-120"/>
              <a:ea typeface="微軟正黑體" panose="020B0604030504040204" pitchFamily="34" charset="-120"/>
            </a:rPr>
            <a:t>缺值處理</a:t>
          </a:r>
        </a:p>
        <a:p>
          <a:pPr marL="57150" lvl="1" indent="-57150" algn="l" defTabSz="444500">
            <a:lnSpc>
              <a:spcPct val="90000"/>
            </a:lnSpc>
            <a:spcBef>
              <a:spcPct val="0"/>
            </a:spcBef>
            <a:spcAft>
              <a:spcPct val="15000"/>
            </a:spcAft>
            <a:buChar char="•"/>
          </a:pPr>
          <a:r>
            <a:rPr lang="zh-TW" altLang="en-US" sz="1000" kern="1200" dirty="0">
              <a:latin typeface="微軟正黑體" panose="020B0604030504040204" pitchFamily="34" charset="-120"/>
              <a:ea typeface="微軟正黑體" panose="020B0604030504040204" pitchFamily="34" charset="-120"/>
            </a:rPr>
            <a:t>├─</a:t>
          </a:r>
          <a:r>
            <a:rPr lang="en-US" altLang="zh-TW" sz="1000" kern="1200" dirty="0">
              <a:latin typeface="微軟正黑體" panose="020B0604030504040204" pitchFamily="34" charset="-120"/>
              <a:ea typeface="微軟正黑體" panose="020B0604030504040204" pitchFamily="34" charset="-120"/>
            </a:rPr>
            <a:t>&gt; </a:t>
          </a:r>
          <a:r>
            <a:rPr lang="zh-TW" altLang="en-US" sz="1000" kern="1200" dirty="0">
              <a:latin typeface="微軟正黑體" panose="020B0604030504040204" pitchFamily="34" charset="-120"/>
              <a:ea typeface="微軟正黑體" panose="020B0604030504040204" pitchFamily="34" charset="-120"/>
            </a:rPr>
            <a:t>標準化 </a:t>
          </a:r>
          <a:r>
            <a:rPr lang="en-US" altLang="zh-TW" sz="1000" kern="1200" dirty="0">
              <a:latin typeface="微軟正黑體" panose="020B0604030504040204" pitchFamily="34" charset="-120"/>
              <a:ea typeface="微軟正黑體" panose="020B0604030504040204" pitchFamily="34" charset="-120"/>
            </a:rPr>
            <a:t>/ </a:t>
          </a:r>
          <a:r>
            <a:rPr lang="zh-TW" altLang="en-US" sz="1000" kern="1200" dirty="0">
              <a:latin typeface="微軟正黑體" panose="020B0604030504040204" pitchFamily="34" charset="-120"/>
              <a:ea typeface="微軟正黑體" panose="020B0604030504040204" pitchFamily="34" charset="-120"/>
            </a:rPr>
            <a:t>類別編碼</a:t>
          </a:r>
        </a:p>
        <a:p>
          <a:pPr marL="57150" lvl="1" indent="-57150" algn="l" defTabSz="444500">
            <a:lnSpc>
              <a:spcPct val="90000"/>
            </a:lnSpc>
            <a:spcBef>
              <a:spcPct val="0"/>
            </a:spcBef>
            <a:spcAft>
              <a:spcPct val="15000"/>
            </a:spcAft>
            <a:buChar char="•"/>
          </a:pPr>
          <a:r>
            <a:rPr lang="zh-TW" altLang="en-US" sz="1000" kern="1200" dirty="0">
              <a:latin typeface="微軟正黑體" panose="020B0604030504040204" pitchFamily="34" charset="-120"/>
              <a:ea typeface="微軟正黑體" panose="020B0604030504040204" pitchFamily="34" charset="-120"/>
            </a:rPr>
            <a:t>└─</a:t>
          </a:r>
          <a:r>
            <a:rPr lang="en-US" altLang="zh-TW" sz="1000" kern="1200" dirty="0">
              <a:latin typeface="微軟正黑體" panose="020B0604030504040204" pitchFamily="34" charset="-120"/>
              <a:ea typeface="微軟正黑體" panose="020B0604030504040204" pitchFamily="34" charset="-120"/>
            </a:rPr>
            <a:t>&gt; </a:t>
          </a:r>
          <a:r>
            <a:rPr lang="zh-TW" altLang="en-US" sz="1000" kern="1200" dirty="0">
              <a:latin typeface="微軟正黑體" panose="020B0604030504040204" pitchFamily="34" charset="-120"/>
              <a:ea typeface="微軟正黑體" panose="020B0604030504040204" pitchFamily="34" charset="-120"/>
            </a:rPr>
            <a:t>輸入模型（可與影像特徵結合）</a:t>
          </a:r>
        </a:p>
      </dsp:txBody>
      <dsp:txXfrm>
        <a:off x="0" y="4620837"/>
        <a:ext cx="5489971" cy="1134000"/>
      </dsp:txXfrm>
    </dsp:sp>
    <dsp:sp modelId="{FC1AC79D-3BD0-42C4-BFAE-E80918275C57}">
      <dsp:nvSpPr>
        <dsp:cNvPr id="0" name=""/>
        <dsp:cNvSpPr/>
      </dsp:nvSpPr>
      <dsp:spPr>
        <a:xfrm>
          <a:off x="274498" y="4563609"/>
          <a:ext cx="3842979" cy="175308"/>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5255" tIns="0" rIns="145255" bIns="0" numCol="1" spcCol="1270" anchor="ctr" anchorCtr="0">
          <a:noAutofit/>
        </a:bodyPr>
        <a:lstStyle/>
        <a:p>
          <a:pPr marL="0" lvl="0" indent="0" algn="l" defTabSz="889000">
            <a:lnSpc>
              <a:spcPct val="90000"/>
            </a:lnSpc>
            <a:spcBef>
              <a:spcPct val="0"/>
            </a:spcBef>
            <a:spcAft>
              <a:spcPct val="35000"/>
            </a:spcAft>
            <a:buNone/>
          </a:pPr>
          <a:r>
            <a:rPr lang="en-US" altLang="zh-TW" sz="2000" kern="1200" dirty="0"/>
            <a:t>CSV (.csv)</a:t>
          </a:r>
          <a:endParaRPr lang="zh-TW" altLang="en-US" sz="2000" kern="1200" dirty="0"/>
        </a:p>
      </dsp:txBody>
      <dsp:txXfrm>
        <a:off x="283056" y="4572167"/>
        <a:ext cx="3825863" cy="15819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0B572E-CF79-4C4C-A82D-2C13A60E0D18}" type="datetimeFigureOut">
              <a:rPr lang="zh-TW" altLang="en-US" smtClean="0"/>
              <a:t>2026/7/3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304F7-8D10-485E-BC6D-5EF96811EFF4}" type="slidenum">
              <a:rPr lang="zh-TW" altLang="en-US" smtClean="0"/>
              <a:t>‹#›</a:t>
            </a:fld>
            <a:endParaRPr lang="zh-TW" altLang="en-US"/>
          </a:p>
        </p:txBody>
      </p:sp>
    </p:spTree>
    <p:extLst>
      <p:ext uri="{BB962C8B-B14F-4D97-AF65-F5344CB8AC3E}">
        <p14:creationId xmlns:p14="http://schemas.microsoft.com/office/powerpoint/2010/main" val="529744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AA09-46D9-0B92-5265-D84AB2D58C1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40EBEC0-8CE7-C2AA-EDAC-B8125EA5093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D353150-5058-363D-3CF0-49659D15CE12}"/>
              </a:ext>
            </a:extLst>
          </p:cNvPr>
          <p:cNvSpPr>
            <a:spLocks noGrp="1"/>
          </p:cNvSpPr>
          <p:nvPr>
            <p:ph type="body" idx="1"/>
          </p:nvPr>
        </p:nvSpPr>
        <p:spPr/>
        <p:txBody>
          <a:bodyPr/>
          <a:lstStyle/>
          <a:p>
            <a:r>
              <a:rPr lang="zh-TW" altLang="en-US" dirty="0"/>
              <a:t>動機與重要性</a:t>
            </a:r>
            <a:br>
              <a:rPr lang="en-US" altLang="zh-TW" dirty="0"/>
            </a:br>
            <a:r>
              <a:rPr lang="zh-TW" altLang="en-US" dirty="0"/>
              <a:t>腦瘤診斷需要診斷醫師耗時判讀，深度學習可輔助診斷，減少人力負擔</a:t>
            </a:r>
            <a:br>
              <a:rPr lang="en-US" altLang="zh-TW" dirty="0"/>
            </a:br>
            <a:r>
              <a:rPr lang="zh-TW" altLang="en-US" dirty="0"/>
              <a:t>醫學影像是</a:t>
            </a:r>
            <a:r>
              <a:rPr lang="en-US" altLang="zh-TW" dirty="0"/>
              <a:t>AI</a:t>
            </a:r>
            <a:r>
              <a:rPr lang="zh-TW" altLang="en-US" dirty="0"/>
              <a:t>熱門領域可延伸腦中風及阿茲海默症，在國際期刊跟醫學產業都是發展重點</a:t>
            </a:r>
          </a:p>
        </p:txBody>
      </p:sp>
      <p:sp>
        <p:nvSpPr>
          <p:cNvPr id="4" name="投影片編號版面配置區 3">
            <a:extLst>
              <a:ext uri="{FF2B5EF4-FFF2-40B4-BE49-F238E27FC236}">
                <a16:creationId xmlns:a16="http://schemas.microsoft.com/office/drawing/2014/main" id="{5DB5E296-1389-BD2F-4C33-671D512EA950}"/>
              </a:ext>
            </a:extLst>
          </p:cNvPr>
          <p:cNvSpPr>
            <a:spLocks noGrp="1"/>
          </p:cNvSpPr>
          <p:nvPr>
            <p:ph type="sldNum" sz="quarter" idx="10"/>
          </p:nvPr>
        </p:nvSpPr>
        <p:spPr/>
        <p:txBody>
          <a:bodyPr/>
          <a:lstStyle/>
          <a:p>
            <a:fld id="{6C4304F7-8D10-485E-BC6D-5EF96811EFF4}" type="slidenum">
              <a:rPr lang="zh-TW" altLang="en-US" smtClean="0"/>
              <a:t>2</a:t>
            </a:fld>
            <a:endParaRPr lang="zh-TW" altLang="en-US"/>
          </a:p>
        </p:txBody>
      </p:sp>
    </p:spTree>
    <p:extLst>
      <p:ext uri="{BB962C8B-B14F-4D97-AF65-F5344CB8AC3E}">
        <p14:creationId xmlns:p14="http://schemas.microsoft.com/office/powerpoint/2010/main" val="171166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6410-FB4A-6FD9-6175-B9F07434253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2938A69-1721-E50E-CB40-66D1EE0C892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D920F46-D384-64C8-7489-CDC484D89945}"/>
              </a:ext>
            </a:extLst>
          </p:cNvPr>
          <p:cNvSpPr>
            <a:spLocks noGrp="1"/>
          </p:cNvSpPr>
          <p:nvPr>
            <p:ph type="body" idx="1"/>
          </p:nvPr>
        </p:nvSpPr>
        <p:spPr/>
        <p:txBody>
          <a:bodyPr/>
          <a:lstStyle/>
          <a:p>
            <a:r>
              <a:rPr lang="zh-TW" altLang="en-US" dirty="0"/>
              <a:t>如何開始</a:t>
            </a:r>
            <a:endParaRPr lang="en-US" altLang="zh-TW" dirty="0"/>
          </a:p>
          <a:p>
            <a:r>
              <a:rPr lang="zh-TW" altLang="en-US" dirty="0"/>
              <a:t>先理解任務目標是做分類或是分割，在下載資料集，用</a:t>
            </a:r>
            <a:r>
              <a:rPr lang="en-US" altLang="zh-TW" dirty="0"/>
              <a:t>GITHUB</a:t>
            </a:r>
            <a:r>
              <a:rPr lang="zh-TW" altLang="en-US" dirty="0"/>
              <a:t>的</a:t>
            </a:r>
            <a:r>
              <a:rPr lang="en-US" altLang="zh-TW" dirty="0" err="1"/>
              <a:t>beseline</a:t>
            </a:r>
            <a:r>
              <a:rPr lang="en-US" altLang="zh-TW" dirty="0"/>
              <a:t> code </a:t>
            </a:r>
            <a:r>
              <a:rPr lang="zh-TW" altLang="en-US" dirty="0"/>
              <a:t>跑通一次，再慢慢調整前處理模型架構資料增強及超參數調整</a:t>
            </a:r>
          </a:p>
        </p:txBody>
      </p:sp>
      <p:sp>
        <p:nvSpPr>
          <p:cNvPr id="4" name="投影片編號版面配置區 3">
            <a:extLst>
              <a:ext uri="{FF2B5EF4-FFF2-40B4-BE49-F238E27FC236}">
                <a16:creationId xmlns:a16="http://schemas.microsoft.com/office/drawing/2014/main" id="{E5D2065A-B69A-6331-B482-FF2789034E20}"/>
              </a:ext>
            </a:extLst>
          </p:cNvPr>
          <p:cNvSpPr>
            <a:spLocks noGrp="1"/>
          </p:cNvSpPr>
          <p:nvPr>
            <p:ph type="sldNum" sz="quarter" idx="10"/>
          </p:nvPr>
        </p:nvSpPr>
        <p:spPr/>
        <p:txBody>
          <a:bodyPr/>
          <a:lstStyle/>
          <a:p>
            <a:fld id="{6C4304F7-8D10-485E-BC6D-5EF96811EFF4}" type="slidenum">
              <a:rPr lang="zh-TW" altLang="en-US" smtClean="0"/>
              <a:t>3</a:t>
            </a:fld>
            <a:endParaRPr lang="zh-TW" altLang="en-US"/>
          </a:p>
        </p:txBody>
      </p:sp>
    </p:spTree>
    <p:extLst>
      <p:ext uri="{BB962C8B-B14F-4D97-AF65-F5344CB8AC3E}">
        <p14:creationId xmlns:p14="http://schemas.microsoft.com/office/powerpoint/2010/main" val="1059597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0CD4D-519D-86ED-F93B-E7067169F72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7457529-2E06-F341-3EF7-2207A45D6E2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A020999-9512-592B-CD33-C19C4F8AF4DD}"/>
              </a:ext>
            </a:extLst>
          </p:cNvPr>
          <p:cNvSpPr>
            <a:spLocks noGrp="1"/>
          </p:cNvSpPr>
          <p:nvPr>
            <p:ph type="body" idx="1"/>
          </p:nvPr>
        </p:nvSpPr>
        <p:spPr/>
        <p:txBody>
          <a:bodyPr/>
          <a:lstStyle/>
          <a:p>
            <a:r>
              <a:rPr lang="zh-TW" altLang="en-US" dirty="0"/>
              <a:t>公開資料集</a:t>
            </a:r>
            <a:r>
              <a:rPr lang="en-US" altLang="zh-TW" dirty="0"/>
              <a:t>brats </a:t>
            </a:r>
            <a:r>
              <a:rPr lang="zh-TW" altLang="en-US" dirty="0"/>
              <a:t>集</a:t>
            </a:r>
            <a:r>
              <a:rPr lang="en-US" altLang="zh-TW" dirty="0" err="1"/>
              <a:t>tcia</a:t>
            </a:r>
            <a:r>
              <a:rPr lang="en-US" altLang="zh-TW" dirty="0"/>
              <a:t> </a:t>
            </a:r>
            <a:r>
              <a:rPr lang="zh-TW" altLang="en-US" dirty="0"/>
              <a:t>自有資料可跟醫院合作但較困難，這是腦瘤分類資料，種類數量及來源，劃分</a:t>
            </a:r>
            <a:r>
              <a:rPr lang="en-US" altLang="zh-TW" dirty="0"/>
              <a:t>train(</a:t>
            </a:r>
            <a:r>
              <a:rPr lang="zh-TW" altLang="en-US" dirty="0"/>
              <a:t>練習</a:t>
            </a:r>
            <a:r>
              <a:rPr lang="en-US" altLang="zh-TW" dirty="0"/>
              <a:t>) </a:t>
            </a:r>
            <a:r>
              <a:rPr lang="en-US" altLang="zh-TW" dirty="0" err="1"/>
              <a:t>val</a:t>
            </a:r>
            <a:r>
              <a:rPr lang="en-US" altLang="zh-TW" dirty="0"/>
              <a:t>(</a:t>
            </a:r>
            <a:r>
              <a:rPr lang="zh-TW" altLang="en-US" dirty="0"/>
              <a:t>小考</a:t>
            </a:r>
            <a:r>
              <a:rPr lang="en-US" altLang="zh-TW" dirty="0"/>
              <a:t>) test(</a:t>
            </a:r>
            <a:r>
              <a:rPr lang="zh-TW" altLang="en-US" dirty="0"/>
              <a:t>大考</a:t>
            </a:r>
            <a:r>
              <a:rPr lang="en-US" altLang="zh-TW" dirty="0"/>
              <a:t>) 6:2:2</a:t>
            </a:r>
            <a:endParaRPr lang="zh-TW" altLang="en-US" dirty="0"/>
          </a:p>
        </p:txBody>
      </p:sp>
      <p:sp>
        <p:nvSpPr>
          <p:cNvPr id="4" name="投影片編號版面配置區 3">
            <a:extLst>
              <a:ext uri="{FF2B5EF4-FFF2-40B4-BE49-F238E27FC236}">
                <a16:creationId xmlns:a16="http://schemas.microsoft.com/office/drawing/2014/main" id="{1F4938AF-5137-D1E8-3F06-4529636659DC}"/>
              </a:ext>
            </a:extLst>
          </p:cNvPr>
          <p:cNvSpPr>
            <a:spLocks noGrp="1"/>
          </p:cNvSpPr>
          <p:nvPr>
            <p:ph type="sldNum" sz="quarter" idx="10"/>
          </p:nvPr>
        </p:nvSpPr>
        <p:spPr/>
        <p:txBody>
          <a:bodyPr/>
          <a:lstStyle/>
          <a:p>
            <a:fld id="{6C4304F7-8D10-485E-BC6D-5EF96811EFF4}" type="slidenum">
              <a:rPr lang="zh-TW" altLang="en-US" smtClean="0"/>
              <a:t>4</a:t>
            </a:fld>
            <a:endParaRPr lang="zh-TW" altLang="en-US"/>
          </a:p>
        </p:txBody>
      </p:sp>
    </p:spTree>
    <p:extLst>
      <p:ext uri="{BB962C8B-B14F-4D97-AF65-F5344CB8AC3E}">
        <p14:creationId xmlns:p14="http://schemas.microsoft.com/office/powerpoint/2010/main" val="1896888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2FC04-4285-9EA0-3FBB-FD9C18C32BE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B0CABEA-871D-21D0-1B40-9093B1C9998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277603A-2A01-A885-F9B7-30A22137135C}"/>
              </a:ext>
            </a:extLst>
          </p:cNvPr>
          <p:cNvSpPr>
            <a:spLocks noGrp="1"/>
          </p:cNvSpPr>
          <p:nvPr>
            <p:ph type="body" idx="1"/>
          </p:nvPr>
        </p:nvSpPr>
        <p:spPr/>
        <p:txBody>
          <a:bodyPr/>
          <a:lstStyle/>
          <a:p>
            <a:r>
              <a:rPr lang="zh-TW" altLang="en-US" dirty="0"/>
              <a:t>從</a:t>
            </a:r>
            <a:r>
              <a:rPr lang="en-US" altLang="zh-TW" dirty="0" err="1"/>
              <a:t>github</a:t>
            </a:r>
            <a:r>
              <a:rPr lang="zh-TW" altLang="en-US" dirty="0"/>
              <a:t>載程式，每個資料集不同，需要讀檔前處理方式不同</a:t>
            </a:r>
            <a:r>
              <a:rPr lang="en-US" altLang="zh-TW" dirty="0" err="1"/>
              <a:t>mri</a:t>
            </a:r>
            <a:r>
              <a:rPr lang="en-US" altLang="zh-TW" dirty="0"/>
              <a:t> </a:t>
            </a:r>
            <a:r>
              <a:rPr lang="en-US" altLang="zh-TW" dirty="0" err="1"/>
              <a:t>nii</a:t>
            </a:r>
            <a:r>
              <a:rPr lang="en-US" altLang="zh-TW" dirty="0"/>
              <a:t> </a:t>
            </a:r>
            <a:r>
              <a:rPr lang="en-US" altLang="zh-TW" dirty="0" err="1"/>
              <a:t>dicom</a:t>
            </a:r>
            <a:r>
              <a:rPr lang="en-US" altLang="zh-TW" dirty="0"/>
              <a:t> </a:t>
            </a:r>
            <a:r>
              <a:rPr lang="zh-TW" altLang="en-US" dirty="0"/>
              <a:t>一般圖片 </a:t>
            </a:r>
            <a:r>
              <a:rPr lang="en-US" altLang="zh-TW" dirty="0"/>
              <a:t>csv ,</a:t>
            </a:r>
          </a:p>
          <a:p>
            <a:r>
              <a:rPr lang="zh-TW" altLang="en-US" dirty="0"/>
              <a:t>常見的圖片處理方式，前處理方式不同，</a:t>
            </a:r>
            <a:r>
              <a:rPr lang="en-US" altLang="zh-TW" dirty="0" err="1"/>
              <a:t>mri</a:t>
            </a:r>
            <a:r>
              <a:rPr lang="en-US" altLang="zh-TW" dirty="0"/>
              <a:t> </a:t>
            </a:r>
            <a:r>
              <a:rPr lang="zh-TW" altLang="en-US" dirty="0"/>
              <a:t>為下列前處理方式，</a:t>
            </a:r>
            <a:r>
              <a:rPr lang="en-US" altLang="zh-TW" dirty="0"/>
              <a:t>csv</a:t>
            </a:r>
            <a:r>
              <a:rPr lang="zh-TW" altLang="en-US" dirty="0"/>
              <a:t>也有處理方式</a:t>
            </a:r>
          </a:p>
        </p:txBody>
      </p:sp>
      <p:sp>
        <p:nvSpPr>
          <p:cNvPr id="4" name="投影片編號版面配置區 3">
            <a:extLst>
              <a:ext uri="{FF2B5EF4-FFF2-40B4-BE49-F238E27FC236}">
                <a16:creationId xmlns:a16="http://schemas.microsoft.com/office/drawing/2014/main" id="{B5915601-C064-A5B9-F710-4CD808DB1AD9}"/>
              </a:ext>
            </a:extLst>
          </p:cNvPr>
          <p:cNvSpPr>
            <a:spLocks noGrp="1"/>
          </p:cNvSpPr>
          <p:nvPr>
            <p:ph type="sldNum" sz="quarter" idx="10"/>
          </p:nvPr>
        </p:nvSpPr>
        <p:spPr/>
        <p:txBody>
          <a:bodyPr/>
          <a:lstStyle/>
          <a:p>
            <a:fld id="{6C4304F7-8D10-485E-BC6D-5EF96811EFF4}" type="slidenum">
              <a:rPr lang="zh-TW" altLang="en-US" smtClean="0"/>
              <a:t>5</a:t>
            </a:fld>
            <a:endParaRPr lang="zh-TW" altLang="en-US"/>
          </a:p>
        </p:txBody>
      </p:sp>
    </p:spTree>
    <p:extLst>
      <p:ext uri="{BB962C8B-B14F-4D97-AF65-F5344CB8AC3E}">
        <p14:creationId xmlns:p14="http://schemas.microsoft.com/office/powerpoint/2010/main" val="1212487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82C1D-7B18-6A0D-C5C8-85BE06A96DC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791AB6B-FED5-8D72-B7FF-3835FAE65EA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F4ABEAE-6ADE-457C-9AD5-36B39A234358}"/>
              </a:ext>
            </a:extLst>
          </p:cNvPr>
          <p:cNvSpPr>
            <a:spLocks noGrp="1"/>
          </p:cNvSpPr>
          <p:nvPr>
            <p:ph type="body" idx="1"/>
          </p:nvPr>
        </p:nvSpPr>
        <p:spPr/>
        <p:txBody>
          <a:bodyPr/>
          <a:lstStyle/>
          <a:p>
            <a:r>
              <a:rPr lang="zh-TW" altLang="en-US" dirty="0"/>
              <a:t>不是單純「拿程式跑」，而是理解背後的 </a:t>
            </a:r>
            <a:r>
              <a:rPr lang="en-US" altLang="zh-TW" dirty="0"/>
              <a:t>pipeline</a:t>
            </a:r>
            <a:r>
              <a:rPr lang="zh-TW" altLang="en-US" dirty="0"/>
              <a:t>，針對自己的資料，前處理方式，模型，分類及</a:t>
            </a:r>
            <a:r>
              <a:rPr lang="en-US" altLang="zh-TW" dirty="0"/>
              <a:t>performance</a:t>
            </a:r>
            <a:r>
              <a:rPr lang="zh-TW" altLang="en-US" dirty="0"/>
              <a:t>調整成目標架構圖。</a:t>
            </a:r>
          </a:p>
        </p:txBody>
      </p:sp>
      <p:sp>
        <p:nvSpPr>
          <p:cNvPr id="4" name="投影片編號版面配置區 3">
            <a:extLst>
              <a:ext uri="{FF2B5EF4-FFF2-40B4-BE49-F238E27FC236}">
                <a16:creationId xmlns:a16="http://schemas.microsoft.com/office/drawing/2014/main" id="{08EC23D7-CE5F-8EBB-F75B-12BB08F95249}"/>
              </a:ext>
            </a:extLst>
          </p:cNvPr>
          <p:cNvSpPr>
            <a:spLocks noGrp="1"/>
          </p:cNvSpPr>
          <p:nvPr>
            <p:ph type="sldNum" sz="quarter" idx="10"/>
          </p:nvPr>
        </p:nvSpPr>
        <p:spPr/>
        <p:txBody>
          <a:bodyPr/>
          <a:lstStyle/>
          <a:p>
            <a:fld id="{6C4304F7-8D10-485E-BC6D-5EF96811EFF4}" type="slidenum">
              <a:rPr lang="zh-TW" altLang="en-US" smtClean="0"/>
              <a:t>6</a:t>
            </a:fld>
            <a:endParaRPr lang="zh-TW" altLang="en-US"/>
          </a:p>
        </p:txBody>
      </p:sp>
    </p:spTree>
    <p:extLst>
      <p:ext uri="{BB962C8B-B14F-4D97-AF65-F5344CB8AC3E}">
        <p14:creationId xmlns:p14="http://schemas.microsoft.com/office/powerpoint/2010/main" val="2619934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1887-8CBB-CAC3-E3D6-DF2325DFF26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158868F-A1AE-7C50-F990-32BD83D840D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5F97EF7-E165-87CB-E63C-3F9DBE8F0E93}"/>
              </a:ext>
            </a:extLst>
          </p:cNvPr>
          <p:cNvSpPr>
            <a:spLocks noGrp="1"/>
          </p:cNvSpPr>
          <p:nvPr>
            <p:ph type="body" idx="1"/>
          </p:nvPr>
        </p:nvSpPr>
        <p:spPr/>
        <p:txBody>
          <a:bodyPr/>
          <a:lstStyle/>
          <a:p>
            <a:r>
              <a:rPr lang="zh-TW" altLang="en-US" dirty="0"/>
              <a:t>介紹常見的前處理分別有重取樣 偏移校正 去顱骨 </a:t>
            </a:r>
            <a:r>
              <a:rPr lang="en-US" altLang="zh-TW" dirty="0"/>
              <a:t>normalization </a:t>
            </a:r>
            <a:r>
              <a:rPr lang="zh-TW" altLang="en-US" dirty="0"/>
              <a:t>，目的是資料一致，模型才容易學到有效特徵</a:t>
            </a:r>
            <a:br>
              <a:rPr lang="en-US" altLang="zh-TW" dirty="0"/>
            </a:br>
            <a:r>
              <a:rPr lang="zh-TW" altLang="en-US" dirty="0"/>
              <a:t>路徑為學長留下來</a:t>
            </a:r>
            <a:r>
              <a:rPr lang="en-US" altLang="zh-TW" dirty="0"/>
              <a:t>2d 3d </a:t>
            </a:r>
            <a:r>
              <a:rPr lang="zh-TW" altLang="en-US" dirty="0"/>
              <a:t>程式碼</a:t>
            </a:r>
          </a:p>
        </p:txBody>
      </p:sp>
      <p:sp>
        <p:nvSpPr>
          <p:cNvPr id="4" name="投影片編號版面配置區 3">
            <a:extLst>
              <a:ext uri="{FF2B5EF4-FFF2-40B4-BE49-F238E27FC236}">
                <a16:creationId xmlns:a16="http://schemas.microsoft.com/office/drawing/2014/main" id="{65F184B4-9A9A-DA34-DE6A-5AB0923CA1E3}"/>
              </a:ext>
            </a:extLst>
          </p:cNvPr>
          <p:cNvSpPr>
            <a:spLocks noGrp="1"/>
          </p:cNvSpPr>
          <p:nvPr>
            <p:ph type="sldNum" sz="quarter" idx="10"/>
          </p:nvPr>
        </p:nvSpPr>
        <p:spPr/>
        <p:txBody>
          <a:bodyPr/>
          <a:lstStyle/>
          <a:p>
            <a:fld id="{6C4304F7-8D10-485E-BC6D-5EF96811EFF4}" type="slidenum">
              <a:rPr lang="zh-TW" altLang="en-US" smtClean="0"/>
              <a:t>7</a:t>
            </a:fld>
            <a:endParaRPr lang="zh-TW" altLang="en-US"/>
          </a:p>
        </p:txBody>
      </p:sp>
    </p:spTree>
    <p:extLst>
      <p:ext uri="{BB962C8B-B14F-4D97-AF65-F5344CB8AC3E}">
        <p14:creationId xmlns:p14="http://schemas.microsoft.com/office/powerpoint/2010/main" val="3288482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2980C-F23C-D398-A036-85620A7FF5C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FB7FFDF-FA1F-8F0E-EBC5-11A9946A961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39563C-9D47-D8CD-47C5-047A5A58A65E}"/>
              </a:ext>
            </a:extLst>
          </p:cNvPr>
          <p:cNvSpPr>
            <a:spLocks noGrp="1"/>
          </p:cNvSpPr>
          <p:nvPr>
            <p:ph type="body" idx="1"/>
          </p:nvPr>
        </p:nvSpPr>
        <p:spPr/>
        <p:txBody>
          <a:bodyPr/>
          <a:lstStyle/>
          <a:p>
            <a:r>
              <a:rPr lang="zh-TW" altLang="en-US" dirty="0"/>
              <a:t>介紹</a:t>
            </a:r>
            <a:r>
              <a:rPr lang="en-US" altLang="zh-TW" dirty="0" err="1"/>
              <a:t>cnn</a:t>
            </a:r>
            <a:r>
              <a:rPr lang="zh-TW" altLang="en-US" dirty="0"/>
              <a:t>架構，輸入層 負責接收原始數據，卷積層提取特徵偵測邊緣顏色紋理形狀以下為公式，下面這邊是影像經過卷積和運算出來的結果，經過</a:t>
            </a:r>
            <a:r>
              <a:rPr lang="en-US" altLang="zh-TW" dirty="0" err="1"/>
              <a:t>relu</a:t>
            </a:r>
            <a:r>
              <a:rPr lang="zh-TW" altLang="en-US" dirty="0"/>
              <a:t>將負值轉成</a:t>
            </a:r>
            <a:r>
              <a:rPr lang="en-US" altLang="zh-TW" dirty="0"/>
              <a:t>0</a:t>
            </a:r>
            <a:r>
              <a:rPr lang="zh-TW" altLang="en-US" dirty="0"/>
              <a:t>，持化層有最大池化及平均池化，功能為降低維度保留關鍵特徵，經由全連接層將前面特徵展平成一維陣列，用</a:t>
            </a:r>
            <a:r>
              <a:rPr lang="en-US" altLang="zh-TW" dirty="0" err="1"/>
              <a:t>softmax</a:t>
            </a:r>
            <a:r>
              <a:rPr lang="zh-TW" altLang="en-US" dirty="0"/>
              <a:t>做分類</a:t>
            </a:r>
          </a:p>
        </p:txBody>
      </p:sp>
      <p:sp>
        <p:nvSpPr>
          <p:cNvPr id="4" name="投影片編號版面配置區 3">
            <a:extLst>
              <a:ext uri="{FF2B5EF4-FFF2-40B4-BE49-F238E27FC236}">
                <a16:creationId xmlns:a16="http://schemas.microsoft.com/office/drawing/2014/main" id="{4021ABD4-F54C-26F6-7617-0808CEFD0529}"/>
              </a:ext>
            </a:extLst>
          </p:cNvPr>
          <p:cNvSpPr>
            <a:spLocks noGrp="1"/>
          </p:cNvSpPr>
          <p:nvPr>
            <p:ph type="sldNum" sz="quarter" idx="10"/>
          </p:nvPr>
        </p:nvSpPr>
        <p:spPr/>
        <p:txBody>
          <a:bodyPr/>
          <a:lstStyle/>
          <a:p>
            <a:fld id="{6C4304F7-8D10-485E-BC6D-5EF96811EFF4}" type="slidenum">
              <a:rPr lang="zh-TW" altLang="en-US" smtClean="0"/>
              <a:t>8</a:t>
            </a:fld>
            <a:endParaRPr lang="zh-TW" altLang="en-US"/>
          </a:p>
        </p:txBody>
      </p:sp>
    </p:spTree>
    <p:extLst>
      <p:ext uri="{BB962C8B-B14F-4D97-AF65-F5344CB8AC3E}">
        <p14:creationId xmlns:p14="http://schemas.microsoft.com/office/powerpoint/2010/main" val="543374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94F-4A77-A9B8-55FE-691628016EF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1AA5301-CF2C-AF87-C16C-BCA59D72F91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F61B437-6853-BD6D-E994-663F5DACF77D}"/>
              </a:ext>
            </a:extLst>
          </p:cNvPr>
          <p:cNvSpPr>
            <a:spLocks noGrp="1"/>
          </p:cNvSpPr>
          <p:nvPr>
            <p:ph type="body" idx="1"/>
          </p:nvPr>
        </p:nvSpPr>
        <p:spPr/>
        <p:txBody>
          <a:bodyPr/>
          <a:lstStyle/>
          <a:p>
            <a:r>
              <a:rPr lang="zh-TW" altLang="en-US" dirty="0"/>
              <a:t>介紹</a:t>
            </a:r>
            <a:r>
              <a:rPr lang="en-US" altLang="zh-TW" dirty="0" err="1"/>
              <a:t>cnn</a:t>
            </a:r>
            <a:r>
              <a:rPr lang="zh-TW" altLang="en-US" dirty="0"/>
              <a:t>種類，針對不同任務所使用模型也不同，這是</a:t>
            </a:r>
            <a:r>
              <a:rPr lang="en-US" altLang="zh-TW" dirty="0"/>
              <a:t>3d </a:t>
            </a:r>
            <a:r>
              <a:rPr lang="en-US" altLang="zh-TW" dirty="0" err="1"/>
              <a:t>resnet</a:t>
            </a:r>
            <a:r>
              <a:rPr lang="zh-TW" altLang="en-US" dirty="0"/>
              <a:t>特色是，捷徑連接，避免梯度消失，殘差學習，以下為應用於腦瘤分類實際模型，</a:t>
            </a:r>
            <a:r>
              <a:rPr lang="en-US" altLang="zh-TW" dirty="0"/>
              <a:t>resnet18</a:t>
            </a:r>
            <a:br>
              <a:rPr lang="en-US" altLang="zh-TW" dirty="0"/>
            </a:br>
            <a:r>
              <a:rPr lang="zh-TW" altLang="en-US" dirty="0"/>
              <a:t>以下為</a:t>
            </a:r>
            <a:r>
              <a:rPr lang="en-US" altLang="zh-TW" dirty="0"/>
              <a:t>18</a:t>
            </a:r>
            <a:r>
              <a:rPr lang="zh-TW" altLang="en-US" dirty="0"/>
              <a:t>的結構，層數的算法為</a:t>
            </a:r>
            <a:r>
              <a:rPr lang="en-US" altLang="zh-TW" dirty="0"/>
              <a:t>1</a:t>
            </a:r>
            <a:r>
              <a:rPr lang="zh-TW" altLang="en-US" dirty="0"/>
              <a:t>層，</a:t>
            </a:r>
            <a:r>
              <a:rPr lang="en-US" altLang="zh-TW" dirty="0"/>
              <a:t>layer1:4</a:t>
            </a:r>
            <a:r>
              <a:rPr lang="zh-TW" altLang="en-US" dirty="0"/>
              <a:t>層</a:t>
            </a:r>
            <a:r>
              <a:rPr lang="en-US" altLang="zh-TW" dirty="0"/>
              <a:t>, layer2:4</a:t>
            </a:r>
            <a:r>
              <a:rPr lang="zh-TW" altLang="en-US" dirty="0"/>
              <a:t>層</a:t>
            </a:r>
            <a:r>
              <a:rPr lang="en-US" altLang="zh-TW" dirty="0"/>
              <a:t>, layer3:4</a:t>
            </a:r>
            <a:r>
              <a:rPr lang="zh-TW" altLang="en-US" dirty="0"/>
              <a:t>層</a:t>
            </a:r>
            <a:r>
              <a:rPr lang="en-US" altLang="zh-TW" dirty="0"/>
              <a:t>, layer4:4</a:t>
            </a:r>
            <a:r>
              <a:rPr lang="zh-TW" altLang="en-US" dirty="0"/>
              <a:t>層</a:t>
            </a:r>
            <a:r>
              <a:rPr lang="en-US" altLang="zh-TW" dirty="0"/>
              <a:t>,+</a:t>
            </a:r>
            <a:r>
              <a:rPr lang="zh-TW" altLang="en-US" dirty="0"/>
              <a:t>全連接層</a:t>
            </a:r>
            <a:r>
              <a:rPr lang="en-US" altLang="zh-TW" dirty="0"/>
              <a:t>1</a:t>
            </a:r>
            <a:r>
              <a:rPr lang="zh-TW" altLang="en-US" dirty="0"/>
              <a:t>層共</a:t>
            </a:r>
            <a:r>
              <a:rPr lang="en-US" altLang="zh-TW" dirty="0"/>
              <a:t>18</a:t>
            </a:r>
            <a:r>
              <a:rPr lang="zh-TW" altLang="en-US" dirty="0"/>
              <a:t>層</a:t>
            </a:r>
          </a:p>
        </p:txBody>
      </p:sp>
      <p:sp>
        <p:nvSpPr>
          <p:cNvPr id="4" name="投影片編號版面配置區 3">
            <a:extLst>
              <a:ext uri="{FF2B5EF4-FFF2-40B4-BE49-F238E27FC236}">
                <a16:creationId xmlns:a16="http://schemas.microsoft.com/office/drawing/2014/main" id="{06CA0352-E08B-34E0-4CF8-48A91D3AD6F0}"/>
              </a:ext>
            </a:extLst>
          </p:cNvPr>
          <p:cNvSpPr>
            <a:spLocks noGrp="1"/>
          </p:cNvSpPr>
          <p:nvPr>
            <p:ph type="sldNum" sz="quarter" idx="10"/>
          </p:nvPr>
        </p:nvSpPr>
        <p:spPr/>
        <p:txBody>
          <a:bodyPr/>
          <a:lstStyle/>
          <a:p>
            <a:fld id="{6C4304F7-8D10-485E-BC6D-5EF96811EFF4}" type="slidenum">
              <a:rPr lang="zh-TW" altLang="en-US" smtClean="0"/>
              <a:t>9</a:t>
            </a:fld>
            <a:endParaRPr lang="zh-TW" altLang="en-US"/>
          </a:p>
        </p:txBody>
      </p:sp>
    </p:spTree>
    <p:extLst>
      <p:ext uri="{BB962C8B-B14F-4D97-AF65-F5344CB8AC3E}">
        <p14:creationId xmlns:p14="http://schemas.microsoft.com/office/powerpoint/2010/main" val="386226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279F-C88F-387B-8D39-3D2D62AB378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5501592-CCCD-78F4-E5A2-93040963B62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57539D9-D4E4-6876-56C8-84339E06F3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這是</a:t>
            </a:r>
            <a:r>
              <a:rPr lang="en-US" altLang="zh-TW" dirty="0" err="1"/>
              <a:t>densenet</a:t>
            </a:r>
            <a:r>
              <a:rPr lang="en-US" altLang="zh-TW" dirty="0"/>
              <a:t>,</a:t>
            </a:r>
            <a:r>
              <a:rPr lang="zh-TW" altLang="en-US" b="0" dirty="0"/>
              <a:t> 每層都接收前面所有層的輸出，強化特徵傳遞</a:t>
            </a:r>
            <a:r>
              <a:rPr lang="en-US" altLang="zh-TW" b="0" dirty="0"/>
              <a:t>,</a:t>
            </a:r>
            <a:r>
              <a:rPr lang="zh-TW" altLang="en-US" dirty="0"/>
              <a:t>特徵重用緩解梯度消失</a:t>
            </a:r>
            <a:r>
              <a:rPr lang="en-US" altLang="zh-TW" b="0" dirty="0"/>
              <a:t>,densenet121</a:t>
            </a:r>
            <a:r>
              <a:rPr lang="zh-TW" altLang="en-US" b="0" dirty="0"/>
              <a:t>結構，</a:t>
            </a:r>
            <a:r>
              <a:rPr lang="en-US" altLang="zh-TW" b="0" dirty="0"/>
              <a:t>1</a:t>
            </a:r>
            <a:r>
              <a:rPr lang="zh-TW" altLang="en-US" b="0" dirty="0"/>
              <a:t>層</a:t>
            </a:r>
            <a:r>
              <a:rPr lang="en-US" altLang="zh-TW" b="0" dirty="0"/>
              <a:t>+</a:t>
            </a:r>
            <a:r>
              <a:rPr lang="zh-TW" altLang="en-US" b="0" dirty="0"/>
              <a:t>卷積層的</a:t>
            </a:r>
            <a:r>
              <a:rPr lang="en-US" altLang="zh-TW" b="0" dirty="0"/>
              <a:t>12+24+48+32+</a:t>
            </a:r>
            <a:r>
              <a:rPr lang="zh-TW" altLang="en-US" b="0" dirty="0"/>
              <a:t>全連接層</a:t>
            </a:r>
            <a:r>
              <a:rPr lang="en-US" altLang="zh-TW" b="0" dirty="0"/>
              <a:t>1</a:t>
            </a:r>
            <a:r>
              <a:rPr lang="zh-TW" altLang="en-US" b="0" dirty="0"/>
              <a:t>層為</a:t>
            </a:r>
            <a:r>
              <a:rPr lang="en-US" altLang="zh-TW" b="0" dirty="0"/>
              <a:t>121</a:t>
            </a:r>
          </a:p>
          <a:p>
            <a:endParaRPr lang="zh-TW" altLang="en-US" dirty="0"/>
          </a:p>
        </p:txBody>
      </p:sp>
      <p:sp>
        <p:nvSpPr>
          <p:cNvPr id="4" name="投影片編號版面配置區 3">
            <a:extLst>
              <a:ext uri="{FF2B5EF4-FFF2-40B4-BE49-F238E27FC236}">
                <a16:creationId xmlns:a16="http://schemas.microsoft.com/office/drawing/2014/main" id="{C161C910-581A-5C1D-F048-EED619A00CF0}"/>
              </a:ext>
            </a:extLst>
          </p:cNvPr>
          <p:cNvSpPr>
            <a:spLocks noGrp="1"/>
          </p:cNvSpPr>
          <p:nvPr>
            <p:ph type="sldNum" sz="quarter" idx="10"/>
          </p:nvPr>
        </p:nvSpPr>
        <p:spPr/>
        <p:txBody>
          <a:bodyPr/>
          <a:lstStyle/>
          <a:p>
            <a:fld id="{6C4304F7-8D10-485E-BC6D-5EF96811EFF4}" type="slidenum">
              <a:rPr lang="zh-TW" altLang="en-US" smtClean="0"/>
              <a:t>10</a:t>
            </a:fld>
            <a:endParaRPr lang="zh-TW" altLang="en-US"/>
          </a:p>
        </p:txBody>
      </p:sp>
    </p:spTree>
    <p:extLst>
      <p:ext uri="{BB962C8B-B14F-4D97-AF65-F5344CB8AC3E}">
        <p14:creationId xmlns:p14="http://schemas.microsoft.com/office/powerpoint/2010/main" val="2486505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B1082-CB55-5B06-779B-591D2BBD14F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B6EB0B1-C215-0121-583E-0524E6A55B3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D713220-984B-B7C9-6BD8-929E255BB422}"/>
              </a:ext>
            </a:extLst>
          </p:cNvPr>
          <p:cNvSpPr>
            <a:spLocks noGrp="1"/>
          </p:cNvSpPr>
          <p:nvPr>
            <p:ph type="body" idx="1"/>
          </p:nvPr>
        </p:nvSpPr>
        <p:spPr/>
        <p:txBody>
          <a:bodyPr/>
          <a:lstStyle/>
          <a:p>
            <a:r>
              <a:rPr lang="zh-TW" altLang="en-US" dirty="0"/>
              <a:t>若要使用分類，可用</a:t>
            </a:r>
            <a:r>
              <a:rPr lang="en-US" altLang="zh-TW" dirty="0"/>
              <a:t>u-net</a:t>
            </a:r>
            <a:r>
              <a:rPr lang="zh-TW" altLang="en-US" dirty="0"/>
              <a:t>，實驗室有此模型，一樣在學長程式碼裡，扁碼解碼，跳躍連接，象素級輸出</a:t>
            </a:r>
          </a:p>
        </p:txBody>
      </p:sp>
      <p:sp>
        <p:nvSpPr>
          <p:cNvPr id="4" name="投影片編號版面配置區 3">
            <a:extLst>
              <a:ext uri="{FF2B5EF4-FFF2-40B4-BE49-F238E27FC236}">
                <a16:creationId xmlns:a16="http://schemas.microsoft.com/office/drawing/2014/main" id="{AC2F5973-7328-E8EF-4338-FAEC6229FA82}"/>
              </a:ext>
            </a:extLst>
          </p:cNvPr>
          <p:cNvSpPr>
            <a:spLocks noGrp="1"/>
          </p:cNvSpPr>
          <p:nvPr>
            <p:ph type="sldNum" sz="quarter" idx="10"/>
          </p:nvPr>
        </p:nvSpPr>
        <p:spPr/>
        <p:txBody>
          <a:bodyPr/>
          <a:lstStyle/>
          <a:p>
            <a:fld id="{6C4304F7-8D10-485E-BC6D-5EF96811EFF4}" type="slidenum">
              <a:rPr lang="zh-TW" altLang="en-US" smtClean="0"/>
              <a:t>11</a:t>
            </a:fld>
            <a:endParaRPr lang="zh-TW" altLang="en-US"/>
          </a:p>
        </p:txBody>
      </p:sp>
    </p:spTree>
    <p:extLst>
      <p:ext uri="{BB962C8B-B14F-4D97-AF65-F5344CB8AC3E}">
        <p14:creationId xmlns:p14="http://schemas.microsoft.com/office/powerpoint/2010/main" val="3180263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254CD-A412-249B-22E9-CBCEC75A72F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CC26ADF-242C-1C22-A618-DE7538183B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C1F5DE0-7021-9E7B-57BA-E8C0082B1A70}"/>
              </a:ext>
            </a:extLst>
          </p:cNvPr>
          <p:cNvSpPr>
            <a:spLocks noGrp="1"/>
          </p:cNvSpPr>
          <p:nvPr>
            <p:ph type="body" idx="1"/>
          </p:nvPr>
        </p:nvSpPr>
        <p:spPr/>
        <p:txBody>
          <a:bodyPr/>
          <a:lstStyle/>
          <a:p>
            <a:r>
              <a:rPr lang="zh-TW" altLang="en-US" dirty="0"/>
              <a:t>介紹若要做分類或回歸，之間差異，目標輸出層 </a:t>
            </a:r>
            <a:r>
              <a:rPr lang="en-US" altLang="zh-TW" dirty="0"/>
              <a:t>loss </a:t>
            </a:r>
            <a:r>
              <a:rPr lang="zh-TW" altLang="en-US" dirty="0"/>
              <a:t>評估指標 輸出結果 應用場景</a:t>
            </a:r>
          </a:p>
        </p:txBody>
      </p:sp>
      <p:sp>
        <p:nvSpPr>
          <p:cNvPr id="4" name="投影片編號版面配置區 3">
            <a:extLst>
              <a:ext uri="{FF2B5EF4-FFF2-40B4-BE49-F238E27FC236}">
                <a16:creationId xmlns:a16="http://schemas.microsoft.com/office/drawing/2014/main" id="{5B6665B1-6B44-75F3-7521-5BD9BED8A6A9}"/>
              </a:ext>
            </a:extLst>
          </p:cNvPr>
          <p:cNvSpPr>
            <a:spLocks noGrp="1"/>
          </p:cNvSpPr>
          <p:nvPr>
            <p:ph type="sldNum" sz="quarter" idx="10"/>
          </p:nvPr>
        </p:nvSpPr>
        <p:spPr/>
        <p:txBody>
          <a:bodyPr/>
          <a:lstStyle/>
          <a:p>
            <a:fld id="{6C4304F7-8D10-485E-BC6D-5EF96811EFF4}" type="slidenum">
              <a:rPr lang="zh-TW" altLang="en-US" smtClean="0"/>
              <a:t>12</a:t>
            </a:fld>
            <a:endParaRPr lang="zh-TW" altLang="en-US"/>
          </a:p>
        </p:txBody>
      </p:sp>
    </p:spTree>
    <p:extLst>
      <p:ext uri="{BB962C8B-B14F-4D97-AF65-F5344CB8AC3E}">
        <p14:creationId xmlns:p14="http://schemas.microsoft.com/office/powerpoint/2010/main" val="4053299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D27F-075D-5293-92CD-BAB0A225843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31E4785-7288-DEA0-BC7A-8B5F892FD15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37F2537-2EE5-535E-C6D4-0D6B37DC31E0}"/>
              </a:ext>
            </a:extLst>
          </p:cNvPr>
          <p:cNvSpPr>
            <a:spLocks noGrp="1"/>
          </p:cNvSpPr>
          <p:nvPr>
            <p:ph type="body" idx="1"/>
          </p:nvPr>
        </p:nvSpPr>
        <p:spPr/>
        <p:txBody>
          <a:bodyPr/>
          <a:lstStyle/>
          <a:p>
            <a:r>
              <a:rPr lang="zh-TW" altLang="en-US" dirty="0"/>
              <a:t>資料集丟入訓練</a:t>
            </a:r>
            <a:r>
              <a:rPr lang="en-US" altLang="zh-TW" dirty="0"/>
              <a:t>/</a:t>
            </a:r>
            <a:r>
              <a:rPr lang="zh-TW" altLang="en-US" dirty="0"/>
              <a:t>驗證後，</a:t>
            </a:r>
            <a:r>
              <a:rPr lang="en-US" altLang="zh-TW" dirty="0"/>
              <a:t>densenet121 resnet18 </a:t>
            </a:r>
            <a:r>
              <a:rPr lang="zh-TW" altLang="en-US" dirty="0"/>
              <a:t>跑出來的曲線，上面是</a:t>
            </a:r>
            <a:r>
              <a:rPr lang="en-US" altLang="zh-TW" dirty="0"/>
              <a:t>acc </a:t>
            </a:r>
            <a:r>
              <a:rPr lang="zh-TW" altLang="en-US" dirty="0"/>
              <a:t>下圖為損失，第一張圖為過擬和現象，因此做了資料增強改善過擬和狀況，雖改善但</a:t>
            </a:r>
            <a:r>
              <a:rPr lang="en-US" altLang="zh-TW" dirty="0"/>
              <a:t>acc</a:t>
            </a:r>
            <a:r>
              <a:rPr lang="zh-TW" altLang="en-US" dirty="0"/>
              <a:t>卻下降，因此加入非均勻平均降噪，提升</a:t>
            </a:r>
            <a:r>
              <a:rPr lang="en-US" altLang="zh-TW" dirty="0"/>
              <a:t>acc,</a:t>
            </a:r>
            <a:r>
              <a:rPr lang="zh-TW" altLang="en-US" dirty="0"/>
              <a:t>依序再加入結構型資料，進而改善整個流程</a:t>
            </a:r>
          </a:p>
        </p:txBody>
      </p:sp>
      <p:sp>
        <p:nvSpPr>
          <p:cNvPr id="4" name="投影片編號版面配置區 3">
            <a:extLst>
              <a:ext uri="{FF2B5EF4-FFF2-40B4-BE49-F238E27FC236}">
                <a16:creationId xmlns:a16="http://schemas.microsoft.com/office/drawing/2014/main" id="{2DE59BB2-A175-EDC8-3485-6D33E455A59C}"/>
              </a:ext>
            </a:extLst>
          </p:cNvPr>
          <p:cNvSpPr>
            <a:spLocks noGrp="1"/>
          </p:cNvSpPr>
          <p:nvPr>
            <p:ph type="sldNum" sz="quarter" idx="10"/>
          </p:nvPr>
        </p:nvSpPr>
        <p:spPr/>
        <p:txBody>
          <a:bodyPr/>
          <a:lstStyle/>
          <a:p>
            <a:fld id="{6C4304F7-8D10-485E-BC6D-5EF96811EFF4}" type="slidenum">
              <a:rPr lang="zh-TW" altLang="en-US" smtClean="0"/>
              <a:t>13</a:t>
            </a:fld>
            <a:endParaRPr lang="zh-TW" altLang="en-US"/>
          </a:p>
        </p:txBody>
      </p:sp>
    </p:spTree>
    <p:extLst>
      <p:ext uri="{BB962C8B-B14F-4D97-AF65-F5344CB8AC3E}">
        <p14:creationId xmlns:p14="http://schemas.microsoft.com/office/powerpoint/2010/main" val="2560214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803C-1F28-6C3B-B6B0-40B72B8C7C7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E1607BE-F38A-D635-D1EC-AA6702FF9BB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A80215-17E5-5A8E-217A-A4FC82BA341B}"/>
              </a:ext>
            </a:extLst>
          </p:cNvPr>
          <p:cNvSpPr>
            <a:spLocks noGrp="1"/>
          </p:cNvSpPr>
          <p:nvPr>
            <p:ph type="body" idx="1"/>
          </p:nvPr>
        </p:nvSpPr>
        <p:spPr/>
        <p:txBody>
          <a:bodyPr/>
          <a:lstStyle/>
          <a:p>
            <a:r>
              <a:rPr lang="zh-TW" altLang="en-US" dirty="0"/>
              <a:t>這是資料增強，空間轉換旋轉翻轉平移縮放，以及強度轉換，亮度及添加高斯噪聲，因為我使用的參數為預設值，可針對參數去做最佳化調整</a:t>
            </a:r>
          </a:p>
        </p:txBody>
      </p:sp>
      <p:sp>
        <p:nvSpPr>
          <p:cNvPr id="4" name="投影片編號版面配置區 3">
            <a:extLst>
              <a:ext uri="{FF2B5EF4-FFF2-40B4-BE49-F238E27FC236}">
                <a16:creationId xmlns:a16="http://schemas.microsoft.com/office/drawing/2014/main" id="{FEB4FF20-C144-A25B-B358-E24A53A12F9D}"/>
              </a:ext>
            </a:extLst>
          </p:cNvPr>
          <p:cNvSpPr>
            <a:spLocks noGrp="1"/>
          </p:cNvSpPr>
          <p:nvPr>
            <p:ph type="sldNum" sz="quarter" idx="10"/>
          </p:nvPr>
        </p:nvSpPr>
        <p:spPr/>
        <p:txBody>
          <a:bodyPr/>
          <a:lstStyle/>
          <a:p>
            <a:fld id="{6C4304F7-8D10-485E-BC6D-5EF96811EFF4}" type="slidenum">
              <a:rPr lang="zh-TW" altLang="en-US" smtClean="0"/>
              <a:t>14</a:t>
            </a:fld>
            <a:endParaRPr lang="zh-TW" altLang="en-US"/>
          </a:p>
        </p:txBody>
      </p:sp>
    </p:spTree>
    <p:extLst>
      <p:ext uri="{BB962C8B-B14F-4D97-AF65-F5344CB8AC3E}">
        <p14:creationId xmlns:p14="http://schemas.microsoft.com/office/powerpoint/2010/main" val="1144505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2610C-A846-3943-09B4-CB8C11D6F30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E7F2783-830B-EC1D-013E-D4075A06C39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46F2AD-A3C7-84E2-6AE1-122C7597CCA3}"/>
              </a:ext>
            </a:extLst>
          </p:cNvPr>
          <p:cNvSpPr>
            <a:spLocks noGrp="1"/>
          </p:cNvSpPr>
          <p:nvPr>
            <p:ph type="body" idx="1"/>
          </p:nvPr>
        </p:nvSpPr>
        <p:spPr/>
        <p:txBody>
          <a:bodyPr/>
          <a:lstStyle/>
          <a:p>
            <a:r>
              <a:rPr lang="zh-TW" altLang="en-US" dirty="0"/>
              <a:t>提到我有加非區域平均，</a:t>
            </a:r>
            <a:r>
              <a:rPr lang="en-US" altLang="zh-TW" sz="1200" dirty="0">
                <a:solidFill>
                  <a:srgbClr val="FF0000"/>
                </a:solidFill>
                <a:latin typeface="微軟正黑體" panose="020B0604030504040204" pitchFamily="34" charset="-120"/>
                <a:ea typeface="微軟正黑體" panose="020B0604030504040204" pitchFamily="34" charset="-120"/>
              </a:rPr>
              <a:t>NLM</a:t>
            </a:r>
            <a:r>
              <a:rPr lang="zh-TW" altLang="en-US" sz="1200" dirty="0">
                <a:solidFill>
                  <a:srgbClr val="FF0000"/>
                </a:solidFill>
                <a:latin typeface="微軟正黑體" panose="020B0604030504040204" pitchFamily="34" charset="-120"/>
                <a:ea typeface="微軟正黑體" panose="020B0604030504040204" pitchFamily="34" charset="-120"/>
              </a:rPr>
              <a:t>演算法不只考慮鄰近像素，而是比較整張影像中所有位置的小區塊（</a:t>
            </a:r>
            <a:r>
              <a:rPr lang="en-US" altLang="zh-TW" sz="1200" dirty="0">
                <a:solidFill>
                  <a:srgbClr val="FF0000"/>
                </a:solidFill>
                <a:latin typeface="微軟正黑體" panose="020B0604030504040204" pitchFamily="34" charset="-120"/>
                <a:ea typeface="微軟正黑體" panose="020B0604030504040204" pitchFamily="34" charset="-120"/>
              </a:rPr>
              <a:t>patch</a:t>
            </a:r>
            <a:r>
              <a:rPr lang="zh-TW" altLang="en-US" sz="1200" dirty="0">
                <a:solidFill>
                  <a:srgbClr val="FF0000"/>
                </a:solidFill>
                <a:latin typeface="微軟正黑體" panose="020B0604030504040204" pitchFamily="34" charset="-120"/>
                <a:ea typeface="微軟正黑體" panose="020B0604030504040204" pitchFamily="34" charset="-120"/>
              </a:rPr>
              <a:t>），尋找相似結構並進行加權平均</a:t>
            </a:r>
            <a:r>
              <a:rPr lang="zh-TW" altLang="en-US" sz="1200" dirty="0">
                <a:latin typeface="微軟正黑體" panose="020B0604030504040204" pitchFamily="34" charset="-120"/>
                <a:ea typeface="微軟正黑體" panose="020B0604030504040204" pitchFamily="34" charset="-120"/>
              </a:rPr>
              <a:t>，</a:t>
            </a:r>
            <a:r>
              <a:rPr lang="zh-TW" altLang="en-US" sz="1200" b="1" u="sng" dirty="0">
                <a:latin typeface="微軟正黑體" panose="020B0604030504040204" pitchFamily="34" charset="-120"/>
                <a:ea typeface="微軟正黑體" panose="020B0604030504040204" pitchFamily="34" charset="-120"/>
              </a:rPr>
              <a:t>以達到保留邊界細節、去除雜訊的目的。可看到下圖邊界細節明顯</a:t>
            </a:r>
            <a:endParaRPr lang="zh-TW" altLang="en-US" dirty="0"/>
          </a:p>
        </p:txBody>
      </p:sp>
      <p:sp>
        <p:nvSpPr>
          <p:cNvPr id="4" name="投影片編號版面配置區 3">
            <a:extLst>
              <a:ext uri="{FF2B5EF4-FFF2-40B4-BE49-F238E27FC236}">
                <a16:creationId xmlns:a16="http://schemas.microsoft.com/office/drawing/2014/main" id="{53D90208-B147-9224-572C-57033F2CF47A}"/>
              </a:ext>
            </a:extLst>
          </p:cNvPr>
          <p:cNvSpPr>
            <a:spLocks noGrp="1"/>
          </p:cNvSpPr>
          <p:nvPr>
            <p:ph type="sldNum" sz="quarter" idx="10"/>
          </p:nvPr>
        </p:nvSpPr>
        <p:spPr/>
        <p:txBody>
          <a:bodyPr/>
          <a:lstStyle/>
          <a:p>
            <a:fld id="{6C4304F7-8D10-485E-BC6D-5EF96811EFF4}" type="slidenum">
              <a:rPr lang="zh-TW" altLang="en-US" smtClean="0"/>
              <a:t>15</a:t>
            </a:fld>
            <a:endParaRPr lang="zh-TW" altLang="en-US"/>
          </a:p>
        </p:txBody>
      </p:sp>
    </p:spTree>
    <p:extLst>
      <p:ext uri="{BB962C8B-B14F-4D97-AF65-F5344CB8AC3E}">
        <p14:creationId xmlns:p14="http://schemas.microsoft.com/office/powerpoint/2010/main" val="866846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E0C27-B971-CA13-2D58-6AA06CC02D7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078E42B-554A-D9CE-CB9C-7B158887767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F4B9206-3E24-A1A2-2B1E-6C3162E9646B}"/>
              </a:ext>
            </a:extLst>
          </p:cNvPr>
          <p:cNvSpPr>
            <a:spLocks noGrp="1"/>
          </p:cNvSpPr>
          <p:nvPr>
            <p:ph type="body" idx="1"/>
          </p:nvPr>
        </p:nvSpPr>
        <p:spPr/>
        <p:txBody>
          <a:bodyPr/>
          <a:lstStyle/>
          <a:p>
            <a:r>
              <a:rPr lang="zh-TW" altLang="en-US" dirty="0"/>
              <a:t>混淆矩陣，實際跟預測，對角上都是預測正確，精確度評量預測正確比重，為</a:t>
            </a:r>
            <a:r>
              <a:rPr lang="en-US" altLang="zh-TW" dirty="0"/>
              <a:t>positive</a:t>
            </a:r>
            <a:r>
              <a:rPr lang="zh-TW" altLang="en-US" dirty="0"/>
              <a:t>分類中預測正確比重，召回率實際為真的樣本有多少是我們預測對的，</a:t>
            </a:r>
            <a:r>
              <a:rPr lang="en-US" altLang="zh-TW" dirty="0"/>
              <a:t>f1score</a:t>
            </a:r>
            <a:r>
              <a:rPr lang="zh-TW" altLang="en-US" dirty="0"/>
              <a:t>考慮兩個指標更好反映模型</a:t>
            </a:r>
          </a:p>
        </p:txBody>
      </p:sp>
      <p:sp>
        <p:nvSpPr>
          <p:cNvPr id="4" name="投影片編號版面配置區 3">
            <a:extLst>
              <a:ext uri="{FF2B5EF4-FFF2-40B4-BE49-F238E27FC236}">
                <a16:creationId xmlns:a16="http://schemas.microsoft.com/office/drawing/2014/main" id="{7750ACBB-D911-5B2E-5AC3-97CCE284BF99}"/>
              </a:ext>
            </a:extLst>
          </p:cNvPr>
          <p:cNvSpPr>
            <a:spLocks noGrp="1"/>
          </p:cNvSpPr>
          <p:nvPr>
            <p:ph type="sldNum" sz="quarter" idx="10"/>
          </p:nvPr>
        </p:nvSpPr>
        <p:spPr/>
        <p:txBody>
          <a:bodyPr/>
          <a:lstStyle/>
          <a:p>
            <a:fld id="{6C4304F7-8D10-485E-BC6D-5EF96811EFF4}" type="slidenum">
              <a:rPr lang="zh-TW" altLang="en-US" smtClean="0"/>
              <a:t>16</a:t>
            </a:fld>
            <a:endParaRPr lang="zh-TW" altLang="en-US"/>
          </a:p>
        </p:txBody>
      </p:sp>
    </p:spTree>
    <p:extLst>
      <p:ext uri="{BB962C8B-B14F-4D97-AF65-F5344CB8AC3E}">
        <p14:creationId xmlns:p14="http://schemas.microsoft.com/office/powerpoint/2010/main" val="2812220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62BF-3099-D5AF-28DC-68F2A28EB62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770AF6B-E69D-2866-3DF8-CA000A4F47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D45B9C1-688E-BF61-B32F-74396B9B4CF3}"/>
              </a:ext>
            </a:extLst>
          </p:cNvPr>
          <p:cNvSpPr>
            <a:spLocks noGrp="1"/>
          </p:cNvSpPr>
          <p:nvPr>
            <p:ph type="body" idx="1"/>
          </p:nvPr>
        </p:nvSpPr>
        <p:spPr/>
        <p:txBody>
          <a:bodyPr/>
          <a:lstStyle/>
          <a:p>
            <a:r>
              <a:rPr lang="zh-TW" altLang="en-US" dirty="0"/>
              <a:t>做測試完的混淆矩陣，對角線上為實際跟預測數字</a:t>
            </a:r>
          </a:p>
        </p:txBody>
      </p:sp>
      <p:sp>
        <p:nvSpPr>
          <p:cNvPr id="4" name="投影片編號版面配置區 3">
            <a:extLst>
              <a:ext uri="{FF2B5EF4-FFF2-40B4-BE49-F238E27FC236}">
                <a16:creationId xmlns:a16="http://schemas.microsoft.com/office/drawing/2014/main" id="{91D6A83E-A4CE-A36E-0E56-54276F40C504}"/>
              </a:ext>
            </a:extLst>
          </p:cNvPr>
          <p:cNvSpPr>
            <a:spLocks noGrp="1"/>
          </p:cNvSpPr>
          <p:nvPr>
            <p:ph type="sldNum" sz="quarter" idx="10"/>
          </p:nvPr>
        </p:nvSpPr>
        <p:spPr/>
        <p:txBody>
          <a:bodyPr/>
          <a:lstStyle/>
          <a:p>
            <a:fld id="{6C4304F7-8D10-485E-BC6D-5EF96811EFF4}" type="slidenum">
              <a:rPr lang="zh-TW" altLang="en-US" smtClean="0"/>
              <a:t>17</a:t>
            </a:fld>
            <a:endParaRPr lang="zh-TW" altLang="en-US"/>
          </a:p>
        </p:txBody>
      </p:sp>
    </p:spTree>
    <p:extLst>
      <p:ext uri="{BB962C8B-B14F-4D97-AF65-F5344CB8AC3E}">
        <p14:creationId xmlns:p14="http://schemas.microsoft.com/office/powerpoint/2010/main" val="3033047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25B2-0FD0-D492-C7CF-E32012AB628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B25EF26-A96A-2294-05F5-FC9A11CC3C6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D0F3CE9-3461-8FA7-890D-6B3368E8AC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將所有做過的演算法，指標放在一起比較，有看到做了變化後，數值的提升，</a:t>
            </a:r>
            <a:r>
              <a:rPr lang="zh-TW" altLang="en-US" b="1" dirty="0">
                <a:latin typeface="Microsoft JhengHei Light" panose="020B0304030504040204" pitchFamily="34" charset="-120"/>
                <a:ea typeface="Microsoft JhengHei Light" panose="020B0304030504040204" pitchFamily="34" charset="-120"/>
              </a:rPr>
              <a:t>結合非均勻濾波 </a:t>
            </a:r>
            <a:r>
              <a:rPr lang="en-US" altLang="zh-TW" b="1" dirty="0">
                <a:latin typeface="Microsoft JhengHei Light" panose="020B0304030504040204" pitchFamily="34" charset="-120"/>
                <a:ea typeface="Microsoft JhengHei Light" panose="020B0304030504040204" pitchFamily="34" charset="-120"/>
              </a:rPr>
              <a:t>+ </a:t>
            </a:r>
            <a:r>
              <a:rPr lang="zh-TW" altLang="en-US" b="1" dirty="0">
                <a:latin typeface="Microsoft JhengHei Light" panose="020B0304030504040204" pitchFamily="34" charset="-120"/>
                <a:ea typeface="Microsoft JhengHei Light" panose="020B0304030504040204" pitchFamily="34" charset="-120"/>
              </a:rPr>
              <a:t>結構化特徵（如 </a:t>
            </a:r>
            <a:r>
              <a:rPr lang="en-US" altLang="zh-TW" b="1" dirty="0">
                <a:latin typeface="Microsoft JhengHei Light" panose="020B0304030504040204" pitchFamily="34" charset="-120"/>
                <a:ea typeface="Microsoft JhengHei Light" panose="020B0304030504040204" pitchFamily="34" charset="-120"/>
              </a:rPr>
              <a:t>CSV</a:t>
            </a:r>
            <a:r>
              <a:rPr lang="zh-TW" altLang="en-US" b="1" dirty="0">
                <a:latin typeface="Microsoft JhengHei Light" panose="020B0304030504040204" pitchFamily="34" charset="-120"/>
                <a:ea typeface="Microsoft JhengHei Light" panose="020B0304030504040204" pitchFamily="34" charset="-120"/>
              </a:rPr>
              <a:t>） 是提升 </a:t>
            </a:r>
            <a:r>
              <a:rPr lang="en-US" altLang="zh-TW" b="1" dirty="0">
                <a:latin typeface="Microsoft JhengHei Light" panose="020B0304030504040204" pitchFamily="34" charset="-120"/>
                <a:ea typeface="Microsoft JhengHei Light" panose="020B0304030504040204" pitchFamily="34" charset="-120"/>
              </a:rPr>
              <a:t>3D </a:t>
            </a:r>
            <a:r>
              <a:rPr lang="zh-TW" altLang="en-US" b="1" dirty="0">
                <a:latin typeface="Microsoft JhengHei Light" panose="020B0304030504040204" pitchFamily="34" charset="-120"/>
                <a:ea typeface="Microsoft JhengHei Light" panose="020B0304030504040204" pitchFamily="34" charset="-120"/>
              </a:rPr>
              <a:t>模型分類效能的關鍵策略</a:t>
            </a:r>
            <a:endParaRPr lang="zh-TW" altLang="en-US" b="1" dirty="0"/>
          </a:p>
          <a:p>
            <a:endParaRPr lang="zh-TW" altLang="en-US" dirty="0"/>
          </a:p>
        </p:txBody>
      </p:sp>
      <p:sp>
        <p:nvSpPr>
          <p:cNvPr id="4" name="投影片編號版面配置區 3">
            <a:extLst>
              <a:ext uri="{FF2B5EF4-FFF2-40B4-BE49-F238E27FC236}">
                <a16:creationId xmlns:a16="http://schemas.microsoft.com/office/drawing/2014/main" id="{EFA3D4AE-8CB2-4CC2-1CF3-ACE2703291D3}"/>
              </a:ext>
            </a:extLst>
          </p:cNvPr>
          <p:cNvSpPr>
            <a:spLocks noGrp="1"/>
          </p:cNvSpPr>
          <p:nvPr>
            <p:ph type="sldNum" sz="quarter" idx="10"/>
          </p:nvPr>
        </p:nvSpPr>
        <p:spPr/>
        <p:txBody>
          <a:bodyPr/>
          <a:lstStyle/>
          <a:p>
            <a:fld id="{6C4304F7-8D10-485E-BC6D-5EF96811EFF4}" type="slidenum">
              <a:rPr lang="zh-TW" altLang="en-US" smtClean="0"/>
              <a:t>18</a:t>
            </a:fld>
            <a:endParaRPr lang="zh-TW" altLang="en-US"/>
          </a:p>
        </p:txBody>
      </p:sp>
    </p:spTree>
    <p:extLst>
      <p:ext uri="{BB962C8B-B14F-4D97-AF65-F5344CB8AC3E}">
        <p14:creationId xmlns:p14="http://schemas.microsoft.com/office/powerpoint/2010/main" val="209435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12FF-5F21-ABA9-B89B-8AC2283F1F6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B0A722E-DB0A-27E4-FB5B-D064BEF1E55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0BA4DAD-4036-7809-2097-1F99E392D62E}"/>
              </a:ext>
            </a:extLst>
          </p:cNvPr>
          <p:cNvSpPr>
            <a:spLocks noGrp="1"/>
          </p:cNvSpPr>
          <p:nvPr>
            <p:ph type="body" idx="1"/>
          </p:nvPr>
        </p:nvSpPr>
        <p:spPr/>
        <p:txBody>
          <a:bodyPr/>
          <a:lstStyle/>
          <a:p>
            <a:r>
              <a:rPr lang="en-US" altLang="zh-TW" dirty="0" err="1"/>
              <a:t>Futur</a:t>
            </a:r>
            <a:r>
              <a:rPr lang="en-US" altLang="zh-TW" dirty="0"/>
              <a:t> work,</a:t>
            </a:r>
            <a:r>
              <a:rPr lang="zh-TW" altLang="en-US" dirty="0"/>
              <a:t>雖然效果做出來很好，但能可針對一些地方去做改善及實驗，擴充臨床數據加入自監督減少標註需求對於模態缺失使用生成模型或注意力機制，</a:t>
            </a:r>
            <a:r>
              <a:rPr lang="en-US" altLang="zh-TW" dirty="0"/>
              <a:t>grad cam </a:t>
            </a:r>
            <a:r>
              <a:rPr lang="en-US" altLang="zh-TW" dirty="0" err="1"/>
              <a:t>shap</a:t>
            </a:r>
            <a:r>
              <a:rPr lang="en-US" altLang="zh-TW" dirty="0"/>
              <a:t> </a:t>
            </a:r>
            <a:r>
              <a:rPr lang="zh-TW" altLang="en-US" dirty="0"/>
              <a:t>增加臨床信任度</a:t>
            </a:r>
            <a:endParaRPr lang="en-US" altLang="zh-TW" dirty="0"/>
          </a:p>
        </p:txBody>
      </p:sp>
      <p:sp>
        <p:nvSpPr>
          <p:cNvPr id="4" name="投影片編號版面配置區 3">
            <a:extLst>
              <a:ext uri="{FF2B5EF4-FFF2-40B4-BE49-F238E27FC236}">
                <a16:creationId xmlns:a16="http://schemas.microsoft.com/office/drawing/2014/main" id="{58852AB2-090E-7714-4622-11A7E89E3AFC}"/>
              </a:ext>
            </a:extLst>
          </p:cNvPr>
          <p:cNvSpPr>
            <a:spLocks noGrp="1"/>
          </p:cNvSpPr>
          <p:nvPr>
            <p:ph type="sldNum" sz="quarter" idx="10"/>
          </p:nvPr>
        </p:nvSpPr>
        <p:spPr/>
        <p:txBody>
          <a:bodyPr/>
          <a:lstStyle/>
          <a:p>
            <a:fld id="{6C4304F7-8D10-485E-BC6D-5EF96811EFF4}" type="slidenum">
              <a:rPr lang="zh-TW" altLang="en-US" smtClean="0"/>
              <a:t>19</a:t>
            </a:fld>
            <a:endParaRPr lang="zh-TW" altLang="en-US"/>
          </a:p>
        </p:txBody>
      </p:sp>
    </p:spTree>
    <p:extLst>
      <p:ext uri="{BB962C8B-B14F-4D97-AF65-F5344CB8AC3E}">
        <p14:creationId xmlns:p14="http://schemas.microsoft.com/office/powerpoint/2010/main" val="4118833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AF147-D195-D3D4-80C3-548B914AEDD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4CBC4E3-82FB-BDF0-3EA1-2B7F1458B26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FC19BD-9EF5-6BE7-5B34-8D3D163D823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0F8B43C-4DF4-B80B-991F-EBC1183F76B5}"/>
              </a:ext>
            </a:extLst>
          </p:cNvPr>
          <p:cNvSpPr>
            <a:spLocks noGrp="1"/>
          </p:cNvSpPr>
          <p:nvPr>
            <p:ph type="sldNum" sz="quarter" idx="10"/>
          </p:nvPr>
        </p:nvSpPr>
        <p:spPr/>
        <p:txBody>
          <a:bodyPr/>
          <a:lstStyle/>
          <a:p>
            <a:fld id="{6C4304F7-8D10-485E-BC6D-5EF96811EFF4}" type="slidenum">
              <a:rPr lang="zh-TW" altLang="en-US" smtClean="0"/>
              <a:t>20</a:t>
            </a:fld>
            <a:endParaRPr lang="zh-TW" altLang="en-US"/>
          </a:p>
        </p:txBody>
      </p:sp>
    </p:spTree>
    <p:extLst>
      <p:ext uri="{BB962C8B-B14F-4D97-AF65-F5344CB8AC3E}">
        <p14:creationId xmlns:p14="http://schemas.microsoft.com/office/powerpoint/2010/main" val="59117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6ABDE-0304-5E7D-6CE2-901EE69BE33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9176B88-9EA7-269F-91ED-4F0E134F598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8FCCD7D-D644-217D-9E79-B4EB315E375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DD23256-69A0-7C8C-F124-6EB3AE509574}"/>
              </a:ext>
            </a:extLst>
          </p:cNvPr>
          <p:cNvSpPr>
            <a:spLocks noGrp="1"/>
          </p:cNvSpPr>
          <p:nvPr>
            <p:ph type="sldNum" sz="quarter" idx="10"/>
          </p:nvPr>
        </p:nvSpPr>
        <p:spPr/>
        <p:txBody>
          <a:bodyPr/>
          <a:lstStyle/>
          <a:p>
            <a:fld id="{6C4304F7-8D10-485E-BC6D-5EF96811EFF4}" type="slidenum">
              <a:rPr lang="zh-TW" altLang="en-US" smtClean="0"/>
              <a:t>21</a:t>
            </a:fld>
            <a:endParaRPr lang="zh-TW" altLang="en-US"/>
          </a:p>
        </p:txBody>
      </p:sp>
    </p:spTree>
    <p:extLst>
      <p:ext uri="{BB962C8B-B14F-4D97-AF65-F5344CB8AC3E}">
        <p14:creationId xmlns:p14="http://schemas.microsoft.com/office/powerpoint/2010/main" val="1347424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2026/7/3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43713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2026/7/3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1145879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bg>
      <p:bgPr>
        <a:blipFill dpi="0" rotWithShape="1">
          <a:blip r:embed="rId2" cstate="screen">
            <a:lum/>
            <a:extLst>
              <a:ext uri="{28A0092B-C50C-407E-A947-70E740481C1C}">
                <a14:useLocalDpi xmlns:a14="http://schemas.microsoft.com/office/drawing/2010/main"/>
              </a:ext>
            </a:extLst>
          </a:blip>
          <a:srcRect/>
          <a:stretch>
            <a:fillRect l="-10000" r="-10000"/>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2026/7/3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912546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8CD3F97-3AC4-43B4-8BBB-AD635F9A6FED}" type="datetimeFigureOut">
              <a:rPr lang="zh-TW" altLang="en-US" smtClean="0"/>
              <a:t>2026/7/3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C9F0A26-8658-45AC-9DD6-E8C49AF690F3}" type="slidenum">
              <a:rPr lang="zh-TW" altLang="en-US" smtClean="0"/>
              <a:t>‹#›</a:t>
            </a:fld>
            <a:endParaRPr lang="zh-TW" altLang="en-US"/>
          </a:p>
        </p:txBody>
      </p:sp>
      <p:sp>
        <p:nvSpPr>
          <p:cNvPr id="8" name="矩形 7"/>
          <p:cNvSpPr/>
          <p:nvPr/>
        </p:nvSpPr>
        <p:spPr>
          <a:xfrm>
            <a:off x="0" y="6724651"/>
            <a:ext cx="12192000" cy="133349"/>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Tree>
    <p:extLst>
      <p:ext uri="{BB962C8B-B14F-4D97-AF65-F5344CB8AC3E}">
        <p14:creationId xmlns:p14="http://schemas.microsoft.com/office/powerpoint/2010/main" val="24917077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D3F97-3AC4-43B4-8BBB-AD635F9A6FED}" type="datetimeFigureOut">
              <a:rPr lang="zh-TW" altLang="en-US" smtClean="0"/>
              <a:t>2026/7/3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939817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aryashah2k/brain-tumor-segmentation-brats-2019"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hyperlink" Target="file:///\\140.125.20.143\EL405%20share\datasets" TargetMode="External"/><Relationship Id="rId4" Type="http://schemas.openxmlformats.org/officeDocument/2006/relationships/hyperlink" Target="https://www.cancerimagingarchive.net/browse-collections/" TargetMode="Externa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tmp"/><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hyperlink" Target="file:///\\140.125.20.143\EL405%20share\&#23416;&#35578;&#33287;EL405&#30340;&#29986;&#29289;" TargetMode="External"/><Relationship Id="rId5" Type="http://schemas.openxmlformats.org/officeDocument/2006/relationships/image" Target="../media/image12.png"/><Relationship Id="rId10" Type="http://schemas.openxmlformats.org/officeDocument/2006/relationships/image" Target="../media/image17.jpeg"/><Relationship Id="rId4" Type="http://schemas.openxmlformats.org/officeDocument/2006/relationships/image" Target="../media/image11.png"/><Relationship Id="rId9"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tmp"/><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0.tmp"/><Relationship Id="rId5" Type="http://schemas.openxmlformats.org/officeDocument/2006/relationships/image" Target="../media/image19.tmp"/><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medium.com/image-processing-and-ml-note/densenet-dense-convolutional-network-image-classification-5de397286c05"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4.jpe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46.png"/><Relationship Id="rId4" Type="http://schemas.openxmlformats.org/officeDocument/2006/relationships/hyperlink" Target="https://medium.com/image-processing-and-ml-note/densenet-dense-convolutional-network-image-classification-5de397286c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
          <p:cNvSpPr txBox="1"/>
          <p:nvPr/>
        </p:nvSpPr>
        <p:spPr>
          <a:xfrm>
            <a:off x="2327743" y="716692"/>
            <a:ext cx="7536513" cy="830960"/>
          </a:xfrm>
          <a:prstGeom prst="rect">
            <a:avLst/>
          </a:prstGeom>
          <a:noFill/>
          <a:effectLst/>
        </p:spPr>
        <p:txBody>
          <a:bodyPr wrap="square" lIns="91403" tIns="45702" rIns="91403" bIns="45702">
            <a:spAutoFit/>
          </a:bodyPr>
          <a:lstStyle/>
          <a:p>
            <a:pPr algn="ctr" defTabSz="913996" fontAlgn="auto">
              <a:spcBef>
                <a:spcPts val="0"/>
              </a:spcBef>
              <a:spcAft>
                <a:spcPts val="0"/>
              </a:spcAft>
              <a:defRPr/>
            </a:pPr>
            <a:r>
              <a:rPr lang="en-US" altLang="zh-TW" sz="4800" b="1" dirty="0">
                <a:ln w="19050">
                  <a:noFill/>
                </a:ln>
                <a:solidFill>
                  <a:schemeClr val="accent4"/>
                </a:solidFill>
                <a:latin typeface="微软雅黑" panose="020B0503020204020204" pitchFamily="34" charset="-122"/>
                <a:ea typeface="微软雅黑" panose="020B0503020204020204" pitchFamily="34" charset="-122"/>
              </a:rPr>
              <a:t>M</a:t>
            </a:r>
            <a:r>
              <a:rPr lang="en-US" altLang="zh-TW" sz="4800" b="1" dirty="0">
                <a:ln w="19050">
                  <a:noFill/>
                </a:ln>
                <a:solidFill>
                  <a:srgbClr val="44ADCB"/>
                </a:solidFill>
                <a:latin typeface="微软雅黑" panose="020B0503020204020204" pitchFamily="34" charset="-122"/>
                <a:ea typeface="微软雅黑" panose="020B0503020204020204" pitchFamily="34" charset="-122"/>
              </a:rPr>
              <a:t>ediaCore Lab</a:t>
            </a:r>
          </a:p>
        </p:txBody>
      </p:sp>
      <p:sp>
        <p:nvSpPr>
          <p:cNvPr id="2" name="TextBox 3">
            <a:extLst>
              <a:ext uri="{FF2B5EF4-FFF2-40B4-BE49-F238E27FC236}">
                <a16:creationId xmlns:a16="http://schemas.microsoft.com/office/drawing/2014/main" id="{D59B92E0-9576-D533-5BE2-81ECF2C4FB7B}"/>
              </a:ext>
            </a:extLst>
          </p:cNvPr>
          <p:cNvSpPr txBox="1"/>
          <p:nvPr/>
        </p:nvSpPr>
        <p:spPr>
          <a:xfrm>
            <a:off x="2399304" y="4136871"/>
            <a:ext cx="7536513" cy="1323403"/>
          </a:xfrm>
          <a:prstGeom prst="rect">
            <a:avLst/>
          </a:prstGeom>
          <a:noFill/>
          <a:effectLst/>
        </p:spPr>
        <p:txBody>
          <a:bodyPr wrap="square" lIns="91403" tIns="45702" rIns="91403" bIns="45702">
            <a:spAutoFit/>
          </a:bodyPr>
          <a:lstStyle/>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Department of Electrical Engineering</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National Yunlin University of Science and Technology</a:t>
            </a:r>
          </a:p>
          <a:p>
            <a:pPr algn="ctr" defTabSz="913996" fontAlgn="auto">
              <a:spcBef>
                <a:spcPts val="0"/>
              </a:spcBef>
              <a:spcAft>
                <a:spcPts val="0"/>
              </a:spcAft>
              <a:defRPr/>
            </a:pPr>
            <a:endPar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TextBox 3"/>
          <p:cNvSpPr txBox="1"/>
          <p:nvPr/>
        </p:nvSpPr>
        <p:spPr>
          <a:xfrm>
            <a:off x="2327742" y="2091222"/>
            <a:ext cx="7536513" cy="646294"/>
          </a:xfrm>
          <a:prstGeom prst="rect">
            <a:avLst/>
          </a:prstGeom>
          <a:noFill/>
          <a:effectLst/>
        </p:spPr>
        <p:txBody>
          <a:bodyPr wrap="square" lIns="91403" tIns="45702" rIns="91403" bIns="45702">
            <a:spAutoFit/>
          </a:bodyPr>
          <a:lstStyle/>
          <a:p>
            <a:pPr algn="ctr" defTabSz="913996" fontAlgn="auto">
              <a:spcBef>
                <a:spcPts val="0"/>
              </a:spcBef>
              <a:spcAft>
                <a:spcPts val="0"/>
              </a:spcAft>
              <a:defRPr/>
            </a:pPr>
            <a:r>
              <a:rPr lang="en-US" altLang="zh-TW" sz="3600" b="1" dirty="0">
                <a:ln w="19050">
                  <a:noFill/>
                </a:ln>
                <a:solidFill>
                  <a:srgbClr val="3FABC9"/>
                </a:solidFill>
                <a:latin typeface="微软雅黑" panose="020B0503020204020204" pitchFamily="34" charset="-122"/>
                <a:ea typeface="微软雅黑" panose="020B0503020204020204" pitchFamily="34" charset="-122"/>
              </a:rPr>
              <a:t>Progress Report</a:t>
            </a:r>
          </a:p>
        </p:txBody>
      </p:sp>
      <p:sp>
        <p:nvSpPr>
          <p:cNvPr id="3" name="文字方塊 2">
            <a:extLst>
              <a:ext uri="{FF2B5EF4-FFF2-40B4-BE49-F238E27FC236}">
                <a16:creationId xmlns:a16="http://schemas.microsoft.com/office/drawing/2014/main" id="{D2D69B5B-BC7E-7A11-5206-B9B9CEEED0D2}"/>
              </a:ext>
            </a:extLst>
          </p:cNvPr>
          <p:cNvSpPr txBox="1"/>
          <p:nvPr/>
        </p:nvSpPr>
        <p:spPr>
          <a:xfrm>
            <a:off x="4667794" y="5460274"/>
            <a:ext cx="3326675" cy="646331"/>
          </a:xfrm>
          <a:prstGeom prst="rect">
            <a:avLst/>
          </a:prstGeom>
          <a:noFill/>
        </p:spPr>
        <p:txBody>
          <a:bodyPr wrap="square" rtlCol="0">
            <a:spAutoFit/>
          </a:bodyPr>
          <a:lstStyle/>
          <a:p>
            <a:pPr algn="ctr"/>
            <a:r>
              <a:rPr lang="zh-TW" altLang="en-US" dirty="0"/>
              <a:t>鄭鈺蕎</a:t>
            </a:r>
            <a:endParaRPr lang="en-US" altLang="zh-TW" dirty="0"/>
          </a:p>
          <a:p>
            <a:pPr algn="ctr"/>
            <a:r>
              <a:rPr lang="en-US" altLang="zh-TW" dirty="0"/>
              <a:t>2025.09.16</a:t>
            </a:r>
          </a:p>
        </p:txBody>
      </p:sp>
      <p:sp>
        <p:nvSpPr>
          <p:cNvPr id="6" name="文字方塊 5">
            <a:extLst>
              <a:ext uri="{FF2B5EF4-FFF2-40B4-BE49-F238E27FC236}">
                <a16:creationId xmlns:a16="http://schemas.microsoft.com/office/drawing/2014/main" id="{7D3C81D6-E30E-789C-CCCE-675BCA87B07A}"/>
              </a:ext>
            </a:extLst>
          </p:cNvPr>
          <p:cNvSpPr txBox="1"/>
          <p:nvPr/>
        </p:nvSpPr>
        <p:spPr>
          <a:xfrm>
            <a:off x="4524470" y="3281086"/>
            <a:ext cx="3143815" cy="369332"/>
          </a:xfrm>
          <a:prstGeom prst="rect">
            <a:avLst/>
          </a:prstGeom>
          <a:noFill/>
        </p:spPr>
        <p:txBody>
          <a:bodyPr wrap="square">
            <a:spAutoFit/>
          </a:bodyPr>
          <a:lstStyle/>
          <a:p>
            <a:r>
              <a:rPr lang="zh-TW" altLang="en-US" dirty="0"/>
              <a:t>腦瘤 </a:t>
            </a:r>
            <a:r>
              <a:rPr lang="en-US" altLang="zh-TW" dirty="0"/>
              <a:t>MRI </a:t>
            </a:r>
            <a:r>
              <a:rPr lang="zh-TW" altLang="en-US" dirty="0"/>
              <a:t>影像深度學習研究</a:t>
            </a:r>
          </a:p>
        </p:txBody>
      </p:sp>
    </p:spTree>
    <p:extLst>
      <p:ext uri="{BB962C8B-B14F-4D97-AF65-F5344CB8AC3E}">
        <p14:creationId xmlns:p14="http://schemas.microsoft.com/office/powerpoint/2010/main" val="2827891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4409-BBB1-B21F-52AC-2B789339BD0B}"/>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4C5877E0-9CB1-3CE0-2E91-4261AD57D233}"/>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44999CC4-A5D0-BFE0-D8F8-5D4F04C68373}"/>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0155D411-39E5-04E6-BBE9-BACD187095CA}"/>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ED00FE4A-A716-3812-C5B9-BCFA537E05A8}"/>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571431F2-0DBD-1FD2-A24F-474154F688D4}"/>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3B8EE818-B763-9FAC-84D1-696BAA2DE2CD}"/>
              </a:ext>
            </a:extLst>
          </p:cNvPr>
          <p:cNvCxnSpPr>
            <a:cxnSpLocks/>
          </p:cNvCxnSpPr>
          <p:nvPr/>
        </p:nvCxnSpPr>
        <p:spPr>
          <a:xfrm flipH="1">
            <a:off x="3675378" y="641363"/>
            <a:ext cx="8231316" cy="8443"/>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BD9F11AC-1318-BBC4-EA4C-16EFF744217A}"/>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46F46423-CCFB-E443-2DD4-1278F22B8E72}"/>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a:t>
            </a:fld>
            <a:endParaRPr lang="en-US" altLang="zh-CN" sz="1400" dirty="0">
              <a:solidFill>
                <a:schemeClr val="bg1"/>
              </a:solidFill>
              <a:latin typeface="微软雅黑" pitchFamily="34" charset="-122"/>
              <a:ea typeface="微软雅黑" pitchFamily="34" charset="-122"/>
            </a:endParaRPr>
          </a:p>
        </p:txBody>
      </p:sp>
      <p:sp>
        <p:nvSpPr>
          <p:cNvPr id="6" name="文字方塊 5">
            <a:extLst>
              <a:ext uri="{FF2B5EF4-FFF2-40B4-BE49-F238E27FC236}">
                <a16:creationId xmlns:a16="http://schemas.microsoft.com/office/drawing/2014/main" id="{77434F68-C31F-2031-65FD-5BDCCB401DCD}"/>
              </a:ext>
            </a:extLst>
          </p:cNvPr>
          <p:cNvSpPr txBox="1"/>
          <p:nvPr/>
        </p:nvSpPr>
        <p:spPr>
          <a:xfrm>
            <a:off x="1248902" y="300038"/>
            <a:ext cx="2578362" cy="615553"/>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動機與重要性</a:t>
            </a:r>
            <a:endParaRPr lang="en-US" altLang="zh-TW" sz="2000" b="1" dirty="0">
              <a:latin typeface="微軟正黑體" panose="020B0604030504040204" pitchFamily="34" charset="-120"/>
              <a:ea typeface="微軟正黑體" panose="020B0604030504040204" pitchFamily="34" charset="-120"/>
            </a:endParaRPr>
          </a:p>
          <a:p>
            <a:r>
              <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rPr>
              <a:t>Motivation and Importance</a:t>
            </a:r>
            <a:endParaRPr lang="zh-TW" altLang="en-US" sz="14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4" name="Rectangle 1">
            <a:extLst>
              <a:ext uri="{FF2B5EF4-FFF2-40B4-BE49-F238E27FC236}">
                <a16:creationId xmlns:a16="http://schemas.microsoft.com/office/drawing/2014/main" id="{7BFCFD76-C6E0-260B-7AFE-A583BB8B591D}"/>
              </a:ext>
            </a:extLst>
          </p:cNvPr>
          <p:cNvSpPr>
            <a:spLocks noChangeArrowheads="1"/>
          </p:cNvSpPr>
          <p:nvPr/>
        </p:nvSpPr>
        <p:spPr bwMode="auto">
          <a:xfrm>
            <a:off x="3386413" y="1717184"/>
            <a:ext cx="852028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臨床意義</a:t>
            </a:r>
            <a:endParaRPr lang="en-US" altLang="zh-TW" sz="2400" dirty="0">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 </a:t>
            </a:r>
            <a:r>
              <a:rPr kumimoji="0" lang="zh-TW"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腦瘤診斷需要放射科醫師耗時判讀，深度學習可輔助診斷、減少人力負擔</a:t>
            </a:r>
            <a:endParaRPr kumimoji="0" lang="en-US"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zh-TW" sz="14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endParaRPr kumimoji="0" lang="zh-TW" altLang="zh-TW" sz="14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研究價值</a:t>
            </a:r>
            <a:endParaRPr lang="en-US" altLang="zh-TW" sz="2400" dirty="0">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醫學影像是 AI 熱門領域，未來可以延伸到腦中風、阿茲海默症等</a:t>
            </a:r>
            <a:endParaRPr kumimoji="0" lang="en-US"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endParaRPr kumimoji="0" lang="zh-TW"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趨勢</a:t>
            </a:r>
            <a:endParaRPr lang="en-US" altLang="zh-TW" sz="2400" dirty="0">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20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醫療 AI（尤其影像）在國際期刊跟醫療產業中都是發展重點</a:t>
            </a:r>
          </a:p>
        </p:txBody>
      </p:sp>
      <p:pic>
        <p:nvPicPr>
          <p:cNvPr id="17" name="圖片 16" descr="一張含有 文字, 字型, 螢幕擷取畫面, 標誌 的圖片&#10;&#10;AI 產生的內容可能不正確。">
            <a:extLst>
              <a:ext uri="{FF2B5EF4-FFF2-40B4-BE49-F238E27FC236}">
                <a16:creationId xmlns:a16="http://schemas.microsoft.com/office/drawing/2014/main" id="{53605D0D-8B53-DAE5-5EA1-D9707D5DA3A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80316" y="1500133"/>
            <a:ext cx="2806097" cy="3542647"/>
          </a:xfrm>
          <a:prstGeom prst="rect">
            <a:avLst/>
          </a:prstGeom>
        </p:spPr>
      </p:pic>
    </p:spTree>
    <p:extLst>
      <p:ext uri="{BB962C8B-B14F-4D97-AF65-F5344CB8AC3E}">
        <p14:creationId xmlns:p14="http://schemas.microsoft.com/office/powerpoint/2010/main" val="7646733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E4D17-8DEE-24A2-1BB4-DD32C5418BC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30081946-01F0-92C3-2146-19E5546B5878}"/>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801E0406-C0FB-59F0-512E-9F1EB8AB9294}"/>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9D2AC5FB-2E83-5D44-FC41-C5004D10C7E0}"/>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0AC09EC7-D3F2-0AB5-07CB-1E39AF478AC8}"/>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51D855E7-817C-C0D1-D542-F6E4BD1B2542}"/>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7620E10F-D032-4798-6F37-D3A95FB91F82}"/>
              </a:ext>
            </a:extLst>
          </p:cNvPr>
          <p:cNvCxnSpPr>
            <a:cxnSpLocks/>
          </p:cNvCxnSpPr>
          <p:nvPr/>
        </p:nvCxnSpPr>
        <p:spPr>
          <a:xfrm flipH="1">
            <a:off x="2399168" y="640758"/>
            <a:ext cx="9400116"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EBB9CDF-327B-2B03-1C31-8F9E7F2CEB26}"/>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ACDE6F2D-1717-BE5F-B566-076C607D2EDA}"/>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3</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D42A05E0-044E-5BAA-091F-86997249D9E8}"/>
              </a:ext>
            </a:extLst>
          </p:cNvPr>
          <p:cNvSpPr txBox="1"/>
          <p:nvPr/>
        </p:nvSpPr>
        <p:spPr>
          <a:xfrm>
            <a:off x="1248902" y="399353"/>
            <a:ext cx="1403471"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如何開始</a:t>
            </a:r>
            <a:endParaRPr lang="en-US" altLang="zh-TW" sz="2000" b="1" dirty="0">
              <a:latin typeface="微軟正黑體" panose="020B0604030504040204" pitchFamily="34" charset="-120"/>
              <a:ea typeface="微軟正黑體" panose="020B0604030504040204" pitchFamily="34" charset="-120"/>
            </a:endParaRPr>
          </a:p>
        </p:txBody>
      </p:sp>
      <p:graphicFrame>
        <p:nvGraphicFramePr>
          <p:cNvPr id="5" name="資料庫圖表 4">
            <a:extLst>
              <a:ext uri="{FF2B5EF4-FFF2-40B4-BE49-F238E27FC236}">
                <a16:creationId xmlns:a16="http://schemas.microsoft.com/office/drawing/2014/main" id="{28D3EE3B-1636-40DA-4D72-ADF305544B17}"/>
              </a:ext>
            </a:extLst>
          </p:cNvPr>
          <p:cNvGraphicFramePr/>
          <p:nvPr>
            <p:extLst>
              <p:ext uri="{D42A27DB-BD31-4B8C-83A1-F6EECF244321}">
                <p14:modId xmlns:p14="http://schemas.microsoft.com/office/powerpoint/2010/main" val="4032163210"/>
              </p:ext>
            </p:extLst>
          </p:nvPr>
        </p:nvGraphicFramePr>
        <p:xfrm>
          <a:off x="1624710" y="1140183"/>
          <a:ext cx="923944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24456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481E-EC2B-A766-CF5C-0D378E11A5A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90CFE25-6ED4-323F-45BC-3A095259BE23}"/>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320E337E-7055-A23F-07CE-725C0369A0B5}"/>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2FDC839B-6CCB-B802-C259-01B482A533E7}"/>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5C248AA3-CC37-8356-7AA5-E5511B002B60}"/>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44C0813-4DC4-B66C-4AC2-03052616394E}"/>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55110150-6656-B746-219D-5CDD17301BCF}"/>
              </a:ext>
            </a:extLst>
          </p:cNvPr>
          <p:cNvCxnSpPr>
            <a:cxnSpLocks/>
          </p:cNvCxnSpPr>
          <p:nvPr/>
        </p:nvCxnSpPr>
        <p:spPr>
          <a:xfrm flipH="1">
            <a:off x="3385996" y="612177"/>
            <a:ext cx="8460370"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8C4BC96-E7C0-B2D5-5324-7EEF0AB3201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64A62BDD-20F4-752A-99CA-21ED0D5AC0B5}"/>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4</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052C4650-5F67-9CBB-3961-90C1F6A028F7}"/>
              </a:ext>
            </a:extLst>
          </p:cNvPr>
          <p:cNvSpPr txBox="1"/>
          <p:nvPr/>
        </p:nvSpPr>
        <p:spPr>
          <a:xfrm>
            <a:off x="1372421" y="323099"/>
            <a:ext cx="1890056" cy="707886"/>
          </a:xfrm>
          <a:prstGeom prst="rect">
            <a:avLst/>
          </a:prstGeom>
          <a:noFill/>
        </p:spPr>
        <p:txBody>
          <a:bodyPr wrap="square" rtlCol="0">
            <a:spAutoFit/>
          </a:bodyPr>
          <a:lstStyle/>
          <a:p>
            <a:pPr algn="ctr"/>
            <a:r>
              <a:rPr lang="zh-TW" altLang="en-US" sz="2400" b="1" dirty="0">
                <a:latin typeface="微軟正黑體" panose="020B0604030504040204" pitchFamily="34" charset="-120"/>
                <a:ea typeface="微軟正黑體" panose="020B0604030504040204" pitchFamily="34" charset="-120"/>
              </a:rPr>
              <a:t>資料集</a:t>
            </a:r>
            <a:br>
              <a:rPr lang="en-US" altLang="zh-TW" sz="2400" b="1" dirty="0">
                <a:latin typeface="微軟正黑體" panose="020B0604030504040204" pitchFamily="34" charset="-120"/>
                <a:ea typeface="微軟正黑體" panose="020B0604030504040204" pitchFamily="34" charset="-120"/>
              </a:rPr>
            </a:br>
            <a:r>
              <a:rPr lang="en-US" altLang="zh-TW" sz="1600" dirty="0">
                <a:latin typeface="Times New Roman" panose="02020603050405020304" pitchFamily="18" charset="0"/>
                <a:ea typeface="微軟正黑體" panose="020B0604030504040204" pitchFamily="34" charset="-120"/>
                <a:cs typeface="Times New Roman" panose="02020603050405020304" pitchFamily="18" charset="0"/>
              </a:rPr>
              <a:t>Dataset</a:t>
            </a:r>
            <a:endParaRPr lang="zh-TW" altLang="en-US" sz="16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6" name="文字方塊 5">
            <a:extLst>
              <a:ext uri="{FF2B5EF4-FFF2-40B4-BE49-F238E27FC236}">
                <a16:creationId xmlns:a16="http://schemas.microsoft.com/office/drawing/2014/main" id="{B16970E4-4A4E-8FC1-7B38-14E933CA97F1}"/>
              </a:ext>
            </a:extLst>
          </p:cNvPr>
          <p:cNvSpPr txBox="1"/>
          <p:nvPr/>
        </p:nvSpPr>
        <p:spPr>
          <a:xfrm>
            <a:off x="1318754" y="1151421"/>
            <a:ext cx="6097508" cy="1754326"/>
          </a:xfrm>
          <a:prstGeom prst="rect">
            <a:avLst/>
          </a:prstGeom>
          <a:noFill/>
        </p:spPr>
        <p:txBody>
          <a:bodyPr wrap="square">
            <a:spAutoFit/>
          </a:bodyPr>
          <a:lstStyle/>
          <a:p>
            <a:pPr>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公開資料集</a:t>
            </a:r>
            <a:endParaRPr lang="zh-TW" altLang="en-US"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en-US" altLang="zh-TW" b="1" dirty="0" err="1">
                <a:latin typeface="微軟正黑體" panose="020B0604030504040204" pitchFamily="34" charset="-120"/>
                <a:ea typeface="微軟正黑體" panose="020B0604030504040204" pitchFamily="34" charset="-120"/>
              </a:rPr>
              <a:t>BraTS</a:t>
            </a:r>
            <a:r>
              <a:rPr lang="en-US" altLang="zh-TW" b="1"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hlinkClick r:id="rId3"/>
              </a:rPr>
              <a:t>Brain Tumor Segmentation Challenge</a:t>
            </a:r>
            <a:r>
              <a:rPr lang="en-US" altLang="zh-TW" b="1"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：最常用，提供多模態 </a:t>
            </a:r>
            <a:r>
              <a:rPr lang="en-US" altLang="zh-TW" dirty="0">
                <a:latin typeface="微軟正黑體" panose="020B0604030504040204" pitchFamily="34" charset="-120"/>
                <a:ea typeface="微軟正黑體" panose="020B0604030504040204" pitchFamily="34" charset="-120"/>
              </a:rPr>
              <a:t>MRI</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T1, T1ce, T2, FLAIR</a:t>
            </a:r>
            <a:r>
              <a:rPr lang="zh-TW" altLang="en-US" dirty="0">
                <a:latin typeface="微軟正黑體" panose="020B0604030504040204" pitchFamily="34" charset="-120"/>
                <a:ea typeface="微軟正黑體" panose="020B0604030504040204" pitchFamily="34" charset="-120"/>
              </a:rPr>
              <a:t>）。</a:t>
            </a:r>
          </a:p>
          <a:p>
            <a:pPr marL="742950" lvl="1" indent="-285750">
              <a:buFont typeface="Arial" panose="020B0604020202020204" pitchFamily="34" charset="0"/>
              <a:buChar char="•"/>
            </a:pPr>
            <a:r>
              <a:rPr lang="en-US" altLang="zh-TW" b="1" dirty="0">
                <a:latin typeface="微軟正黑體" panose="020B0604030504040204" pitchFamily="34" charset="-120"/>
                <a:ea typeface="微軟正黑體" panose="020B0604030504040204" pitchFamily="34" charset="-120"/>
                <a:hlinkClick r:id="rId4"/>
              </a:rPr>
              <a:t>TCIA</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Cancer Imaging Archive</a:t>
            </a:r>
            <a:r>
              <a:rPr lang="zh-TW" altLang="en-US" dirty="0">
                <a:latin typeface="微軟正黑體" panose="020B0604030504040204" pitchFamily="34" charset="-120"/>
                <a:ea typeface="微軟正黑體" panose="020B0604030504040204" pitchFamily="34" charset="-120"/>
              </a:rPr>
              <a:t>）：更多臨床數據。</a:t>
            </a:r>
          </a:p>
          <a:p>
            <a:pPr>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自有資料</a:t>
            </a:r>
            <a:endParaRPr lang="zh-TW" altLang="en-US"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醫院合作（比較困難，需要 </a:t>
            </a:r>
            <a:r>
              <a:rPr lang="en-US" altLang="zh-TW" dirty="0">
                <a:latin typeface="微軟正黑體" panose="020B0604030504040204" pitchFamily="34" charset="-120"/>
                <a:ea typeface="微軟正黑體" panose="020B0604030504040204" pitchFamily="34" charset="-120"/>
              </a:rPr>
              <a:t>IRB</a:t>
            </a:r>
            <a:r>
              <a:rPr lang="zh-TW" altLang="en-US" dirty="0">
                <a:latin typeface="微軟正黑體" panose="020B0604030504040204" pitchFamily="34" charset="-120"/>
                <a:ea typeface="微軟正黑體" panose="020B0604030504040204" pitchFamily="34" charset="-120"/>
              </a:rPr>
              <a:t>）。</a:t>
            </a:r>
          </a:p>
        </p:txBody>
      </p:sp>
      <p:graphicFrame>
        <p:nvGraphicFramePr>
          <p:cNvPr id="17" name="表格 16">
            <a:extLst>
              <a:ext uri="{FF2B5EF4-FFF2-40B4-BE49-F238E27FC236}">
                <a16:creationId xmlns:a16="http://schemas.microsoft.com/office/drawing/2014/main" id="{346E891B-14B1-A93C-C4D0-E7C417D48754}"/>
              </a:ext>
            </a:extLst>
          </p:cNvPr>
          <p:cNvGraphicFramePr>
            <a:graphicFrameLocks noGrp="1"/>
          </p:cNvGraphicFramePr>
          <p:nvPr>
            <p:extLst>
              <p:ext uri="{D42A27DB-BD31-4B8C-83A1-F6EECF244321}">
                <p14:modId xmlns:p14="http://schemas.microsoft.com/office/powerpoint/2010/main" val="2402864464"/>
              </p:ext>
            </p:extLst>
          </p:nvPr>
        </p:nvGraphicFramePr>
        <p:xfrm>
          <a:off x="529196" y="4248657"/>
          <a:ext cx="4042804" cy="1659340"/>
        </p:xfrm>
        <a:graphic>
          <a:graphicData uri="http://schemas.openxmlformats.org/drawingml/2006/table">
            <a:tbl>
              <a:tblPr firstRow="1" bandRow="1">
                <a:tableStyleId>{5C22544A-7EE6-4342-B048-85BDC9FD1C3A}</a:tableStyleId>
              </a:tblPr>
              <a:tblGrid>
                <a:gridCol w="1244825">
                  <a:extLst>
                    <a:ext uri="{9D8B030D-6E8A-4147-A177-3AD203B41FA5}">
                      <a16:colId xmlns:a16="http://schemas.microsoft.com/office/drawing/2014/main" val="3027185570"/>
                    </a:ext>
                  </a:extLst>
                </a:gridCol>
                <a:gridCol w="733331">
                  <a:extLst>
                    <a:ext uri="{9D8B030D-6E8A-4147-A177-3AD203B41FA5}">
                      <a16:colId xmlns:a16="http://schemas.microsoft.com/office/drawing/2014/main" val="690034156"/>
                    </a:ext>
                  </a:extLst>
                </a:gridCol>
                <a:gridCol w="2064648">
                  <a:extLst>
                    <a:ext uri="{9D8B030D-6E8A-4147-A177-3AD203B41FA5}">
                      <a16:colId xmlns:a16="http://schemas.microsoft.com/office/drawing/2014/main" val="3364642593"/>
                    </a:ext>
                  </a:extLst>
                </a:gridCol>
              </a:tblGrid>
              <a:tr h="414835">
                <a:tc>
                  <a:txBody>
                    <a:bodyPr/>
                    <a:lstStyle/>
                    <a:p>
                      <a:r>
                        <a:rPr lang="zh-TW" altLang="en-US" sz="1600" dirty="0">
                          <a:latin typeface="微軟正黑體" panose="020B0604030504040204" pitchFamily="34" charset="-120"/>
                          <a:ea typeface="微軟正黑體" panose="020B0604030504040204" pitchFamily="34" charset="-120"/>
                        </a:rPr>
                        <a:t>種類</a:t>
                      </a:r>
                    </a:p>
                  </a:txBody>
                  <a:tcPr/>
                </a:tc>
                <a:tc>
                  <a:txBody>
                    <a:bodyPr/>
                    <a:lstStyle/>
                    <a:p>
                      <a:r>
                        <a:rPr lang="zh-TW" altLang="en-US" sz="1600" dirty="0">
                          <a:latin typeface="微軟正黑體" panose="020B0604030504040204" pitchFamily="34" charset="-120"/>
                          <a:ea typeface="微軟正黑體" panose="020B0604030504040204" pitchFamily="34" charset="-120"/>
                        </a:rPr>
                        <a:t>數量</a:t>
                      </a:r>
                    </a:p>
                  </a:txBody>
                  <a:tcPr/>
                </a:tc>
                <a:tc>
                  <a:txBody>
                    <a:bodyPr/>
                    <a:lstStyle/>
                    <a:p>
                      <a:r>
                        <a:rPr lang="zh-TW" altLang="en-US" sz="1600" dirty="0">
                          <a:latin typeface="微軟正黑體" panose="020B0604030504040204" pitchFamily="34" charset="-120"/>
                          <a:ea typeface="微軟正黑體" panose="020B0604030504040204" pitchFamily="34" charset="-120"/>
                        </a:rPr>
                        <a:t>資料集來源</a:t>
                      </a:r>
                    </a:p>
                  </a:txBody>
                  <a:tcPr/>
                </a:tc>
                <a:extLst>
                  <a:ext uri="{0D108BD9-81ED-4DB2-BD59-A6C34878D82A}">
                    <a16:rowId xmlns:a16="http://schemas.microsoft.com/office/drawing/2014/main" val="3905416573"/>
                  </a:ext>
                </a:extLst>
              </a:tr>
              <a:tr h="414835">
                <a:tc>
                  <a:txBody>
                    <a:bodyPr/>
                    <a:lstStyle/>
                    <a:p>
                      <a:r>
                        <a:rPr lang="en-US" altLang="zh-TW" sz="1600" dirty="0">
                          <a:latin typeface="微軟正黑體" panose="020B0604030504040204" pitchFamily="34" charset="-120"/>
                          <a:ea typeface="微軟正黑體" panose="020B0604030504040204" pitchFamily="34" charset="-120"/>
                        </a:rPr>
                        <a:t>HGG</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293</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Brats2020</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544862632"/>
                  </a:ext>
                </a:extLst>
              </a:tr>
              <a:tr h="414835">
                <a:tc>
                  <a:txBody>
                    <a:bodyPr/>
                    <a:lstStyle/>
                    <a:p>
                      <a:r>
                        <a:rPr lang="en-US" altLang="zh-TW" sz="1600" dirty="0">
                          <a:latin typeface="微軟正黑體" panose="020B0604030504040204" pitchFamily="34" charset="-120"/>
                          <a:ea typeface="微軟正黑體" panose="020B0604030504040204" pitchFamily="34" charset="-120"/>
                        </a:rPr>
                        <a:t>LGG</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76</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Brats2020</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749980780"/>
                  </a:ext>
                </a:extLst>
              </a:tr>
              <a:tr h="414835">
                <a:tc>
                  <a:txBody>
                    <a:bodyPr/>
                    <a:lstStyle/>
                    <a:p>
                      <a:r>
                        <a:rPr lang="en-US" altLang="zh-TW" sz="1600" dirty="0" err="1">
                          <a:latin typeface="微軟正黑體" panose="020B0604030504040204" pitchFamily="34" charset="-120"/>
                          <a:ea typeface="微軟正黑體" panose="020B0604030504040204" pitchFamily="34" charset="-120"/>
                        </a:rPr>
                        <a:t>No_tumor</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300</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err="1">
                          <a:latin typeface="微軟正黑體" panose="020B0604030504040204" pitchFamily="34" charset="-120"/>
                          <a:ea typeface="微軟正黑體" panose="020B0604030504040204" pitchFamily="34" charset="-120"/>
                        </a:rPr>
                        <a:t>Adni,camcanl,IXI</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51455085"/>
                  </a:ext>
                </a:extLst>
              </a:tr>
            </a:tbl>
          </a:graphicData>
        </a:graphic>
      </p:graphicFrame>
      <p:graphicFrame>
        <p:nvGraphicFramePr>
          <p:cNvPr id="18" name="表格 17">
            <a:extLst>
              <a:ext uri="{FF2B5EF4-FFF2-40B4-BE49-F238E27FC236}">
                <a16:creationId xmlns:a16="http://schemas.microsoft.com/office/drawing/2014/main" id="{CCE89287-565D-48A0-7508-8852AD537A60}"/>
              </a:ext>
            </a:extLst>
          </p:cNvPr>
          <p:cNvGraphicFramePr>
            <a:graphicFrameLocks noGrp="1"/>
          </p:cNvGraphicFramePr>
          <p:nvPr>
            <p:extLst>
              <p:ext uri="{D42A27DB-BD31-4B8C-83A1-F6EECF244321}">
                <p14:modId xmlns:p14="http://schemas.microsoft.com/office/powerpoint/2010/main" val="659304853"/>
              </p:ext>
            </p:extLst>
          </p:nvPr>
        </p:nvGraphicFramePr>
        <p:xfrm>
          <a:off x="7351414" y="4248657"/>
          <a:ext cx="4639522" cy="1639048"/>
        </p:xfrm>
        <a:graphic>
          <a:graphicData uri="http://schemas.openxmlformats.org/drawingml/2006/table">
            <a:tbl>
              <a:tblPr firstRow="1" bandRow="1">
                <a:tableStyleId>{5C22544A-7EE6-4342-B048-85BDC9FD1C3A}</a:tableStyleId>
              </a:tblPr>
              <a:tblGrid>
                <a:gridCol w="1265725">
                  <a:extLst>
                    <a:ext uri="{9D8B030D-6E8A-4147-A177-3AD203B41FA5}">
                      <a16:colId xmlns:a16="http://schemas.microsoft.com/office/drawing/2014/main" val="3462457169"/>
                    </a:ext>
                  </a:extLst>
                </a:gridCol>
                <a:gridCol w="848652">
                  <a:extLst>
                    <a:ext uri="{9D8B030D-6E8A-4147-A177-3AD203B41FA5}">
                      <a16:colId xmlns:a16="http://schemas.microsoft.com/office/drawing/2014/main" val="3175635794"/>
                    </a:ext>
                  </a:extLst>
                </a:gridCol>
                <a:gridCol w="626744">
                  <a:extLst>
                    <a:ext uri="{9D8B030D-6E8A-4147-A177-3AD203B41FA5}">
                      <a16:colId xmlns:a16="http://schemas.microsoft.com/office/drawing/2014/main" val="1905108675"/>
                    </a:ext>
                  </a:extLst>
                </a:gridCol>
                <a:gridCol w="599494">
                  <a:extLst>
                    <a:ext uri="{9D8B030D-6E8A-4147-A177-3AD203B41FA5}">
                      <a16:colId xmlns:a16="http://schemas.microsoft.com/office/drawing/2014/main" val="81809214"/>
                    </a:ext>
                  </a:extLst>
                </a:gridCol>
                <a:gridCol w="1298907">
                  <a:extLst>
                    <a:ext uri="{9D8B030D-6E8A-4147-A177-3AD203B41FA5}">
                      <a16:colId xmlns:a16="http://schemas.microsoft.com/office/drawing/2014/main" val="1212959930"/>
                    </a:ext>
                  </a:extLst>
                </a:gridCol>
              </a:tblGrid>
              <a:tr h="409762">
                <a:tc>
                  <a:txBody>
                    <a:bodyPr/>
                    <a:lstStyle/>
                    <a:p>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train</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test</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err="1">
                          <a:latin typeface="微軟正黑體" panose="020B0604030504040204" pitchFamily="34" charset="-120"/>
                          <a:ea typeface="微軟正黑體" panose="020B0604030504040204" pitchFamily="34" charset="-120"/>
                        </a:rPr>
                        <a:t>val</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Label(</a:t>
                      </a:r>
                      <a:r>
                        <a:rPr lang="zh-TW" altLang="en-US" sz="1600" dirty="0">
                          <a:latin typeface="微軟正黑體" panose="020B0604030504040204" pitchFamily="34" charset="-120"/>
                          <a:ea typeface="微軟正黑體" panose="020B0604030504040204" pitchFamily="34" charset="-120"/>
                        </a:rPr>
                        <a:t>類別</a:t>
                      </a:r>
                      <a:r>
                        <a:rPr lang="en-US" altLang="zh-TW" sz="1600" dirty="0">
                          <a:latin typeface="微軟正黑體" panose="020B0604030504040204" pitchFamily="34" charset="-120"/>
                          <a:ea typeface="微軟正黑體" panose="020B0604030504040204" pitchFamily="34" charset="-120"/>
                        </a:rPr>
                        <a:t>)</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871252057"/>
                  </a:ext>
                </a:extLst>
              </a:tr>
              <a:tr h="409762">
                <a:tc>
                  <a:txBody>
                    <a:bodyPr/>
                    <a:lstStyle/>
                    <a:p>
                      <a:r>
                        <a:rPr lang="en-US" altLang="zh-TW" sz="1600" dirty="0">
                          <a:latin typeface="微軟正黑體" panose="020B0604030504040204" pitchFamily="34" charset="-120"/>
                          <a:ea typeface="微軟正黑體" panose="020B0604030504040204" pitchFamily="34" charset="-120"/>
                        </a:rPr>
                        <a:t>HGG</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175</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58</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60</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160878093"/>
                  </a:ext>
                </a:extLst>
              </a:tr>
              <a:tr h="409762">
                <a:tc>
                  <a:txBody>
                    <a:bodyPr/>
                    <a:lstStyle/>
                    <a:p>
                      <a:r>
                        <a:rPr lang="en-US" altLang="zh-TW" sz="1600" dirty="0">
                          <a:latin typeface="微軟正黑體" panose="020B0604030504040204" pitchFamily="34" charset="-120"/>
                          <a:ea typeface="微軟正黑體" panose="020B0604030504040204" pitchFamily="34" charset="-120"/>
                        </a:rPr>
                        <a:t>LGG</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45</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15</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16</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1</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117639693"/>
                  </a:ext>
                </a:extLst>
              </a:tr>
              <a:tr h="409762">
                <a:tc>
                  <a:txBody>
                    <a:bodyPr/>
                    <a:lstStyle/>
                    <a:p>
                      <a:r>
                        <a:rPr lang="en-US" altLang="zh-TW" sz="1600" dirty="0" err="1">
                          <a:latin typeface="微軟正黑體" panose="020B0604030504040204" pitchFamily="34" charset="-120"/>
                          <a:ea typeface="微軟正黑體" panose="020B0604030504040204" pitchFamily="34" charset="-120"/>
                        </a:rPr>
                        <a:t>No_tumor</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180</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60</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60</a:t>
                      </a:r>
                      <a:endParaRPr lang="zh-TW" altLang="en-US" sz="1600" dirty="0">
                        <a:latin typeface="微軟正黑體" panose="020B0604030504040204" pitchFamily="34" charset="-120"/>
                        <a:ea typeface="微軟正黑體" panose="020B0604030504040204" pitchFamily="34" charset="-120"/>
                      </a:endParaRPr>
                    </a:p>
                  </a:txBody>
                  <a:tcPr/>
                </a:tc>
                <a:tc>
                  <a:txBody>
                    <a:bodyPr/>
                    <a:lstStyle/>
                    <a:p>
                      <a:r>
                        <a:rPr lang="en-US" altLang="zh-TW" sz="1600" dirty="0">
                          <a:latin typeface="微軟正黑體" panose="020B0604030504040204" pitchFamily="34" charset="-120"/>
                          <a:ea typeface="微軟正黑體" panose="020B0604030504040204" pitchFamily="34" charset="-120"/>
                        </a:rPr>
                        <a:t>2</a:t>
                      </a:r>
                      <a:endParaRPr lang="zh-TW" altLang="en-US" sz="16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982350533"/>
                  </a:ext>
                </a:extLst>
              </a:tr>
            </a:tbl>
          </a:graphicData>
        </a:graphic>
      </p:graphicFrame>
      <p:cxnSp>
        <p:nvCxnSpPr>
          <p:cNvPr id="19" name="直線單箭頭接點 18">
            <a:extLst>
              <a:ext uri="{FF2B5EF4-FFF2-40B4-BE49-F238E27FC236}">
                <a16:creationId xmlns:a16="http://schemas.microsoft.com/office/drawing/2014/main" id="{256D4156-71AA-D528-184F-BD350BE4CF01}"/>
              </a:ext>
            </a:extLst>
          </p:cNvPr>
          <p:cNvCxnSpPr>
            <a:cxnSpLocks/>
          </p:cNvCxnSpPr>
          <p:nvPr/>
        </p:nvCxnSpPr>
        <p:spPr>
          <a:xfrm>
            <a:off x="5029977" y="3830051"/>
            <a:ext cx="28498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43D9F9DE-9DF5-9702-BE15-7BA2AA40DBAF}"/>
              </a:ext>
            </a:extLst>
          </p:cNvPr>
          <p:cNvSpPr txBox="1"/>
          <p:nvPr/>
        </p:nvSpPr>
        <p:spPr>
          <a:xfrm>
            <a:off x="5207344" y="3086873"/>
            <a:ext cx="2453208" cy="523220"/>
          </a:xfrm>
          <a:prstGeom prst="rect">
            <a:avLst/>
          </a:prstGeom>
          <a:noFill/>
        </p:spPr>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資料劃分</a:t>
            </a:r>
            <a:r>
              <a:rPr lang="en-US" altLang="zh-TW" sz="1400" dirty="0">
                <a:latin typeface="微軟正黑體" panose="020B0604030504040204" pitchFamily="34" charset="-120"/>
                <a:ea typeface="微軟正黑體" panose="020B0604030504040204" pitchFamily="34" charset="-120"/>
              </a:rPr>
              <a:t>:</a:t>
            </a:r>
          </a:p>
          <a:p>
            <a:r>
              <a:rPr lang="en-US" altLang="zh-TW" sz="1400" dirty="0">
                <a:latin typeface="微軟正黑體" panose="020B0604030504040204" pitchFamily="34" charset="-120"/>
                <a:ea typeface="微軟正黑體" panose="020B0604030504040204" pitchFamily="34" charset="-120"/>
              </a:rPr>
              <a:t>Train:60% val:20% test:20%</a:t>
            </a:r>
            <a:endParaRPr lang="zh-TW" altLang="en-US" sz="1400"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656F109B-2467-B013-3E28-D5B7F4F73AB5}"/>
              </a:ext>
            </a:extLst>
          </p:cNvPr>
          <p:cNvSpPr txBox="1"/>
          <p:nvPr/>
        </p:nvSpPr>
        <p:spPr>
          <a:xfrm>
            <a:off x="2383477" y="3645385"/>
            <a:ext cx="130167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原始資料</a:t>
            </a:r>
          </a:p>
        </p:txBody>
      </p:sp>
      <p:sp>
        <p:nvSpPr>
          <p:cNvPr id="22" name="文字方塊 21">
            <a:extLst>
              <a:ext uri="{FF2B5EF4-FFF2-40B4-BE49-F238E27FC236}">
                <a16:creationId xmlns:a16="http://schemas.microsoft.com/office/drawing/2014/main" id="{00EDC87D-5E25-1E1E-B48E-CF7A18DA70EB}"/>
              </a:ext>
            </a:extLst>
          </p:cNvPr>
          <p:cNvSpPr txBox="1"/>
          <p:nvPr/>
        </p:nvSpPr>
        <p:spPr>
          <a:xfrm>
            <a:off x="9094671" y="3617715"/>
            <a:ext cx="130167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TW" altLang="en-US" dirty="0">
                <a:latin typeface="微軟正黑體" panose="020B0604030504040204" pitchFamily="34" charset="-120"/>
                <a:ea typeface="微軟正黑體" panose="020B0604030504040204" pitchFamily="34" charset="-120"/>
              </a:rPr>
              <a:t>劃分資料</a:t>
            </a:r>
          </a:p>
        </p:txBody>
      </p:sp>
      <p:sp>
        <p:nvSpPr>
          <p:cNvPr id="3" name="文字方塊 2">
            <a:extLst>
              <a:ext uri="{FF2B5EF4-FFF2-40B4-BE49-F238E27FC236}">
                <a16:creationId xmlns:a16="http://schemas.microsoft.com/office/drawing/2014/main" id="{AB61447B-6378-2632-222C-F3F35F9058A0}"/>
              </a:ext>
            </a:extLst>
          </p:cNvPr>
          <p:cNvSpPr txBox="1"/>
          <p:nvPr/>
        </p:nvSpPr>
        <p:spPr>
          <a:xfrm>
            <a:off x="529196" y="5849255"/>
            <a:ext cx="3927884" cy="369332"/>
          </a:xfrm>
          <a:prstGeom prst="rect">
            <a:avLst/>
          </a:prstGeom>
          <a:noFill/>
        </p:spPr>
        <p:txBody>
          <a:bodyPr wrap="square">
            <a:spAutoFit/>
          </a:bodyPr>
          <a:lstStyle/>
          <a:p>
            <a:r>
              <a:rPr lang="en-US" altLang="zh-TW" dirty="0">
                <a:hlinkClick r:id="rId5" action="ppaction://hlinkfile"/>
              </a:rPr>
              <a:t>\\140.125.20.143\EL405 share\datasets</a:t>
            </a:r>
            <a:endParaRPr lang="zh-TW" altLang="en-US" dirty="0"/>
          </a:p>
        </p:txBody>
      </p:sp>
    </p:spTree>
    <p:extLst>
      <p:ext uri="{BB962C8B-B14F-4D97-AF65-F5344CB8AC3E}">
        <p14:creationId xmlns:p14="http://schemas.microsoft.com/office/powerpoint/2010/main" val="9901081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750A-1CBA-B348-8C0D-1F90607A3CA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CA472FB-0821-E09A-C40D-84542BDA0951}"/>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0AD1314C-B8CD-B6C9-9A60-7A5B8E0B890A}"/>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FAA22D2-AD76-11EB-6716-6E83060B0C43}"/>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8591681-4CFA-5223-190A-335512D6D7B9}"/>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B132818-2766-0B57-8034-CEC969D9315F}"/>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3721DE20-3739-E627-524C-9BB90CAE9D6F}"/>
              </a:ext>
            </a:extLst>
          </p:cNvPr>
          <p:cNvCxnSpPr>
            <a:cxnSpLocks/>
          </p:cNvCxnSpPr>
          <p:nvPr/>
        </p:nvCxnSpPr>
        <p:spPr>
          <a:xfrm flipH="1">
            <a:off x="3612333" y="640758"/>
            <a:ext cx="8186951" cy="9048"/>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740405B-235F-BA31-EAED-42D4F32A9815}"/>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42D614E9-3B2C-7F02-838B-993E574FD769}"/>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5</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9A8047B2-0157-0440-DF13-D32D131F3D1E}"/>
              </a:ext>
            </a:extLst>
          </p:cNvPr>
          <p:cNvSpPr txBox="1"/>
          <p:nvPr/>
        </p:nvSpPr>
        <p:spPr>
          <a:xfrm>
            <a:off x="1590784" y="399353"/>
            <a:ext cx="1930549"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調整 </a:t>
            </a:r>
            <a:r>
              <a:rPr lang="en-US" altLang="zh-TW" sz="2000" b="1" dirty="0">
                <a:latin typeface="微軟正黑體" panose="020B0604030504040204" pitchFamily="34" charset="-120"/>
                <a:ea typeface="微軟正黑體" panose="020B0604030504040204" pitchFamily="34" charset="-120"/>
              </a:rPr>
              <a:t>GitHub</a:t>
            </a:r>
          </a:p>
        </p:txBody>
      </p:sp>
      <p:sp>
        <p:nvSpPr>
          <p:cNvPr id="6" name="Rectangle 2">
            <a:extLst>
              <a:ext uri="{FF2B5EF4-FFF2-40B4-BE49-F238E27FC236}">
                <a16:creationId xmlns:a16="http://schemas.microsoft.com/office/drawing/2014/main" id="{3F0F6A7E-63A2-9A91-494B-6A51B3E94D73}"/>
              </a:ext>
            </a:extLst>
          </p:cNvPr>
          <p:cNvSpPr>
            <a:spLocks noChangeArrowheads="1"/>
          </p:cNvSpPr>
          <p:nvPr/>
        </p:nvSpPr>
        <p:spPr bwMode="auto">
          <a:xfrm>
            <a:off x="313019" y="1049173"/>
            <a:ext cx="43275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每個資料集不同</a:t>
            </a:r>
            <a:r>
              <a:rPr kumimoji="0" lang="zh-TW"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需要調整讀檔、前處理方式</a:t>
            </a:r>
            <a:r>
              <a:rPr kumimoji="0" lang="zh-TW" altLang="zh-TW" sz="1800" b="0" i="0" u="none" strike="noStrike" cap="none" normalizeH="0" baseline="0" dirty="0">
                <a:ln>
                  <a:noFill/>
                </a:ln>
                <a:solidFill>
                  <a:schemeClr val="tx1"/>
                </a:solidFill>
                <a:effectLst/>
                <a:latin typeface="Arial" panose="020B0604020202020204" pitchFamily="34" charset="0"/>
              </a:rPr>
              <a:t>。</a:t>
            </a:r>
          </a:p>
        </p:txBody>
      </p:sp>
      <p:graphicFrame>
        <p:nvGraphicFramePr>
          <p:cNvPr id="47" name="表格 46">
            <a:extLst>
              <a:ext uri="{FF2B5EF4-FFF2-40B4-BE49-F238E27FC236}">
                <a16:creationId xmlns:a16="http://schemas.microsoft.com/office/drawing/2014/main" id="{88FCD340-804E-46AF-EA79-DDFC5F751F89}"/>
              </a:ext>
            </a:extLst>
          </p:cNvPr>
          <p:cNvGraphicFramePr>
            <a:graphicFrameLocks noGrp="1"/>
          </p:cNvGraphicFramePr>
          <p:nvPr>
            <p:extLst>
              <p:ext uri="{D42A27DB-BD31-4B8C-83A1-F6EECF244321}">
                <p14:modId xmlns:p14="http://schemas.microsoft.com/office/powerpoint/2010/main" val="2001615519"/>
              </p:ext>
            </p:extLst>
          </p:nvPr>
        </p:nvGraphicFramePr>
        <p:xfrm>
          <a:off x="413482" y="1902119"/>
          <a:ext cx="5076489" cy="3868374"/>
        </p:xfrm>
        <a:graphic>
          <a:graphicData uri="http://schemas.openxmlformats.org/drawingml/2006/table">
            <a:tbl>
              <a:tblPr/>
              <a:tblGrid>
                <a:gridCol w="830414">
                  <a:extLst>
                    <a:ext uri="{9D8B030D-6E8A-4147-A177-3AD203B41FA5}">
                      <a16:colId xmlns:a16="http://schemas.microsoft.com/office/drawing/2014/main" val="2447465257"/>
                    </a:ext>
                  </a:extLst>
                </a:gridCol>
                <a:gridCol w="494369">
                  <a:extLst>
                    <a:ext uri="{9D8B030D-6E8A-4147-A177-3AD203B41FA5}">
                      <a16:colId xmlns:a16="http://schemas.microsoft.com/office/drawing/2014/main" val="912060046"/>
                    </a:ext>
                  </a:extLst>
                </a:gridCol>
                <a:gridCol w="679010">
                  <a:extLst>
                    <a:ext uri="{9D8B030D-6E8A-4147-A177-3AD203B41FA5}">
                      <a16:colId xmlns:a16="http://schemas.microsoft.com/office/drawing/2014/main" val="869275945"/>
                    </a:ext>
                  </a:extLst>
                </a:gridCol>
                <a:gridCol w="1177991">
                  <a:extLst>
                    <a:ext uri="{9D8B030D-6E8A-4147-A177-3AD203B41FA5}">
                      <a16:colId xmlns:a16="http://schemas.microsoft.com/office/drawing/2014/main" val="3361797097"/>
                    </a:ext>
                  </a:extLst>
                </a:gridCol>
                <a:gridCol w="1894705">
                  <a:extLst>
                    <a:ext uri="{9D8B030D-6E8A-4147-A177-3AD203B41FA5}">
                      <a16:colId xmlns:a16="http://schemas.microsoft.com/office/drawing/2014/main" val="1174272083"/>
                    </a:ext>
                  </a:extLst>
                </a:gridCol>
              </a:tblGrid>
              <a:tr h="172330">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影像類型</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副檔名</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a:solidFill>
                            <a:sysClr val="windowText" lastClr="000000"/>
                          </a:solidFill>
                          <a:latin typeface="微軟正黑體" panose="020B0604030504040204" pitchFamily="34" charset="-120"/>
                          <a:ea typeface="微軟正黑體" panose="020B0604030504040204" pitchFamily="34" charset="-120"/>
                        </a:rPr>
                        <a:t>Python </a:t>
                      </a:r>
                      <a:r>
                        <a:rPr lang="zh-TW" altLang="en-US" sz="1100">
                          <a:solidFill>
                            <a:sysClr val="windowText" lastClr="000000"/>
                          </a:solidFill>
                          <a:latin typeface="微軟正黑體" panose="020B0604030504040204" pitchFamily="34" charset="-120"/>
                          <a:ea typeface="微軟正黑體" panose="020B0604030504040204" pitchFamily="34" charset="-120"/>
                        </a:rPr>
                        <a:t>套件</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備註</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範例程式碼</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4239203"/>
                  </a:ext>
                </a:extLst>
              </a:tr>
              <a:tr h="947816">
                <a:tc>
                  <a:txBody>
                    <a:bodyPr/>
                    <a:lstStyle/>
                    <a:p>
                      <a:pPr>
                        <a:buNone/>
                      </a:pPr>
                      <a:r>
                        <a:rPr lang="en-US" sz="1100" b="1" dirty="0">
                          <a:solidFill>
                            <a:sysClr val="windowText" lastClr="000000"/>
                          </a:solidFill>
                          <a:latin typeface="微軟正黑體" panose="020B0604030504040204" pitchFamily="34" charset="-120"/>
                          <a:ea typeface="微軟正黑體" panose="020B0604030504040204" pitchFamily="34" charset="-120"/>
                        </a:rPr>
                        <a:t>MRI / CT</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a:solidFill>
                            <a:sysClr val="windowText" lastClr="000000"/>
                          </a:solidFill>
                          <a:latin typeface="微軟正黑體" panose="020B0604030504040204" pitchFamily="34" charset="-120"/>
                          <a:ea typeface="微軟正黑體" panose="020B0604030504040204" pitchFamily="34" charset="-120"/>
                        </a:rPr>
                        <a:t>.</a:t>
                      </a:r>
                      <a:r>
                        <a:rPr lang="en-US" sz="1100" dirty="0" err="1">
                          <a:solidFill>
                            <a:sysClr val="windowText" lastClr="000000"/>
                          </a:solidFill>
                          <a:latin typeface="微軟正黑體" panose="020B0604030504040204" pitchFamily="34" charset="-120"/>
                          <a:ea typeface="微軟正黑體" panose="020B0604030504040204" pitchFamily="34" charset="-120"/>
                        </a:rPr>
                        <a:t>nii</a:t>
                      </a:r>
                      <a:r>
                        <a:rPr lang="en-US" sz="1100" dirty="0">
                          <a:solidFill>
                            <a:sysClr val="windowText" lastClr="000000"/>
                          </a:solidFill>
                          <a:latin typeface="微軟正黑體" panose="020B0604030504040204" pitchFamily="34" charset="-120"/>
                          <a:ea typeface="微軟正黑體" panose="020B0604030504040204" pitchFamily="34" charset="-120"/>
                        </a:rPr>
                        <a:t>, .nii.gz</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err="1">
                          <a:solidFill>
                            <a:sysClr val="windowText" lastClr="000000"/>
                          </a:solidFill>
                          <a:latin typeface="微軟正黑體" panose="020B0604030504040204" pitchFamily="34" charset="-120"/>
                          <a:ea typeface="微軟正黑體" panose="020B0604030504040204" pitchFamily="34" charset="-120"/>
                        </a:rPr>
                        <a:t>nibabel</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三維醫學影像，支援多模態 </a:t>
                      </a:r>
                      <a:r>
                        <a:rPr lang="en-US" altLang="zh-TW" sz="1100" dirty="0">
                          <a:solidFill>
                            <a:sysClr val="windowText" lastClr="000000"/>
                          </a:solidFill>
                          <a:latin typeface="微軟正黑體" panose="020B0604030504040204" pitchFamily="34" charset="-120"/>
                          <a:ea typeface="微軟正黑體" panose="020B0604030504040204" pitchFamily="34" charset="-120"/>
                        </a:rPr>
                        <a:t>MRI</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import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nibabel</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p>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img</a:t>
                      </a:r>
                      <a:r>
                        <a:rPr lang="en-US" altLang="zh-TW" sz="1100" dirty="0">
                          <a:solidFill>
                            <a:sysClr val="windowText" lastClr="000000"/>
                          </a:solidFill>
                          <a:latin typeface="微軟正黑體" panose="020B0604030504040204" pitchFamily="34" charset="-120"/>
                          <a:ea typeface="微軟正黑體" panose="020B0604030504040204" pitchFamily="34" charset="-120"/>
                        </a:rPr>
                        <a:t> =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nib.load</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p>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data =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img.get_fdata</a:t>
                      </a:r>
                      <a:r>
                        <a:rPr lang="en-US" altLang="zh-TW" sz="1100" dirty="0">
                          <a:solidFill>
                            <a:sysClr val="windowText" lastClr="000000"/>
                          </a:solidFill>
                          <a:latin typeface="微軟正黑體" panose="020B0604030504040204" pitchFamily="34" charset="-120"/>
                          <a:ea typeface="微軟正黑體" panose="020B0604030504040204" pitchFamily="34" charset="-120"/>
                        </a:rPr>
                        <a:t>()</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5377382"/>
                  </a:ext>
                </a:extLst>
              </a:tr>
              <a:tr h="818568">
                <a:tc>
                  <a:txBody>
                    <a:bodyPr/>
                    <a:lstStyle/>
                    <a:p>
                      <a:pPr>
                        <a:buNone/>
                      </a:pPr>
                      <a:r>
                        <a:rPr lang="en-US" sz="1100" b="1" dirty="0">
                          <a:solidFill>
                            <a:sysClr val="windowText" lastClr="000000"/>
                          </a:solidFill>
                          <a:latin typeface="微軟正黑體" panose="020B0604030504040204" pitchFamily="34" charset="-120"/>
                          <a:ea typeface="微軟正黑體" panose="020B0604030504040204" pitchFamily="34" charset="-120"/>
                        </a:rPr>
                        <a:t>DICOM</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a:solidFill>
                            <a:sysClr val="windowText" lastClr="000000"/>
                          </a:solidFill>
                          <a:latin typeface="微軟正黑體" panose="020B0604030504040204" pitchFamily="34" charset="-120"/>
                          <a:ea typeface="微軟正黑體" panose="020B0604030504040204" pitchFamily="34" charset="-120"/>
                        </a:rPr>
                        <a:t>.</a:t>
                      </a:r>
                      <a:r>
                        <a:rPr lang="en-US" sz="1100" dirty="0" err="1">
                          <a:solidFill>
                            <a:sysClr val="windowText" lastClr="000000"/>
                          </a:solidFill>
                          <a:latin typeface="微軟正黑體" panose="020B0604030504040204" pitchFamily="34" charset="-120"/>
                          <a:ea typeface="微軟正黑體" panose="020B0604030504040204" pitchFamily="34" charset="-120"/>
                        </a:rPr>
                        <a:t>dcm</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err="1">
                          <a:solidFill>
                            <a:sysClr val="windowText" lastClr="000000"/>
                          </a:solidFill>
                          <a:latin typeface="微軟正黑體" panose="020B0604030504040204" pitchFamily="34" charset="-120"/>
                          <a:ea typeface="微軟正黑體" panose="020B0604030504040204" pitchFamily="34" charset="-120"/>
                        </a:rPr>
                        <a:t>pydicom</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包含影像與病人資訊，可轉成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numpy</a:t>
                      </a:r>
                      <a:r>
                        <a:rPr lang="en-US" altLang="zh-TW" sz="1100" dirty="0">
                          <a:solidFill>
                            <a:sysClr val="windowText" lastClr="000000"/>
                          </a:solidFill>
                          <a:latin typeface="微軟正黑體" panose="020B0604030504040204" pitchFamily="34" charset="-120"/>
                          <a:ea typeface="微軟正黑體" panose="020B0604030504040204" pitchFamily="34" charset="-120"/>
                        </a:rPr>
                        <a:t> array </a:t>
                      </a:r>
                      <a:r>
                        <a:rPr lang="zh-TW" altLang="en-US" sz="1100" dirty="0">
                          <a:solidFill>
                            <a:sysClr val="windowText" lastClr="000000"/>
                          </a:solidFill>
                          <a:latin typeface="微軟正黑體" panose="020B0604030504040204" pitchFamily="34" charset="-120"/>
                          <a:ea typeface="微軟正黑體" panose="020B0604030504040204" pitchFamily="34" charset="-120"/>
                        </a:rPr>
                        <a:t>處理</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 import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pydicom</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p>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ds =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pydicom.dcmread</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p>
                    <a:p>
                      <a:pPr>
                        <a:buNone/>
                      </a:pPr>
                      <a:r>
                        <a:rPr lang="en-US" altLang="zh-TW" sz="1100" dirty="0" err="1">
                          <a:solidFill>
                            <a:sysClr val="windowText" lastClr="000000"/>
                          </a:solidFill>
                          <a:latin typeface="微軟正黑體" panose="020B0604030504040204" pitchFamily="34" charset="-120"/>
                          <a:ea typeface="微軟正黑體" panose="020B0604030504040204" pitchFamily="34" charset="-120"/>
                        </a:rPr>
                        <a:t>img</a:t>
                      </a:r>
                      <a:r>
                        <a:rPr lang="en-US" altLang="zh-TW" sz="1100" dirty="0">
                          <a:solidFill>
                            <a:sysClr val="windowText" lastClr="000000"/>
                          </a:solidFill>
                          <a:latin typeface="微軟正黑體" panose="020B0604030504040204" pitchFamily="34" charset="-120"/>
                          <a:ea typeface="微軟正黑體" panose="020B0604030504040204" pitchFamily="34" charset="-120"/>
                        </a:rPr>
                        <a:t> =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ds.pixel_array</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7366428"/>
                  </a:ext>
                </a:extLst>
              </a:tr>
              <a:tr h="1163555">
                <a:tc>
                  <a:txBody>
                    <a:bodyPr/>
                    <a:lstStyle/>
                    <a:p>
                      <a:pPr>
                        <a:buNone/>
                      </a:pPr>
                      <a:r>
                        <a:rPr lang="zh-TW" altLang="en-US" sz="1100" b="1" dirty="0">
                          <a:solidFill>
                            <a:sysClr val="windowText" lastClr="000000"/>
                          </a:solidFill>
                          <a:latin typeface="微軟正黑體" panose="020B0604030504040204" pitchFamily="34" charset="-120"/>
                          <a:ea typeface="微軟正黑體" panose="020B0604030504040204" pitchFamily="34" charset="-120"/>
                        </a:rPr>
                        <a:t>一般圖片</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a:solidFill>
                            <a:sysClr val="windowText" lastClr="000000"/>
                          </a:solidFill>
                          <a:latin typeface="微軟正黑體" panose="020B0604030504040204" pitchFamily="34" charset="-120"/>
                          <a:ea typeface="微軟正黑體" panose="020B0604030504040204" pitchFamily="34" charset="-120"/>
                        </a:rPr>
                        <a:t>.jpg, .</a:t>
                      </a:r>
                      <a:r>
                        <a:rPr lang="en-US" sz="1100" dirty="0" err="1">
                          <a:solidFill>
                            <a:sysClr val="windowText" lastClr="000000"/>
                          </a:solidFill>
                          <a:latin typeface="微軟正黑體" panose="020B0604030504040204" pitchFamily="34" charset="-120"/>
                          <a:ea typeface="微軟正黑體" panose="020B0604030504040204" pitchFamily="34" charset="-120"/>
                        </a:rPr>
                        <a:t>png</a:t>
                      </a:r>
                      <a:endParaRPr 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a:solidFill>
                            <a:sysClr val="windowText" lastClr="000000"/>
                          </a:solidFill>
                          <a:latin typeface="微軟正黑體" panose="020B0604030504040204" pitchFamily="34" charset="-120"/>
                          <a:ea typeface="微軟正黑體" panose="020B0604030504040204" pitchFamily="34" charset="-120"/>
                        </a:rPr>
                        <a:t>PIL, OpenCV</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zh-TW" altLang="en-US" sz="1100" dirty="0">
                          <a:solidFill>
                            <a:sysClr val="windowText" lastClr="000000"/>
                          </a:solidFill>
                          <a:latin typeface="微軟正黑體" panose="020B0604030504040204" pitchFamily="34" charset="-120"/>
                          <a:ea typeface="微軟正黑體" panose="020B0604030504040204" pitchFamily="34" charset="-120"/>
                        </a:rPr>
                        <a:t>適合簡單影像顯示或預處理</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PIL: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Image.open</a:t>
                      </a:r>
                      <a:r>
                        <a:rPr lang="en-US" altLang="zh-TW" sz="1100" dirty="0">
                          <a:solidFill>
                            <a:sysClr val="windowText" lastClr="000000"/>
                          </a:solidFill>
                          <a:latin typeface="微軟正黑體" panose="020B0604030504040204" pitchFamily="34" charset="-120"/>
                          <a:ea typeface="微軟正黑體" panose="020B0604030504040204" pitchFamily="34" charset="-120"/>
                        </a:rPr>
                        <a:t>(...) </a:t>
                      </a:r>
                    </a:p>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OpenCV: cv2.imread(...) </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75473004"/>
                  </a:ext>
                </a:extLst>
              </a:tr>
              <a:tr h="560073">
                <a:tc>
                  <a:txBody>
                    <a:bodyPr/>
                    <a:lstStyle/>
                    <a:p>
                      <a:pPr>
                        <a:buNone/>
                      </a:pPr>
                      <a:r>
                        <a:rPr lang="en-US" altLang="zh-TW" sz="1100" b="1" dirty="0">
                          <a:solidFill>
                            <a:sysClr val="windowText" lastClr="000000"/>
                          </a:solidFill>
                          <a:latin typeface="微軟正黑體" panose="020B0604030504040204" pitchFamily="34" charset="-120"/>
                          <a:ea typeface="微軟正黑體" panose="020B0604030504040204" pitchFamily="34" charset="-120"/>
                        </a:rPr>
                        <a:t>CSV </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100" dirty="0">
                          <a:solidFill>
                            <a:sysClr val="windowText" lastClr="000000"/>
                          </a:solidFill>
                          <a:latin typeface="微軟正黑體" panose="020B0604030504040204" pitchFamily="34" charset="-120"/>
                          <a:ea typeface="微軟正黑體" panose="020B0604030504040204" pitchFamily="34" charset="-120"/>
                        </a:rPr>
                        <a:t>.csv</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csv </a:t>
                      </a:r>
                      <a:r>
                        <a:rPr lang="zh-TW" altLang="en-US" sz="1100" dirty="0">
                          <a:solidFill>
                            <a:sysClr val="windowText" lastClr="000000"/>
                          </a:solidFill>
                          <a:latin typeface="微軟正黑體" panose="020B0604030504040204" pitchFamily="34" charset="-120"/>
                          <a:ea typeface="微軟正黑體" panose="020B0604030504040204" pitchFamily="34" charset="-120"/>
                        </a:rPr>
                        <a:t>或 </a:t>
                      </a:r>
                      <a:r>
                        <a:rPr lang="en-US" altLang="zh-TW" sz="1100" dirty="0">
                          <a:solidFill>
                            <a:sysClr val="windowText" lastClr="000000"/>
                          </a:solidFill>
                          <a:latin typeface="微軟正黑體" panose="020B0604030504040204" pitchFamily="34" charset="-120"/>
                          <a:ea typeface="微軟正黑體" panose="020B0604030504040204" pitchFamily="34" charset="-120"/>
                        </a:rPr>
                        <a:t>pandas</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pandas </a:t>
                      </a:r>
                      <a:r>
                        <a:rPr lang="zh-TW" altLang="en-US" sz="1100" dirty="0">
                          <a:solidFill>
                            <a:sysClr val="windowText" lastClr="000000"/>
                          </a:solidFill>
                          <a:latin typeface="微軟正黑體" panose="020B0604030504040204" pitchFamily="34" charset="-120"/>
                          <a:ea typeface="微軟正黑體" panose="020B0604030504040204" pitchFamily="34" charset="-120"/>
                        </a:rPr>
                        <a:t>更方便做資料分析</a:t>
                      </a: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 import pandas as pd</a:t>
                      </a:r>
                    </a:p>
                    <a:p>
                      <a:pPr>
                        <a:buNone/>
                      </a:pPr>
                      <a:r>
                        <a:rPr lang="en-US" altLang="zh-TW" sz="1100" dirty="0" err="1">
                          <a:solidFill>
                            <a:sysClr val="windowText" lastClr="000000"/>
                          </a:solidFill>
                          <a:latin typeface="微軟正黑體" panose="020B0604030504040204" pitchFamily="34" charset="-120"/>
                          <a:ea typeface="微軟正黑體" panose="020B0604030504040204" pitchFamily="34" charset="-120"/>
                        </a:rPr>
                        <a:t>df</a:t>
                      </a:r>
                      <a:r>
                        <a:rPr lang="en-US" altLang="zh-TW" sz="1100" dirty="0">
                          <a:solidFill>
                            <a:sysClr val="windowText" lastClr="000000"/>
                          </a:solidFill>
                          <a:latin typeface="微軟正黑體" panose="020B0604030504040204" pitchFamily="34" charset="-120"/>
                          <a:ea typeface="微軟正黑體" panose="020B0604030504040204" pitchFamily="34" charset="-120"/>
                        </a:rPr>
                        <a:t> = </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pd.read_csv</a:t>
                      </a:r>
                      <a:r>
                        <a:rPr lang="en-US" altLang="zh-TW" sz="1100" dirty="0">
                          <a:solidFill>
                            <a:sysClr val="windowText" lastClr="000000"/>
                          </a:solidFill>
                          <a:latin typeface="微軟正黑體" panose="020B0604030504040204" pitchFamily="34" charset="-120"/>
                          <a:ea typeface="微軟正黑體" panose="020B0604030504040204" pitchFamily="34" charset="-120"/>
                        </a:rPr>
                        <a:t>('data.csv')</a:t>
                      </a:r>
                    </a:p>
                    <a:p>
                      <a:pPr>
                        <a:buNone/>
                      </a:pPr>
                      <a:r>
                        <a:rPr lang="en-US" altLang="zh-TW" sz="1100" dirty="0">
                          <a:solidFill>
                            <a:sysClr val="windowText" lastClr="000000"/>
                          </a:solidFill>
                          <a:latin typeface="微軟正黑體" panose="020B0604030504040204" pitchFamily="34" charset="-120"/>
                          <a:ea typeface="微軟正黑體" panose="020B0604030504040204" pitchFamily="34" charset="-120"/>
                        </a:rPr>
                        <a:t>print(</a:t>
                      </a:r>
                      <a:r>
                        <a:rPr lang="en-US" altLang="zh-TW" sz="1100" dirty="0" err="1">
                          <a:solidFill>
                            <a:sysClr val="windowText" lastClr="000000"/>
                          </a:solidFill>
                          <a:latin typeface="微軟正黑體" panose="020B0604030504040204" pitchFamily="34" charset="-120"/>
                          <a:ea typeface="微軟正黑體" panose="020B0604030504040204" pitchFamily="34" charset="-120"/>
                        </a:rPr>
                        <a:t>df.head</a:t>
                      </a:r>
                      <a:r>
                        <a:rPr lang="en-US" altLang="zh-TW" sz="1100" dirty="0">
                          <a:solidFill>
                            <a:sysClr val="windowText" lastClr="000000"/>
                          </a:solidFill>
                          <a:latin typeface="微軟正黑體" panose="020B0604030504040204" pitchFamily="34" charset="-120"/>
                          <a:ea typeface="微軟正黑體" panose="020B0604030504040204" pitchFamily="34" charset="-120"/>
                        </a:rPr>
                        <a:t>())</a:t>
                      </a:r>
                      <a:endParaRPr lang="zh-TW" altLang="en-US" sz="1100" dirty="0">
                        <a:solidFill>
                          <a:sysClr val="windowText" lastClr="000000"/>
                        </a:solidFill>
                        <a:latin typeface="微軟正黑體" panose="020B0604030504040204" pitchFamily="34" charset="-120"/>
                        <a:ea typeface="微軟正黑體" panose="020B0604030504040204" pitchFamily="34" charset="-120"/>
                      </a:endParaRPr>
                    </a:p>
                  </a:txBody>
                  <a:tcPr marL="43083" marR="43083" marT="21541" marB="215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3700881"/>
                  </a:ext>
                </a:extLst>
              </a:tr>
            </a:tbl>
          </a:graphicData>
        </a:graphic>
      </p:graphicFrame>
      <p:graphicFrame>
        <p:nvGraphicFramePr>
          <p:cNvPr id="50" name="資料庫圖表 49">
            <a:extLst>
              <a:ext uri="{FF2B5EF4-FFF2-40B4-BE49-F238E27FC236}">
                <a16:creationId xmlns:a16="http://schemas.microsoft.com/office/drawing/2014/main" id="{2F6B0619-4618-55A6-780D-876B0BE1F6C1}"/>
              </a:ext>
            </a:extLst>
          </p:cNvPr>
          <p:cNvGraphicFramePr/>
          <p:nvPr>
            <p:extLst>
              <p:ext uri="{D42A27DB-BD31-4B8C-83A1-F6EECF244321}">
                <p14:modId xmlns:p14="http://schemas.microsoft.com/office/powerpoint/2010/main" val="816997395"/>
              </p:ext>
            </p:extLst>
          </p:nvPr>
        </p:nvGraphicFramePr>
        <p:xfrm>
          <a:off x="5867387" y="717921"/>
          <a:ext cx="5489971" cy="5818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2546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2B0D-04E4-F477-3864-733B3722B4CE}"/>
            </a:ext>
          </a:extLst>
        </p:cNvPr>
        <p:cNvGrpSpPr/>
        <p:nvPr/>
      </p:nvGrpSpPr>
      <p:grpSpPr>
        <a:xfrm>
          <a:off x="0" y="0"/>
          <a:ext cx="0" cy="0"/>
          <a:chOff x="0" y="0"/>
          <a:chExt cx="0" cy="0"/>
        </a:xfrm>
      </p:grpSpPr>
      <p:sp>
        <p:nvSpPr>
          <p:cNvPr id="78" name="文字方塊 77">
            <a:extLst>
              <a:ext uri="{FF2B5EF4-FFF2-40B4-BE49-F238E27FC236}">
                <a16:creationId xmlns:a16="http://schemas.microsoft.com/office/drawing/2014/main" id="{1B8F1F1F-9534-3AAA-5092-5A72D0DEA14E}"/>
              </a:ext>
            </a:extLst>
          </p:cNvPr>
          <p:cNvSpPr txBox="1"/>
          <p:nvPr/>
        </p:nvSpPr>
        <p:spPr>
          <a:xfrm>
            <a:off x="8852971" y="1953984"/>
            <a:ext cx="2996805" cy="4460069"/>
          </a:xfrm>
          <a:prstGeom prst="rect">
            <a:avLst/>
          </a:prstGeom>
          <a:solidFill>
            <a:schemeClr val="tx2">
              <a:lumMod val="20000"/>
              <a:lumOff val="80000"/>
            </a:schemeClr>
          </a:solidFill>
          <a:ln w="19050">
            <a:solidFill>
              <a:schemeClr val="tx1"/>
            </a:solidFill>
            <a:prstDash val="dash"/>
          </a:ln>
        </p:spPr>
        <p:txBody>
          <a:bodyPr wrap="square" rtlCol="0">
            <a:spAutoFit/>
          </a:bodyPr>
          <a:lstStyle/>
          <a:p>
            <a:endParaRPr lang="zh-TW" altLang="en-US" dirty="0"/>
          </a:p>
        </p:txBody>
      </p:sp>
      <p:sp>
        <p:nvSpPr>
          <p:cNvPr id="68" name="文字方塊 67">
            <a:extLst>
              <a:ext uri="{FF2B5EF4-FFF2-40B4-BE49-F238E27FC236}">
                <a16:creationId xmlns:a16="http://schemas.microsoft.com/office/drawing/2014/main" id="{90C0B59A-753E-52E0-6DE2-BDD2B5DB756D}"/>
              </a:ext>
            </a:extLst>
          </p:cNvPr>
          <p:cNvSpPr txBox="1"/>
          <p:nvPr/>
        </p:nvSpPr>
        <p:spPr>
          <a:xfrm>
            <a:off x="437846" y="1962697"/>
            <a:ext cx="2138833" cy="4460069"/>
          </a:xfrm>
          <a:prstGeom prst="rect">
            <a:avLst/>
          </a:prstGeom>
          <a:solidFill>
            <a:schemeClr val="tx2">
              <a:lumMod val="20000"/>
              <a:lumOff val="80000"/>
            </a:schemeClr>
          </a:solidFill>
          <a:ln w="19050">
            <a:solidFill>
              <a:schemeClr val="tx1"/>
            </a:solidFill>
            <a:prstDash val="dash"/>
          </a:ln>
        </p:spPr>
        <p:txBody>
          <a:bodyPr wrap="square" rtlCol="0">
            <a:spAutoFit/>
          </a:bodyPr>
          <a:lstStyle/>
          <a:p>
            <a:endParaRPr lang="zh-TW" altLang="en-US" dirty="0"/>
          </a:p>
        </p:txBody>
      </p:sp>
      <p:sp>
        <p:nvSpPr>
          <p:cNvPr id="7" name="矩形 6">
            <a:extLst>
              <a:ext uri="{FF2B5EF4-FFF2-40B4-BE49-F238E27FC236}">
                <a16:creationId xmlns:a16="http://schemas.microsoft.com/office/drawing/2014/main" id="{DC24A6E3-8281-E75F-D971-D711EA7AE57E}"/>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994F9DCE-26D0-3C1A-A70F-9DEB6179F999}"/>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D2DCA0DC-8D84-0190-84BF-2B8EDC30160E}"/>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C7593FD-0002-9C81-5ED2-8889E6CD028D}"/>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34505FB5-E4C0-1EA4-79FC-C972770E03A2}"/>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2DFB86FB-2A3A-C14A-BB91-D3F065B9CE39}"/>
              </a:ext>
            </a:extLst>
          </p:cNvPr>
          <p:cNvCxnSpPr>
            <a:cxnSpLocks/>
          </p:cNvCxnSpPr>
          <p:nvPr/>
        </p:nvCxnSpPr>
        <p:spPr>
          <a:xfrm flipH="1">
            <a:off x="3578053" y="640758"/>
            <a:ext cx="8221231"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566CA8B5-54C8-D796-B77F-32B09F1FDAB1}"/>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D5B205DB-985B-2AEC-F42F-13EEACAB0CF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6</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D616FDA6-9ED6-4C90-D660-25527AE09EA9}"/>
              </a:ext>
            </a:extLst>
          </p:cNvPr>
          <p:cNvSpPr txBox="1"/>
          <p:nvPr/>
        </p:nvSpPr>
        <p:spPr>
          <a:xfrm>
            <a:off x="1597177" y="414171"/>
            <a:ext cx="1576674"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調整</a:t>
            </a:r>
            <a:r>
              <a:rPr lang="en-US" altLang="zh-TW" sz="2000" b="1" dirty="0">
                <a:latin typeface="微軟正黑體" panose="020B0604030504040204" pitchFamily="34" charset="-120"/>
                <a:ea typeface="微軟正黑體" panose="020B0604030504040204" pitchFamily="34" charset="-120"/>
              </a:rPr>
              <a:t>GitHub</a:t>
            </a:r>
          </a:p>
        </p:txBody>
      </p:sp>
      <p:sp>
        <p:nvSpPr>
          <p:cNvPr id="6" name="Rectangle 2">
            <a:extLst>
              <a:ext uri="{FF2B5EF4-FFF2-40B4-BE49-F238E27FC236}">
                <a16:creationId xmlns:a16="http://schemas.microsoft.com/office/drawing/2014/main" id="{1CE9CB10-1368-6692-AA2A-5A306C3F04AF}"/>
              </a:ext>
            </a:extLst>
          </p:cNvPr>
          <p:cNvSpPr>
            <a:spLocks noChangeArrowheads="1"/>
          </p:cNvSpPr>
          <p:nvPr/>
        </p:nvSpPr>
        <p:spPr bwMode="auto">
          <a:xfrm>
            <a:off x="282227" y="875800"/>
            <a:ext cx="11567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TW" altLang="zh-TW" sz="18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正確流程</a:t>
            </a:r>
            <a:r>
              <a:rPr kumimoji="0" lang="zh-TW"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：不是單純「拿程式跑」，而是理解背後的 pipeline</a:t>
            </a:r>
            <a:r>
              <a:rPr kumimoji="0" lang="zh-TW" altLang="en-US"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，調整成目標架構</a:t>
            </a:r>
            <a:r>
              <a:rPr kumimoji="0" lang="zh-TW" altLang="zh-TW" sz="1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p>
        </p:txBody>
      </p:sp>
      <p:pic>
        <p:nvPicPr>
          <p:cNvPr id="18" name="圖片 17">
            <a:extLst>
              <a:ext uri="{FF2B5EF4-FFF2-40B4-BE49-F238E27FC236}">
                <a16:creationId xmlns:a16="http://schemas.microsoft.com/office/drawing/2014/main" id="{B8C98609-AB30-77D1-CFD5-1DA2A8967BE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491687" y="2096284"/>
            <a:ext cx="961896" cy="1042096"/>
          </a:xfrm>
          <a:prstGeom prst="rect">
            <a:avLst/>
          </a:prstGeom>
        </p:spPr>
      </p:pic>
      <p:sp>
        <p:nvSpPr>
          <p:cNvPr id="22" name="文字方塊 21">
            <a:extLst>
              <a:ext uri="{FF2B5EF4-FFF2-40B4-BE49-F238E27FC236}">
                <a16:creationId xmlns:a16="http://schemas.microsoft.com/office/drawing/2014/main" id="{73B95C20-7624-20D6-26E5-FED2E0D87D85}"/>
              </a:ext>
            </a:extLst>
          </p:cNvPr>
          <p:cNvSpPr txBox="1"/>
          <p:nvPr/>
        </p:nvSpPr>
        <p:spPr>
          <a:xfrm>
            <a:off x="3578053" y="1605733"/>
            <a:ext cx="1314379" cy="307777"/>
          </a:xfrm>
          <a:prstGeom prst="rect">
            <a:avLst/>
          </a:prstGeom>
          <a:solidFill>
            <a:schemeClr val="accent1">
              <a:lumMod val="40000"/>
              <a:lumOff val="60000"/>
            </a:schemeClr>
          </a:solidFill>
        </p:spPr>
        <p:txBody>
          <a:bodyPr wrap="square" rtlCol="0">
            <a:spAutoFit/>
          </a:bodyPr>
          <a:lstStyle/>
          <a:p>
            <a:r>
              <a:rPr lang="en-US" altLang="zh-TW" sz="1400" dirty="0"/>
              <a:t>Pre-processing</a:t>
            </a:r>
            <a:endParaRPr lang="zh-TW" altLang="en-US" sz="1400" dirty="0"/>
          </a:p>
        </p:txBody>
      </p:sp>
      <p:sp>
        <p:nvSpPr>
          <p:cNvPr id="23" name="文字方塊 22">
            <a:extLst>
              <a:ext uri="{FF2B5EF4-FFF2-40B4-BE49-F238E27FC236}">
                <a16:creationId xmlns:a16="http://schemas.microsoft.com/office/drawing/2014/main" id="{747B0500-4E59-E14C-7E8F-49A38AF586EA}"/>
              </a:ext>
            </a:extLst>
          </p:cNvPr>
          <p:cNvSpPr txBox="1"/>
          <p:nvPr/>
        </p:nvSpPr>
        <p:spPr>
          <a:xfrm>
            <a:off x="6546165" y="1654920"/>
            <a:ext cx="899358" cy="307777"/>
          </a:xfrm>
          <a:prstGeom prst="rect">
            <a:avLst/>
          </a:prstGeom>
          <a:solidFill>
            <a:schemeClr val="accent1">
              <a:lumMod val="40000"/>
              <a:lumOff val="60000"/>
            </a:schemeClr>
          </a:solidFill>
        </p:spPr>
        <p:txBody>
          <a:bodyPr wrap="square" rtlCol="0">
            <a:spAutoFit/>
          </a:bodyPr>
          <a:lstStyle/>
          <a:p>
            <a:pPr algn="ctr"/>
            <a:r>
              <a:rPr lang="en-US" altLang="zh-TW" sz="1400" dirty="0"/>
              <a:t>Train</a:t>
            </a:r>
          </a:p>
        </p:txBody>
      </p:sp>
      <p:sp>
        <p:nvSpPr>
          <p:cNvPr id="24" name="文字方塊 23">
            <a:extLst>
              <a:ext uri="{FF2B5EF4-FFF2-40B4-BE49-F238E27FC236}">
                <a16:creationId xmlns:a16="http://schemas.microsoft.com/office/drawing/2014/main" id="{C950F518-5D95-B610-F79F-5C5F021643C7}"/>
              </a:ext>
            </a:extLst>
          </p:cNvPr>
          <p:cNvSpPr txBox="1"/>
          <p:nvPr/>
        </p:nvSpPr>
        <p:spPr>
          <a:xfrm>
            <a:off x="8922156" y="1627387"/>
            <a:ext cx="1229498" cy="307777"/>
          </a:xfrm>
          <a:prstGeom prst="rect">
            <a:avLst/>
          </a:prstGeom>
          <a:solidFill>
            <a:schemeClr val="accent1">
              <a:lumMod val="40000"/>
              <a:lumOff val="60000"/>
            </a:schemeClr>
          </a:solidFill>
        </p:spPr>
        <p:txBody>
          <a:bodyPr wrap="square" rtlCol="0">
            <a:spAutoFit/>
          </a:bodyPr>
          <a:lstStyle/>
          <a:p>
            <a:pPr algn="ctr"/>
            <a:r>
              <a:rPr lang="en-US" altLang="zh-TW" sz="1400" dirty="0"/>
              <a:t>test</a:t>
            </a:r>
            <a:endParaRPr lang="zh-TW" altLang="en-US" sz="1400" dirty="0"/>
          </a:p>
        </p:txBody>
      </p:sp>
      <p:grpSp>
        <p:nvGrpSpPr>
          <p:cNvPr id="25" name="群組 24">
            <a:extLst>
              <a:ext uri="{FF2B5EF4-FFF2-40B4-BE49-F238E27FC236}">
                <a16:creationId xmlns:a16="http://schemas.microsoft.com/office/drawing/2014/main" id="{4DF3B7A2-5AF5-361D-86EF-EBAC259D1526}"/>
              </a:ext>
            </a:extLst>
          </p:cNvPr>
          <p:cNvGrpSpPr/>
          <p:nvPr/>
        </p:nvGrpSpPr>
        <p:grpSpPr>
          <a:xfrm>
            <a:off x="3174005" y="1973573"/>
            <a:ext cx="2138833" cy="4460069"/>
            <a:chOff x="2498570" y="574404"/>
            <a:chExt cx="3167619" cy="6915625"/>
          </a:xfrm>
        </p:grpSpPr>
        <p:sp>
          <p:nvSpPr>
            <p:cNvPr id="26" name="文字方塊 25">
              <a:extLst>
                <a:ext uri="{FF2B5EF4-FFF2-40B4-BE49-F238E27FC236}">
                  <a16:creationId xmlns:a16="http://schemas.microsoft.com/office/drawing/2014/main" id="{5EAF977F-E085-B726-B7A4-9E3CAF58647E}"/>
                </a:ext>
              </a:extLst>
            </p:cNvPr>
            <p:cNvSpPr txBox="1"/>
            <p:nvPr/>
          </p:nvSpPr>
          <p:spPr>
            <a:xfrm>
              <a:off x="2498570" y="574404"/>
              <a:ext cx="3167619" cy="6915625"/>
            </a:xfrm>
            <a:prstGeom prst="rect">
              <a:avLst/>
            </a:prstGeom>
            <a:solidFill>
              <a:schemeClr val="tx2">
                <a:lumMod val="20000"/>
                <a:lumOff val="80000"/>
              </a:schemeClr>
            </a:solidFill>
            <a:ln w="19050">
              <a:solidFill>
                <a:schemeClr val="tx1"/>
              </a:solidFill>
              <a:prstDash val="dash"/>
            </a:ln>
          </p:spPr>
          <p:txBody>
            <a:bodyPr wrap="square" rtlCol="0">
              <a:spAutoFit/>
            </a:bodyPr>
            <a:lstStyle/>
            <a:p>
              <a:endParaRPr lang="zh-TW" altLang="en-US" dirty="0"/>
            </a:p>
          </p:txBody>
        </p:sp>
        <p:sp>
          <p:nvSpPr>
            <p:cNvPr id="27" name="箭號: 向右 26">
              <a:extLst>
                <a:ext uri="{FF2B5EF4-FFF2-40B4-BE49-F238E27FC236}">
                  <a16:creationId xmlns:a16="http://schemas.microsoft.com/office/drawing/2014/main" id="{127FB268-091E-8A80-605B-4BE50503B68F}"/>
                </a:ext>
              </a:extLst>
            </p:cNvPr>
            <p:cNvSpPr/>
            <p:nvPr/>
          </p:nvSpPr>
          <p:spPr>
            <a:xfrm rot="5400000">
              <a:off x="3919981" y="1507948"/>
              <a:ext cx="289369" cy="20318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sp>
          <p:nvSpPr>
            <p:cNvPr id="29" name="文字方塊 28">
              <a:extLst>
                <a:ext uri="{FF2B5EF4-FFF2-40B4-BE49-F238E27FC236}">
                  <a16:creationId xmlns:a16="http://schemas.microsoft.com/office/drawing/2014/main" id="{203C43D7-2DF1-90C2-FEBB-28ACED6EFA6A}"/>
                </a:ext>
              </a:extLst>
            </p:cNvPr>
            <p:cNvSpPr txBox="1"/>
            <p:nvPr/>
          </p:nvSpPr>
          <p:spPr>
            <a:xfrm>
              <a:off x="2686489" y="810173"/>
              <a:ext cx="2711585" cy="667095"/>
            </a:xfrm>
            <a:prstGeom prst="roundRect">
              <a:avLst/>
            </a:prstGeom>
            <a:solidFill>
              <a:schemeClr val="bg1"/>
            </a:solidFill>
            <a:ln w="19050">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偏場校正</a:t>
              </a:r>
            </a:p>
            <a:p>
              <a:endParaRPr lang="en-US" altLang="zh-TW" sz="1000" b="1" dirty="0">
                <a:latin typeface="微軟正黑體" panose="020B0604030504040204" pitchFamily="34" charset="-120"/>
                <a:ea typeface="微軟正黑體" panose="020B0604030504040204" pitchFamily="34" charset="-120"/>
              </a:endParaRPr>
            </a:p>
          </p:txBody>
        </p:sp>
        <p:sp>
          <p:nvSpPr>
            <p:cNvPr id="30" name="文字方塊 29">
              <a:extLst>
                <a:ext uri="{FF2B5EF4-FFF2-40B4-BE49-F238E27FC236}">
                  <a16:creationId xmlns:a16="http://schemas.microsoft.com/office/drawing/2014/main" id="{E9CAB565-B7E9-D74C-63E0-1FA603EECC21}"/>
                </a:ext>
              </a:extLst>
            </p:cNvPr>
            <p:cNvSpPr txBox="1"/>
            <p:nvPr/>
          </p:nvSpPr>
          <p:spPr>
            <a:xfrm>
              <a:off x="2703905" y="1759929"/>
              <a:ext cx="2711582" cy="667095"/>
            </a:xfrm>
            <a:prstGeom prst="roundRect">
              <a:avLst/>
            </a:prstGeom>
            <a:ln w="19050">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重定向到 </a:t>
              </a:r>
              <a:r>
                <a:rPr lang="en-US" altLang="zh-TW" sz="1000" b="1" dirty="0">
                  <a:latin typeface="微軟正黑體" panose="020B0604030504040204" pitchFamily="34" charset="-120"/>
                  <a:ea typeface="微軟正黑體" panose="020B0604030504040204" pitchFamily="34" charset="-120"/>
                </a:rPr>
                <a:t>RAS</a:t>
              </a:r>
            </a:p>
            <a:p>
              <a:endParaRPr lang="en-US" altLang="zh-TW" sz="1000" b="1" dirty="0">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33EF728C-C08A-871D-079C-B267F3BDA7F1}"/>
                </a:ext>
              </a:extLst>
            </p:cNvPr>
            <p:cNvSpPr txBox="1"/>
            <p:nvPr/>
          </p:nvSpPr>
          <p:spPr>
            <a:xfrm>
              <a:off x="2750470" y="2708867"/>
              <a:ext cx="2647603" cy="686395"/>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去顱骨</a:t>
              </a:r>
            </a:p>
            <a:p>
              <a:endParaRPr lang="en-US" altLang="zh-TW" sz="1000" b="1" dirty="0">
                <a:latin typeface="微軟正黑體" panose="020B0604030504040204" pitchFamily="34" charset="-120"/>
                <a:ea typeface="微軟正黑體" panose="020B0604030504040204" pitchFamily="34" charset="-120"/>
              </a:endParaRPr>
            </a:p>
          </p:txBody>
        </p:sp>
        <p:sp>
          <p:nvSpPr>
            <p:cNvPr id="32" name="文字方塊 31">
              <a:extLst>
                <a:ext uri="{FF2B5EF4-FFF2-40B4-BE49-F238E27FC236}">
                  <a16:creationId xmlns:a16="http://schemas.microsoft.com/office/drawing/2014/main" id="{B618A1B7-C740-6963-2147-8D8BA0C13248}"/>
                </a:ext>
              </a:extLst>
            </p:cNvPr>
            <p:cNvSpPr txBox="1"/>
            <p:nvPr/>
          </p:nvSpPr>
          <p:spPr>
            <a:xfrm>
              <a:off x="2742700" y="5576574"/>
              <a:ext cx="2655371" cy="686395"/>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配準到標準模板</a:t>
              </a:r>
              <a:endParaRPr lang="en-US" altLang="zh-TW" sz="1000" b="1" dirty="0">
                <a:latin typeface="微軟正黑體" panose="020B0604030504040204" pitchFamily="34" charset="-120"/>
                <a:ea typeface="微軟正黑體" panose="020B0604030504040204" pitchFamily="34" charset="-120"/>
              </a:endParaRPr>
            </a:p>
            <a:p>
              <a:endParaRPr lang="en-US" altLang="zh-TW" sz="1000" b="1" dirty="0">
                <a:latin typeface="微軟正黑體" panose="020B0604030504040204" pitchFamily="34" charset="-120"/>
                <a:ea typeface="微軟正黑體" panose="020B0604030504040204" pitchFamily="34" charset="-120"/>
              </a:endParaRPr>
            </a:p>
          </p:txBody>
        </p:sp>
        <p:sp>
          <p:nvSpPr>
            <p:cNvPr id="33" name="文字方塊 32">
              <a:extLst>
                <a:ext uri="{FF2B5EF4-FFF2-40B4-BE49-F238E27FC236}">
                  <a16:creationId xmlns:a16="http://schemas.microsoft.com/office/drawing/2014/main" id="{5550B454-2ACB-6804-2455-265AA8BEC525}"/>
                </a:ext>
              </a:extLst>
            </p:cNvPr>
            <p:cNvSpPr txBox="1"/>
            <p:nvPr/>
          </p:nvSpPr>
          <p:spPr>
            <a:xfrm>
              <a:off x="2759397" y="6594598"/>
              <a:ext cx="2655371" cy="686395"/>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強度標準化</a:t>
              </a:r>
              <a:endParaRPr lang="en-US" altLang="zh-TW" sz="1000" b="1" dirty="0">
                <a:latin typeface="微軟正黑體" panose="020B0604030504040204" pitchFamily="34" charset="-120"/>
                <a:ea typeface="微軟正黑體" panose="020B0604030504040204" pitchFamily="34" charset="-120"/>
              </a:endParaRPr>
            </a:p>
            <a:p>
              <a:endParaRPr lang="en-US" altLang="zh-TW" sz="1000" b="1" dirty="0">
                <a:latin typeface="微軟正黑體" panose="020B0604030504040204" pitchFamily="34" charset="-120"/>
                <a:ea typeface="微軟正黑體" panose="020B0604030504040204" pitchFamily="34" charset="-120"/>
              </a:endParaRPr>
            </a:p>
          </p:txBody>
        </p:sp>
        <p:sp>
          <p:nvSpPr>
            <p:cNvPr id="34" name="文字方塊 33">
              <a:extLst>
                <a:ext uri="{FF2B5EF4-FFF2-40B4-BE49-F238E27FC236}">
                  <a16:creationId xmlns:a16="http://schemas.microsoft.com/office/drawing/2014/main" id="{901CD714-9EAA-F6CC-2492-0771DC069B78}"/>
                </a:ext>
              </a:extLst>
            </p:cNvPr>
            <p:cNvSpPr txBox="1"/>
            <p:nvPr/>
          </p:nvSpPr>
          <p:spPr>
            <a:xfrm>
              <a:off x="2742700" y="3624371"/>
              <a:ext cx="2655373" cy="686395"/>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非區域性平均降噪</a:t>
              </a:r>
            </a:p>
          </p:txBody>
        </p:sp>
        <p:sp>
          <p:nvSpPr>
            <p:cNvPr id="35" name="文字方塊 34">
              <a:extLst>
                <a:ext uri="{FF2B5EF4-FFF2-40B4-BE49-F238E27FC236}">
                  <a16:creationId xmlns:a16="http://schemas.microsoft.com/office/drawing/2014/main" id="{F6C283C2-7CC1-7258-404E-1D7A68475577}"/>
                </a:ext>
              </a:extLst>
            </p:cNvPr>
            <p:cNvSpPr txBox="1"/>
            <p:nvPr/>
          </p:nvSpPr>
          <p:spPr>
            <a:xfrm>
              <a:off x="2742699" y="4590877"/>
              <a:ext cx="2655143" cy="68659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重採樣至統一解析度</a:t>
              </a:r>
              <a:endParaRPr lang="en-US" altLang="zh-TW" sz="1000" b="1" dirty="0">
                <a:latin typeface="微軟正黑體" panose="020B0604030504040204" pitchFamily="34" charset="-120"/>
                <a:ea typeface="微軟正黑體" panose="020B0604030504040204" pitchFamily="34" charset="-120"/>
              </a:endParaRPr>
            </a:p>
          </p:txBody>
        </p:sp>
        <p:sp>
          <p:nvSpPr>
            <p:cNvPr id="36" name="箭號: 向右 35">
              <a:extLst>
                <a:ext uri="{FF2B5EF4-FFF2-40B4-BE49-F238E27FC236}">
                  <a16:creationId xmlns:a16="http://schemas.microsoft.com/office/drawing/2014/main" id="{86A43550-DA6E-07EC-A7CF-605FD442CE79}"/>
                </a:ext>
              </a:extLst>
            </p:cNvPr>
            <p:cNvSpPr/>
            <p:nvPr/>
          </p:nvSpPr>
          <p:spPr>
            <a:xfrm rot="5400000">
              <a:off x="3944560" y="2428834"/>
              <a:ext cx="251416" cy="20318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sp>
          <p:nvSpPr>
            <p:cNvPr id="37" name="箭號: 向右 36">
              <a:extLst>
                <a:ext uri="{FF2B5EF4-FFF2-40B4-BE49-F238E27FC236}">
                  <a16:creationId xmlns:a16="http://schemas.microsoft.com/office/drawing/2014/main" id="{AE73DC96-51E5-C338-4DB2-C2A0B841256B}"/>
                </a:ext>
              </a:extLst>
            </p:cNvPr>
            <p:cNvSpPr/>
            <p:nvPr/>
          </p:nvSpPr>
          <p:spPr>
            <a:xfrm rot="5400000">
              <a:off x="3915012" y="3407437"/>
              <a:ext cx="289369" cy="20318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sp>
          <p:nvSpPr>
            <p:cNvPr id="38" name="箭號: 向右 37">
              <a:extLst>
                <a:ext uri="{FF2B5EF4-FFF2-40B4-BE49-F238E27FC236}">
                  <a16:creationId xmlns:a16="http://schemas.microsoft.com/office/drawing/2014/main" id="{0130C1EB-3B56-0559-6025-17D43D3A883C}"/>
                </a:ext>
              </a:extLst>
            </p:cNvPr>
            <p:cNvSpPr/>
            <p:nvPr/>
          </p:nvSpPr>
          <p:spPr>
            <a:xfrm rot="5400000">
              <a:off x="3891257" y="4320217"/>
              <a:ext cx="289369" cy="20318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sp>
          <p:nvSpPr>
            <p:cNvPr id="39" name="箭號: 向右 38">
              <a:extLst>
                <a:ext uri="{FF2B5EF4-FFF2-40B4-BE49-F238E27FC236}">
                  <a16:creationId xmlns:a16="http://schemas.microsoft.com/office/drawing/2014/main" id="{C74A5F45-07E3-8690-B3F6-E70ADC9FFABA}"/>
                </a:ext>
              </a:extLst>
            </p:cNvPr>
            <p:cNvSpPr/>
            <p:nvPr/>
          </p:nvSpPr>
          <p:spPr>
            <a:xfrm rot="5400000">
              <a:off x="3925584" y="5320561"/>
              <a:ext cx="289369" cy="20318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sp>
          <p:nvSpPr>
            <p:cNvPr id="40" name="箭號: 向右 39">
              <a:extLst>
                <a:ext uri="{FF2B5EF4-FFF2-40B4-BE49-F238E27FC236}">
                  <a16:creationId xmlns:a16="http://schemas.microsoft.com/office/drawing/2014/main" id="{C48161AD-FD20-072A-7619-C69E221C6DCF}"/>
                </a:ext>
              </a:extLst>
            </p:cNvPr>
            <p:cNvSpPr/>
            <p:nvPr/>
          </p:nvSpPr>
          <p:spPr>
            <a:xfrm rot="5400000">
              <a:off x="3915013" y="6348323"/>
              <a:ext cx="289369" cy="20318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grpSp>
      <p:sp>
        <p:nvSpPr>
          <p:cNvPr id="41" name="文字方塊 40">
            <a:extLst>
              <a:ext uri="{FF2B5EF4-FFF2-40B4-BE49-F238E27FC236}">
                <a16:creationId xmlns:a16="http://schemas.microsoft.com/office/drawing/2014/main" id="{56A2E107-D4D3-A065-4EA9-AD9F80AC2521}"/>
              </a:ext>
            </a:extLst>
          </p:cNvPr>
          <p:cNvSpPr txBox="1"/>
          <p:nvPr/>
        </p:nvSpPr>
        <p:spPr>
          <a:xfrm>
            <a:off x="568557" y="2191639"/>
            <a:ext cx="683156"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400" b="1" dirty="0">
                <a:latin typeface="Times New Roman" panose="02020603050405020304" pitchFamily="18" charset="0"/>
                <a:cs typeface="Times New Roman" panose="02020603050405020304" pitchFamily="18" charset="0"/>
              </a:rPr>
              <a:t>HGG</a:t>
            </a:r>
            <a:endParaRPr lang="zh-TW" altLang="en-US" sz="1400" b="1" dirty="0">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DDA331CF-948A-3EAE-60D0-1DC4F3892FC9}"/>
              </a:ext>
            </a:extLst>
          </p:cNvPr>
          <p:cNvSpPr txBox="1"/>
          <p:nvPr/>
        </p:nvSpPr>
        <p:spPr>
          <a:xfrm>
            <a:off x="585373" y="3654054"/>
            <a:ext cx="649525"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400" b="1" dirty="0">
                <a:latin typeface="Times New Roman" panose="02020603050405020304" pitchFamily="18" charset="0"/>
                <a:cs typeface="Times New Roman" panose="02020603050405020304" pitchFamily="18" charset="0"/>
              </a:rPr>
              <a:t>LGG</a:t>
            </a:r>
            <a:endParaRPr lang="zh-TW" altLang="en-US" sz="1400" b="1" dirty="0">
              <a:latin typeface="Times New Roman" panose="02020603050405020304" pitchFamily="18" charset="0"/>
              <a:cs typeface="Times New Roman" panose="02020603050405020304" pitchFamily="18" charset="0"/>
            </a:endParaRPr>
          </a:p>
        </p:txBody>
      </p:sp>
      <p:pic>
        <p:nvPicPr>
          <p:cNvPr id="43" name="圖片 42">
            <a:extLst>
              <a:ext uri="{FF2B5EF4-FFF2-40B4-BE49-F238E27FC236}">
                <a16:creationId xmlns:a16="http://schemas.microsoft.com/office/drawing/2014/main" id="{23273134-5435-D0C7-D6F8-DF6BD998D9C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467266" y="3264169"/>
            <a:ext cx="956523" cy="1287984"/>
          </a:xfrm>
          <a:prstGeom prst="rect">
            <a:avLst/>
          </a:prstGeom>
        </p:spPr>
      </p:pic>
      <p:sp>
        <p:nvSpPr>
          <p:cNvPr id="44" name="文字方塊 43">
            <a:extLst>
              <a:ext uri="{FF2B5EF4-FFF2-40B4-BE49-F238E27FC236}">
                <a16:creationId xmlns:a16="http://schemas.microsoft.com/office/drawing/2014/main" id="{3ECF32C9-E813-2DD3-2983-CA5570A91A8A}"/>
              </a:ext>
            </a:extLst>
          </p:cNvPr>
          <p:cNvSpPr txBox="1"/>
          <p:nvPr/>
        </p:nvSpPr>
        <p:spPr>
          <a:xfrm>
            <a:off x="585566" y="5424246"/>
            <a:ext cx="858136" cy="27699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200" b="1" dirty="0" err="1">
                <a:latin typeface="Times New Roman" panose="02020603050405020304" pitchFamily="18" charset="0"/>
                <a:cs typeface="Times New Roman" panose="02020603050405020304" pitchFamily="18" charset="0"/>
              </a:rPr>
              <a:t>No_tumor</a:t>
            </a:r>
            <a:endParaRPr lang="zh-TW" altLang="en-US" sz="1200" b="1" dirty="0">
              <a:latin typeface="Times New Roman" panose="02020603050405020304" pitchFamily="18" charset="0"/>
              <a:cs typeface="Times New Roman" panose="02020603050405020304" pitchFamily="18" charset="0"/>
            </a:endParaRPr>
          </a:p>
        </p:txBody>
      </p:sp>
      <p:pic>
        <p:nvPicPr>
          <p:cNvPr id="45" name="圖片 44">
            <a:extLst>
              <a:ext uri="{FF2B5EF4-FFF2-40B4-BE49-F238E27FC236}">
                <a16:creationId xmlns:a16="http://schemas.microsoft.com/office/drawing/2014/main" id="{613F96A7-314A-9DE9-31B7-FA677A074685}"/>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559067" y="4624327"/>
            <a:ext cx="291571" cy="226754"/>
          </a:xfrm>
          <a:prstGeom prst="rect">
            <a:avLst/>
          </a:prstGeom>
        </p:spPr>
      </p:pic>
      <p:pic>
        <p:nvPicPr>
          <p:cNvPr id="46" name="圖片 45">
            <a:extLst>
              <a:ext uri="{FF2B5EF4-FFF2-40B4-BE49-F238E27FC236}">
                <a16:creationId xmlns:a16="http://schemas.microsoft.com/office/drawing/2014/main" id="{B8A34654-8F73-96F6-F8CD-154DC3610B9F}"/>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559066" y="4912674"/>
            <a:ext cx="291571" cy="226754"/>
          </a:xfrm>
          <a:prstGeom prst="rect">
            <a:avLst/>
          </a:prstGeom>
        </p:spPr>
      </p:pic>
      <p:pic>
        <p:nvPicPr>
          <p:cNvPr id="47" name="圖片 46">
            <a:extLst>
              <a:ext uri="{FF2B5EF4-FFF2-40B4-BE49-F238E27FC236}">
                <a16:creationId xmlns:a16="http://schemas.microsoft.com/office/drawing/2014/main" id="{BBA22E84-B0B7-653F-A9E3-60D6089D3846}"/>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549960" y="5171819"/>
            <a:ext cx="291571" cy="226754"/>
          </a:xfrm>
          <a:prstGeom prst="rect">
            <a:avLst/>
          </a:prstGeom>
        </p:spPr>
      </p:pic>
      <p:pic>
        <p:nvPicPr>
          <p:cNvPr id="48" name="圖片 47">
            <a:extLst>
              <a:ext uri="{FF2B5EF4-FFF2-40B4-BE49-F238E27FC236}">
                <a16:creationId xmlns:a16="http://schemas.microsoft.com/office/drawing/2014/main" id="{9C9320A5-8D42-C2E5-CC49-EE649E2F35F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549960" y="5446870"/>
            <a:ext cx="291571" cy="226754"/>
          </a:xfrm>
          <a:prstGeom prst="rect">
            <a:avLst/>
          </a:prstGeom>
        </p:spPr>
      </p:pic>
      <p:pic>
        <p:nvPicPr>
          <p:cNvPr id="49" name="圖片 48" descr="一張含有 文字, 螢幕擷取畫面, 字型, 文件 的圖片&#10;&#10;AI 產生的內容可能不正確。">
            <a:extLst>
              <a:ext uri="{FF2B5EF4-FFF2-40B4-BE49-F238E27FC236}">
                <a16:creationId xmlns:a16="http://schemas.microsoft.com/office/drawing/2014/main" id="{0A3625CA-DD55-07D7-1DD4-A4E95B51EBF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707278" y="2009692"/>
            <a:ext cx="2354936" cy="4431592"/>
          </a:xfrm>
          <a:prstGeom prst="rect">
            <a:avLst/>
          </a:prstGeom>
        </p:spPr>
      </p:pic>
      <p:sp>
        <p:nvSpPr>
          <p:cNvPr id="50" name="箭號: 向右 49">
            <a:extLst>
              <a:ext uri="{FF2B5EF4-FFF2-40B4-BE49-F238E27FC236}">
                <a16:creationId xmlns:a16="http://schemas.microsoft.com/office/drawing/2014/main" id="{3A1EBAC7-3676-F218-45C1-F00FEB8C63C3}"/>
              </a:ext>
            </a:extLst>
          </p:cNvPr>
          <p:cNvSpPr/>
          <p:nvPr/>
        </p:nvSpPr>
        <p:spPr>
          <a:xfrm>
            <a:off x="5296642" y="4036111"/>
            <a:ext cx="483496" cy="334994"/>
          </a:xfrm>
          <a:prstGeom prst="rightArrow">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1" name="表格 50">
            <a:extLst>
              <a:ext uri="{FF2B5EF4-FFF2-40B4-BE49-F238E27FC236}">
                <a16:creationId xmlns:a16="http://schemas.microsoft.com/office/drawing/2014/main" id="{58FBBD19-8685-19EE-3C82-340D7C69CD72}"/>
              </a:ext>
            </a:extLst>
          </p:cNvPr>
          <p:cNvGraphicFramePr>
            <a:graphicFrameLocks noGrp="1"/>
          </p:cNvGraphicFramePr>
          <p:nvPr>
            <p:extLst>
              <p:ext uri="{D42A27DB-BD31-4B8C-83A1-F6EECF244321}">
                <p14:modId xmlns:p14="http://schemas.microsoft.com/office/powerpoint/2010/main" val="686369222"/>
              </p:ext>
            </p:extLst>
          </p:nvPr>
        </p:nvGraphicFramePr>
        <p:xfrm>
          <a:off x="8247933" y="1973573"/>
          <a:ext cx="366812" cy="4460070"/>
        </p:xfrm>
        <a:graphic>
          <a:graphicData uri="http://schemas.openxmlformats.org/drawingml/2006/table">
            <a:tbl>
              <a:tblPr firstRow="1" bandRow="1">
                <a:tableStyleId>{5C22544A-7EE6-4342-B048-85BDC9FD1C3A}</a:tableStyleId>
              </a:tblPr>
              <a:tblGrid>
                <a:gridCol w="366812">
                  <a:extLst>
                    <a:ext uri="{9D8B030D-6E8A-4147-A177-3AD203B41FA5}">
                      <a16:colId xmlns:a16="http://schemas.microsoft.com/office/drawing/2014/main" val="200603288"/>
                    </a:ext>
                  </a:extLst>
                </a:gridCol>
              </a:tblGrid>
              <a:tr h="743345">
                <a:tc>
                  <a:txBody>
                    <a:bodyPr/>
                    <a:lstStyle/>
                    <a:p>
                      <a:endParaRPr lang="zh-TW" altLang="en-US" dirty="0"/>
                    </a:p>
                  </a:txBody>
                  <a:tcPr/>
                </a:tc>
                <a:extLst>
                  <a:ext uri="{0D108BD9-81ED-4DB2-BD59-A6C34878D82A}">
                    <a16:rowId xmlns:a16="http://schemas.microsoft.com/office/drawing/2014/main" val="3848906162"/>
                  </a:ext>
                </a:extLst>
              </a:tr>
              <a:tr h="743345">
                <a:tc>
                  <a:txBody>
                    <a:bodyPr/>
                    <a:lstStyle/>
                    <a:p>
                      <a:endParaRPr lang="zh-TW" altLang="en-US"/>
                    </a:p>
                  </a:txBody>
                  <a:tcPr/>
                </a:tc>
                <a:extLst>
                  <a:ext uri="{0D108BD9-81ED-4DB2-BD59-A6C34878D82A}">
                    <a16:rowId xmlns:a16="http://schemas.microsoft.com/office/drawing/2014/main" val="3148723275"/>
                  </a:ext>
                </a:extLst>
              </a:tr>
              <a:tr h="743345">
                <a:tc>
                  <a:txBody>
                    <a:bodyPr/>
                    <a:lstStyle/>
                    <a:p>
                      <a:endParaRPr lang="zh-TW" altLang="en-US" dirty="0"/>
                    </a:p>
                  </a:txBody>
                  <a:tcPr/>
                </a:tc>
                <a:extLst>
                  <a:ext uri="{0D108BD9-81ED-4DB2-BD59-A6C34878D82A}">
                    <a16:rowId xmlns:a16="http://schemas.microsoft.com/office/drawing/2014/main" val="2063725611"/>
                  </a:ext>
                </a:extLst>
              </a:tr>
              <a:tr h="743345">
                <a:tc>
                  <a:txBody>
                    <a:bodyPr/>
                    <a:lstStyle/>
                    <a:p>
                      <a:endParaRPr lang="zh-TW" altLang="en-US" dirty="0"/>
                    </a:p>
                  </a:txBody>
                  <a:tcPr/>
                </a:tc>
                <a:extLst>
                  <a:ext uri="{0D108BD9-81ED-4DB2-BD59-A6C34878D82A}">
                    <a16:rowId xmlns:a16="http://schemas.microsoft.com/office/drawing/2014/main" val="1752642229"/>
                  </a:ext>
                </a:extLst>
              </a:tr>
              <a:tr h="743345">
                <a:tc>
                  <a:txBody>
                    <a:bodyPr/>
                    <a:lstStyle/>
                    <a:p>
                      <a:endParaRPr lang="zh-TW" altLang="en-US" dirty="0"/>
                    </a:p>
                  </a:txBody>
                  <a:tcPr/>
                </a:tc>
                <a:extLst>
                  <a:ext uri="{0D108BD9-81ED-4DB2-BD59-A6C34878D82A}">
                    <a16:rowId xmlns:a16="http://schemas.microsoft.com/office/drawing/2014/main" val="3923308597"/>
                  </a:ext>
                </a:extLst>
              </a:tr>
              <a:tr h="743345">
                <a:tc>
                  <a:txBody>
                    <a:bodyPr/>
                    <a:lstStyle/>
                    <a:p>
                      <a:endParaRPr lang="zh-TW" altLang="en-US" dirty="0"/>
                    </a:p>
                  </a:txBody>
                  <a:tcPr/>
                </a:tc>
                <a:extLst>
                  <a:ext uri="{0D108BD9-81ED-4DB2-BD59-A6C34878D82A}">
                    <a16:rowId xmlns:a16="http://schemas.microsoft.com/office/drawing/2014/main" val="3675502827"/>
                  </a:ext>
                </a:extLst>
              </a:tr>
            </a:tbl>
          </a:graphicData>
        </a:graphic>
      </p:graphicFrame>
      <p:pic>
        <p:nvPicPr>
          <p:cNvPr id="52" name="圖片 51">
            <a:extLst>
              <a:ext uri="{FF2B5EF4-FFF2-40B4-BE49-F238E27FC236}">
                <a16:creationId xmlns:a16="http://schemas.microsoft.com/office/drawing/2014/main" id="{8CB6CEB3-01F2-E474-E268-DC1B66736AD4}"/>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8868949" y="2508202"/>
            <a:ext cx="1208449" cy="981681"/>
          </a:xfrm>
          <a:prstGeom prst="rect">
            <a:avLst/>
          </a:prstGeom>
        </p:spPr>
      </p:pic>
      <p:pic>
        <p:nvPicPr>
          <p:cNvPr id="53" name="圖片 52">
            <a:extLst>
              <a:ext uri="{FF2B5EF4-FFF2-40B4-BE49-F238E27FC236}">
                <a16:creationId xmlns:a16="http://schemas.microsoft.com/office/drawing/2014/main" id="{DECC6C47-2281-9BEB-3751-4C93C2EC8190}"/>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8922156" y="3825982"/>
            <a:ext cx="1139877" cy="1009884"/>
          </a:xfrm>
          <a:prstGeom prst="rect">
            <a:avLst/>
          </a:prstGeom>
        </p:spPr>
      </p:pic>
      <p:pic>
        <p:nvPicPr>
          <p:cNvPr id="54" name="圖片 53">
            <a:extLst>
              <a:ext uri="{FF2B5EF4-FFF2-40B4-BE49-F238E27FC236}">
                <a16:creationId xmlns:a16="http://schemas.microsoft.com/office/drawing/2014/main" id="{E4908FD9-8BC5-25E5-A028-1012C7B592B3}"/>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8937521" y="5321215"/>
            <a:ext cx="1139877" cy="1009884"/>
          </a:xfrm>
          <a:prstGeom prst="rect">
            <a:avLst/>
          </a:prstGeom>
        </p:spPr>
      </p:pic>
      <p:pic>
        <p:nvPicPr>
          <p:cNvPr id="55" name="圖片 54">
            <a:extLst>
              <a:ext uri="{FF2B5EF4-FFF2-40B4-BE49-F238E27FC236}">
                <a16:creationId xmlns:a16="http://schemas.microsoft.com/office/drawing/2014/main" id="{691271B7-A11A-CC98-6425-90EBC2A8448C}"/>
              </a:ext>
            </a:extLst>
          </p:cNvPr>
          <p:cNvPicPr>
            <a:picLocks noChangeAspect="1"/>
          </p:cNvPicPr>
          <p:nvPr/>
        </p:nvPicPr>
        <p:blipFill>
          <a:blip r:embed="rId10" cstate="screen">
            <a:extLst>
              <a:ext uri="{28A0092B-C50C-407E-A947-70E740481C1C}">
                <a14:useLocalDpi xmlns:a14="http://schemas.microsoft.com/office/drawing/2010/main"/>
              </a:ext>
            </a:extLst>
          </a:blip>
          <a:srcRect/>
          <a:stretch>
            <a:fillRect/>
          </a:stretch>
        </p:blipFill>
        <p:spPr>
          <a:xfrm>
            <a:off x="1969088" y="4719733"/>
            <a:ext cx="359576" cy="839390"/>
          </a:xfrm>
          <a:prstGeom prst="rect">
            <a:avLst/>
          </a:prstGeom>
        </p:spPr>
      </p:pic>
      <p:sp>
        <p:nvSpPr>
          <p:cNvPr id="56" name="箭號: 向右 55">
            <a:extLst>
              <a:ext uri="{FF2B5EF4-FFF2-40B4-BE49-F238E27FC236}">
                <a16:creationId xmlns:a16="http://schemas.microsoft.com/office/drawing/2014/main" id="{A686B90F-90F0-8E49-1798-FA451262C1CE}"/>
              </a:ext>
            </a:extLst>
          </p:cNvPr>
          <p:cNvSpPr/>
          <p:nvPr/>
        </p:nvSpPr>
        <p:spPr>
          <a:xfrm>
            <a:off x="2600946" y="4036110"/>
            <a:ext cx="572905" cy="334994"/>
          </a:xfrm>
          <a:prstGeom prst="rightArrow">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文字方塊 56">
            <a:extLst>
              <a:ext uri="{FF2B5EF4-FFF2-40B4-BE49-F238E27FC236}">
                <a16:creationId xmlns:a16="http://schemas.microsoft.com/office/drawing/2014/main" id="{30338053-273D-8376-5A03-48DEF7610A81}"/>
              </a:ext>
            </a:extLst>
          </p:cNvPr>
          <p:cNvSpPr txBox="1"/>
          <p:nvPr/>
        </p:nvSpPr>
        <p:spPr>
          <a:xfrm>
            <a:off x="9174774" y="2117375"/>
            <a:ext cx="649379"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400" b="1" dirty="0">
                <a:latin typeface="Times New Roman" panose="02020603050405020304" pitchFamily="18" charset="0"/>
                <a:cs typeface="Times New Roman" panose="02020603050405020304" pitchFamily="18" charset="0"/>
              </a:rPr>
              <a:t>HGG</a:t>
            </a:r>
            <a:endParaRPr lang="zh-TW" altLang="en-US" sz="1400" b="1" dirty="0">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E37A6D56-3FD7-6C69-E0A3-2D9792698609}"/>
              </a:ext>
            </a:extLst>
          </p:cNvPr>
          <p:cNvSpPr txBox="1"/>
          <p:nvPr/>
        </p:nvSpPr>
        <p:spPr>
          <a:xfrm>
            <a:off x="9167404" y="3518205"/>
            <a:ext cx="649379"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400" b="1" dirty="0">
                <a:latin typeface="Times New Roman" panose="02020603050405020304" pitchFamily="18" charset="0"/>
                <a:cs typeface="Times New Roman" panose="02020603050405020304" pitchFamily="18" charset="0"/>
              </a:rPr>
              <a:t>LGG</a:t>
            </a:r>
            <a:endParaRPr lang="zh-TW" altLang="en-US" sz="1400" b="1" dirty="0">
              <a:latin typeface="Times New Roman" panose="02020603050405020304" pitchFamily="18" charset="0"/>
              <a:cs typeface="Times New Roman" panose="02020603050405020304" pitchFamily="18" charset="0"/>
            </a:endParaRPr>
          </a:p>
        </p:txBody>
      </p:sp>
      <p:sp>
        <p:nvSpPr>
          <p:cNvPr id="61" name="文字方塊 60">
            <a:extLst>
              <a:ext uri="{FF2B5EF4-FFF2-40B4-BE49-F238E27FC236}">
                <a16:creationId xmlns:a16="http://schemas.microsoft.com/office/drawing/2014/main" id="{D070B174-5371-015B-03B6-EF821E5C81CE}"/>
              </a:ext>
            </a:extLst>
          </p:cNvPr>
          <p:cNvSpPr txBox="1"/>
          <p:nvPr/>
        </p:nvSpPr>
        <p:spPr>
          <a:xfrm>
            <a:off x="1559066" y="5745798"/>
            <a:ext cx="282466" cy="276999"/>
          </a:xfrm>
          <a:prstGeom prst="rect">
            <a:avLst/>
          </a:prstGeom>
          <a:noFill/>
          <a:ln>
            <a:solidFill>
              <a:schemeClr val="tx1"/>
            </a:solidFill>
          </a:ln>
        </p:spPr>
        <p:txBody>
          <a:bodyPr wrap="square" rtlCol="0">
            <a:spAutoFit/>
          </a:bodyPr>
          <a:lstStyle/>
          <a:p>
            <a:r>
              <a:rPr lang="en-US" altLang="zh-TW" sz="1200" dirty="0"/>
              <a:t>0</a:t>
            </a:r>
            <a:endParaRPr lang="zh-TW" altLang="en-US" sz="1200" dirty="0"/>
          </a:p>
        </p:txBody>
      </p:sp>
      <p:sp>
        <p:nvSpPr>
          <p:cNvPr id="2" name="文字方塊 1">
            <a:extLst>
              <a:ext uri="{FF2B5EF4-FFF2-40B4-BE49-F238E27FC236}">
                <a16:creationId xmlns:a16="http://schemas.microsoft.com/office/drawing/2014/main" id="{E32AAA39-73AB-B06E-8330-B16724187B62}"/>
              </a:ext>
            </a:extLst>
          </p:cNvPr>
          <p:cNvSpPr txBox="1"/>
          <p:nvPr/>
        </p:nvSpPr>
        <p:spPr>
          <a:xfrm>
            <a:off x="9070395" y="5015894"/>
            <a:ext cx="858136" cy="27699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1200" b="1" dirty="0" err="1">
                <a:latin typeface="Times New Roman" panose="02020603050405020304" pitchFamily="18" charset="0"/>
                <a:cs typeface="Times New Roman" panose="02020603050405020304" pitchFamily="18" charset="0"/>
              </a:rPr>
              <a:t>No_tumor</a:t>
            </a:r>
            <a:endParaRPr lang="zh-TW" altLang="en-US" sz="1200" b="1" dirty="0">
              <a:latin typeface="Times New Roman" panose="02020603050405020304" pitchFamily="18" charset="0"/>
              <a:cs typeface="Times New Roman" panose="02020603050405020304" pitchFamily="18" charset="0"/>
            </a:endParaRPr>
          </a:p>
        </p:txBody>
      </p:sp>
      <p:sp>
        <p:nvSpPr>
          <p:cNvPr id="69" name="文字方塊 68">
            <a:extLst>
              <a:ext uri="{FF2B5EF4-FFF2-40B4-BE49-F238E27FC236}">
                <a16:creationId xmlns:a16="http://schemas.microsoft.com/office/drawing/2014/main" id="{1D8E8872-34D3-E41A-CDAF-21D1F4567CDF}"/>
              </a:ext>
            </a:extLst>
          </p:cNvPr>
          <p:cNvSpPr txBox="1"/>
          <p:nvPr/>
        </p:nvSpPr>
        <p:spPr>
          <a:xfrm>
            <a:off x="786512" y="1613774"/>
            <a:ext cx="1314379" cy="307777"/>
          </a:xfrm>
          <a:prstGeom prst="rect">
            <a:avLst/>
          </a:prstGeom>
          <a:solidFill>
            <a:schemeClr val="accent1">
              <a:lumMod val="40000"/>
              <a:lumOff val="60000"/>
            </a:schemeClr>
          </a:solidFill>
        </p:spPr>
        <p:txBody>
          <a:bodyPr wrap="square" rtlCol="0">
            <a:spAutoFit/>
          </a:bodyPr>
          <a:lstStyle/>
          <a:p>
            <a:pPr algn="ctr"/>
            <a:r>
              <a:rPr lang="en-US" altLang="zh-TW" sz="1400" dirty="0"/>
              <a:t>Data</a:t>
            </a:r>
            <a:endParaRPr lang="zh-TW" altLang="en-US" sz="1400" dirty="0"/>
          </a:p>
        </p:txBody>
      </p:sp>
      <p:sp>
        <p:nvSpPr>
          <p:cNvPr id="71" name="矩形 70">
            <a:extLst>
              <a:ext uri="{FF2B5EF4-FFF2-40B4-BE49-F238E27FC236}">
                <a16:creationId xmlns:a16="http://schemas.microsoft.com/office/drawing/2014/main" id="{5C71AF7D-C700-5693-2DA5-981955A55C67}"/>
              </a:ext>
            </a:extLst>
          </p:cNvPr>
          <p:cNvSpPr/>
          <p:nvPr/>
        </p:nvSpPr>
        <p:spPr>
          <a:xfrm>
            <a:off x="10141020" y="2845826"/>
            <a:ext cx="1460961" cy="429576"/>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a:solidFill>
                  <a:schemeClr val="tx1"/>
                </a:solidFill>
              </a:rPr>
              <a:t>Accuracy</a:t>
            </a:r>
          </a:p>
        </p:txBody>
      </p:sp>
      <p:sp>
        <p:nvSpPr>
          <p:cNvPr id="72" name="矩形 71">
            <a:extLst>
              <a:ext uri="{FF2B5EF4-FFF2-40B4-BE49-F238E27FC236}">
                <a16:creationId xmlns:a16="http://schemas.microsoft.com/office/drawing/2014/main" id="{D79636AA-2A66-D0AF-284D-A7032E2D4940}"/>
              </a:ext>
            </a:extLst>
          </p:cNvPr>
          <p:cNvSpPr/>
          <p:nvPr/>
        </p:nvSpPr>
        <p:spPr>
          <a:xfrm>
            <a:off x="10139559" y="3280547"/>
            <a:ext cx="1460961" cy="429330"/>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a:solidFill>
                  <a:schemeClr val="tx1"/>
                </a:solidFill>
              </a:rPr>
              <a:t>Precision</a:t>
            </a:r>
          </a:p>
        </p:txBody>
      </p:sp>
      <p:sp>
        <p:nvSpPr>
          <p:cNvPr id="73" name="矩形 72">
            <a:extLst>
              <a:ext uri="{FF2B5EF4-FFF2-40B4-BE49-F238E27FC236}">
                <a16:creationId xmlns:a16="http://schemas.microsoft.com/office/drawing/2014/main" id="{EFF4BC26-14CD-20B1-07C5-6520A38C1073}"/>
              </a:ext>
            </a:extLst>
          </p:cNvPr>
          <p:cNvSpPr/>
          <p:nvPr/>
        </p:nvSpPr>
        <p:spPr>
          <a:xfrm>
            <a:off x="10139559" y="3723221"/>
            <a:ext cx="1460961" cy="389820"/>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a:solidFill>
                  <a:schemeClr val="tx1"/>
                </a:solidFill>
              </a:rPr>
              <a:t>Recall</a:t>
            </a:r>
          </a:p>
        </p:txBody>
      </p:sp>
      <p:sp>
        <p:nvSpPr>
          <p:cNvPr id="76" name="文字方塊 75">
            <a:extLst>
              <a:ext uri="{FF2B5EF4-FFF2-40B4-BE49-F238E27FC236}">
                <a16:creationId xmlns:a16="http://schemas.microsoft.com/office/drawing/2014/main" id="{92C48756-7E92-B5FA-BD2C-3C2A72C51828}"/>
              </a:ext>
            </a:extLst>
          </p:cNvPr>
          <p:cNvSpPr txBox="1"/>
          <p:nvPr/>
        </p:nvSpPr>
        <p:spPr>
          <a:xfrm>
            <a:off x="10167019" y="1613773"/>
            <a:ext cx="1231200" cy="307777"/>
          </a:xfrm>
          <a:prstGeom prst="rect">
            <a:avLst/>
          </a:prstGeom>
          <a:solidFill>
            <a:schemeClr val="accent1">
              <a:lumMod val="40000"/>
              <a:lumOff val="60000"/>
            </a:schemeClr>
          </a:solidFill>
        </p:spPr>
        <p:txBody>
          <a:bodyPr wrap="square" rtlCol="0">
            <a:spAutoFit/>
          </a:bodyPr>
          <a:lstStyle/>
          <a:p>
            <a:pPr algn="ctr"/>
            <a:r>
              <a:rPr lang="en-US" altLang="zh-TW" sz="1400" dirty="0"/>
              <a:t>Performance</a:t>
            </a:r>
          </a:p>
        </p:txBody>
      </p:sp>
      <p:sp>
        <p:nvSpPr>
          <p:cNvPr id="77" name="矩形 76">
            <a:extLst>
              <a:ext uri="{FF2B5EF4-FFF2-40B4-BE49-F238E27FC236}">
                <a16:creationId xmlns:a16="http://schemas.microsoft.com/office/drawing/2014/main" id="{262F3804-CD03-1851-3D72-B3F6E3D6E18E}"/>
              </a:ext>
            </a:extLst>
          </p:cNvPr>
          <p:cNvSpPr/>
          <p:nvPr/>
        </p:nvSpPr>
        <p:spPr>
          <a:xfrm>
            <a:off x="10139558" y="4105547"/>
            <a:ext cx="1460961" cy="389820"/>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a:solidFill>
                  <a:schemeClr val="tx1"/>
                </a:solidFill>
              </a:rPr>
              <a:t>F1-score</a:t>
            </a:r>
          </a:p>
        </p:txBody>
      </p:sp>
    </p:spTree>
    <p:extLst>
      <p:ext uri="{BB962C8B-B14F-4D97-AF65-F5344CB8AC3E}">
        <p14:creationId xmlns:p14="http://schemas.microsoft.com/office/powerpoint/2010/main" val="1853140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8289-3CBD-0AC7-B60A-28D72512E21A}"/>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05DDC149-8E6A-5F4E-D2B9-09659384ADC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7774E450-3E06-7AAB-F4B2-9D09194FD647}"/>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D3AE8CB-37F3-3445-4EEE-4B2F266B58D1}"/>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D1B953CF-C774-7E01-25A4-1FEF715865D5}"/>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E43E97EB-798A-51E0-56F6-71A5E6DE2861}"/>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97E48662-23D3-5EA6-1C37-218BF53F5B06}"/>
              </a:ext>
            </a:extLst>
          </p:cNvPr>
          <p:cNvCxnSpPr>
            <a:cxnSpLocks/>
            <a:endCxn id="28" idx="3"/>
          </p:cNvCxnSpPr>
          <p:nvPr/>
        </p:nvCxnSpPr>
        <p:spPr>
          <a:xfrm flipH="1">
            <a:off x="4201342" y="640758"/>
            <a:ext cx="7597942"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B0C5CF0-2BCB-E9EC-2E95-639C5048685D}"/>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E4AF426C-D29E-72B7-37B3-FBF48B85730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7</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B335E82E-43C3-9F21-04A0-A90236E99034}"/>
              </a:ext>
            </a:extLst>
          </p:cNvPr>
          <p:cNvSpPr txBox="1"/>
          <p:nvPr/>
        </p:nvSpPr>
        <p:spPr>
          <a:xfrm>
            <a:off x="1237806" y="286815"/>
            <a:ext cx="2963536" cy="707886"/>
          </a:xfrm>
          <a:prstGeom prst="rect">
            <a:avLst/>
          </a:prstGeom>
          <a:noFill/>
        </p:spPr>
        <p:txBody>
          <a:bodyPr wrap="square" rtlCol="0">
            <a:spAutoFit/>
          </a:bodyPr>
          <a:lstStyle/>
          <a:p>
            <a:r>
              <a:rPr lang="zh-TW" altLang="en-US" sz="2400" b="1" dirty="0">
                <a:latin typeface="微軟正黑體" panose="020B0604030504040204" pitchFamily="34" charset="-120"/>
                <a:ea typeface="微軟正黑體" panose="020B0604030504040204" pitchFamily="34" charset="-120"/>
              </a:rPr>
              <a:t>資料前處理與清理</a:t>
            </a:r>
            <a:r>
              <a:rPr lang="en-US" altLang="zh-TW" sz="1600" dirty="0">
                <a:latin typeface="Times New Roman" panose="02020603050405020304" pitchFamily="18" charset="0"/>
                <a:ea typeface="微軟正黑體" panose="020B0604030504040204" pitchFamily="34" charset="-120"/>
                <a:cs typeface="Times New Roman" panose="02020603050405020304" pitchFamily="18" charset="0"/>
              </a:rPr>
              <a:t>Data pre-processing and cleaning</a:t>
            </a:r>
            <a:endParaRPr lang="zh-TW" altLang="en-US" sz="16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4" name="Rectangle 2">
            <a:extLst>
              <a:ext uri="{FF2B5EF4-FFF2-40B4-BE49-F238E27FC236}">
                <a16:creationId xmlns:a16="http://schemas.microsoft.com/office/drawing/2014/main" id="{72373731-5313-2AA2-47CC-03EE743BE95E}"/>
              </a:ext>
            </a:extLst>
          </p:cNvPr>
          <p:cNvSpPr>
            <a:spLocks noChangeArrowheads="1"/>
          </p:cNvSpPr>
          <p:nvPr/>
        </p:nvSpPr>
        <p:spPr bwMode="auto">
          <a:xfrm>
            <a:off x="983703" y="1003007"/>
            <a:ext cx="456567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600" b="1" i="0" u="none" strike="noStrike" cap="none" normalizeH="0" baseline="0" dirty="0">
                <a:ln>
                  <a:noFill/>
                </a:ln>
                <a:solidFill>
                  <a:schemeClr val="tx1"/>
                </a:solidFill>
                <a:effectLst/>
                <a:latin typeface="Arial" panose="020B0604020202020204" pitchFamily="34" charset="0"/>
              </a:rPr>
              <a:t>清理步驟</a:t>
            </a:r>
            <a:r>
              <a:rPr kumimoji="0" lang="zh-TW" altLang="zh-TW" sz="1600" b="0" i="0" u="none" strike="noStrike" cap="none" normalizeH="0" baseline="0" dirty="0">
                <a:ln>
                  <a:noFill/>
                </a:ln>
                <a:solidFill>
                  <a:schemeClr val="tx1"/>
                </a:solidFill>
                <a:effectLst/>
                <a:latin typeface="Arial" panose="020B0604020202020204" pitchFamily="34" charset="0"/>
              </a:rPr>
              <a:t>（簡單介紹）：</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TW" altLang="zh-TW" sz="1600" b="1" i="0" u="none" strike="noStrike" cap="none" normalizeH="0" baseline="0" dirty="0">
                <a:ln>
                  <a:noFill/>
                </a:ln>
                <a:solidFill>
                  <a:schemeClr val="tx1"/>
                </a:solidFill>
                <a:effectLst/>
                <a:latin typeface="Arial" panose="020B0604020202020204" pitchFamily="34" charset="0"/>
              </a:rPr>
              <a:t>影像重取樣</a:t>
            </a:r>
            <a:r>
              <a:rPr kumimoji="0" lang="zh-TW" altLang="zh-TW" sz="1600" b="0" i="0" u="none" strike="noStrike" cap="none" normalizeH="0" baseline="0" dirty="0">
                <a:ln>
                  <a:noFill/>
                </a:ln>
                <a:solidFill>
                  <a:schemeClr val="tx1"/>
                </a:solidFill>
                <a:effectLst/>
                <a:latin typeface="Arial" panose="020B0604020202020204" pitchFamily="34" charset="0"/>
              </a:rPr>
              <a:t> (統一大小)</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TW" altLang="zh-TW" sz="1600" b="1" i="0" u="none" strike="noStrike" cap="none" normalizeH="0" baseline="0" dirty="0">
                <a:ln>
                  <a:noFill/>
                </a:ln>
                <a:solidFill>
                  <a:schemeClr val="tx1"/>
                </a:solidFill>
                <a:effectLst/>
                <a:latin typeface="Arial" panose="020B0604020202020204" pitchFamily="34" charset="0"/>
              </a:rPr>
              <a:t>Bias field correction</a:t>
            </a:r>
            <a:r>
              <a:rPr kumimoji="0" lang="zh-TW" altLang="zh-TW" sz="1600" b="0" i="0" u="none" strike="noStrike" cap="none" normalizeH="0" baseline="0" dirty="0">
                <a:ln>
                  <a:noFill/>
                </a:ln>
                <a:solidFill>
                  <a:schemeClr val="tx1"/>
                </a:solidFill>
                <a:effectLst/>
                <a:latin typeface="Arial" panose="020B0604020202020204" pitchFamily="34" charset="0"/>
              </a:rPr>
              <a:t> (MRI 偏移修正)</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TW" altLang="zh-TW" sz="1600" b="1" i="0" u="none" strike="noStrike" cap="none" normalizeH="0" baseline="0" dirty="0">
                <a:ln>
                  <a:noFill/>
                </a:ln>
                <a:solidFill>
                  <a:schemeClr val="tx1"/>
                </a:solidFill>
                <a:effectLst/>
                <a:latin typeface="Arial" panose="020B0604020202020204" pitchFamily="34" charset="0"/>
              </a:rPr>
              <a:t>Skull stripping</a:t>
            </a:r>
            <a:r>
              <a:rPr kumimoji="0" lang="zh-TW" altLang="zh-TW" sz="1600" b="0" i="0" u="none" strike="noStrike" cap="none" normalizeH="0" baseline="0" dirty="0">
                <a:ln>
                  <a:noFill/>
                </a:ln>
                <a:solidFill>
                  <a:schemeClr val="tx1"/>
                </a:solidFill>
                <a:effectLst/>
                <a:latin typeface="Arial" panose="020B0604020202020204" pitchFamily="34" charset="0"/>
              </a:rPr>
              <a:t> (去除頭骨)</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TW" altLang="zh-TW" sz="1600" b="1" i="0" u="none" strike="noStrike" cap="none" normalizeH="0" baseline="0" dirty="0">
                <a:ln>
                  <a:noFill/>
                </a:ln>
                <a:solidFill>
                  <a:schemeClr val="tx1"/>
                </a:solidFill>
                <a:effectLst/>
                <a:latin typeface="Arial" panose="020B0604020202020204" pitchFamily="34" charset="0"/>
              </a:rPr>
              <a:t>Normalization</a:t>
            </a:r>
            <a:r>
              <a:rPr kumimoji="0" lang="zh-TW" altLang="zh-TW" sz="1600" b="0" i="0" u="none" strike="noStrike" cap="none" normalizeH="0" baseline="0" dirty="0">
                <a:ln>
                  <a:noFill/>
                </a:ln>
                <a:solidFill>
                  <a:schemeClr val="tx1"/>
                </a:solidFill>
                <a:effectLst/>
                <a:latin typeface="Arial" panose="020B0604020202020204" pitchFamily="34" charset="0"/>
              </a:rPr>
              <a:t> (統一灰階範圍)</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600" b="1" i="0" u="none" strike="noStrike" cap="none" normalizeH="0" baseline="0" dirty="0">
                <a:ln>
                  <a:noFill/>
                </a:ln>
                <a:solidFill>
                  <a:schemeClr val="tx1"/>
                </a:solidFill>
                <a:effectLst/>
                <a:latin typeface="Arial" panose="020B0604020202020204" pitchFamily="34" charset="0"/>
              </a:rPr>
              <a:t>目的</a:t>
            </a:r>
            <a:r>
              <a:rPr kumimoji="0" lang="zh-TW" altLang="zh-TW" sz="1600" b="0" i="0" u="none" strike="noStrike" cap="none" normalizeH="0" baseline="0" dirty="0">
                <a:ln>
                  <a:noFill/>
                </a:ln>
                <a:solidFill>
                  <a:schemeClr val="tx1"/>
                </a:solidFill>
                <a:effectLst/>
                <a:latin typeface="Arial" panose="020B0604020202020204" pitchFamily="34" charset="0"/>
              </a:rPr>
              <a:t>：讓資料一致，模型才容易學到有效特徵。</a:t>
            </a:r>
          </a:p>
        </p:txBody>
      </p:sp>
      <p:cxnSp>
        <p:nvCxnSpPr>
          <p:cNvPr id="16" name="直線單箭頭接點 15">
            <a:extLst>
              <a:ext uri="{FF2B5EF4-FFF2-40B4-BE49-F238E27FC236}">
                <a16:creationId xmlns:a16="http://schemas.microsoft.com/office/drawing/2014/main" id="{08DC662B-3B8E-395D-5D6D-A2B089BBAAC6}"/>
              </a:ext>
            </a:extLst>
          </p:cNvPr>
          <p:cNvCxnSpPr/>
          <p:nvPr/>
        </p:nvCxnSpPr>
        <p:spPr>
          <a:xfrm>
            <a:off x="2676859" y="3700756"/>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7" name="文字方塊 16">
            <a:extLst>
              <a:ext uri="{FF2B5EF4-FFF2-40B4-BE49-F238E27FC236}">
                <a16:creationId xmlns:a16="http://schemas.microsoft.com/office/drawing/2014/main" id="{44E58B67-CA77-2597-F26F-65150003AAB5}"/>
              </a:ext>
            </a:extLst>
          </p:cNvPr>
          <p:cNvSpPr txBox="1"/>
          <p:nvPr/>
        </p:nvSpPr>
        <p:spPr>
          <a:xfrm>
            <a:off x="2613642" y="3115981"/>
            <a:ext cx="1109937" cy="523220"/>
          </a:xfrm>
          <a:prstGeom prst="rect">
            <a:avLst/>
          </a:prstGeom>
          <a:noFill/>
        </p:spPr>
        <p:txBody>
          <a:bodyPr wrap="square" rtlCol="0">
            <a:spAutoFit/>
          </a:bodyPr>
          <a:lstStyle/>
          <a:p>
            <a:r>
              <a:rPr lang="en-US" altLang="zh-TW" sz="1400" b="1" dirty="0"/>
              <a:t>Bias Field Correction</a:t>
            </a:r>
            <a:endParaRPr lang="zh-TW" altLang="en-US" sz="1400" b="1" dirty="0"/>
          </a:p>
        </p:txBody>
      </p:sp>
      <p:pic>
        <p:nvPicPr>
          <p:cNvPr id="18" name="圖片 17">
            <a:extLst>
              <a:ext uri="{FF2B5EF4-FFF2-40B4-BE49-F238E27FC236}">
                <a16:creationId xmlns:a16="http://schemas.microsoft.com/office/drawing/2014/main" id="{E9BEB750-C7E6-8018-344A-A46BDCD56BC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708833" y="2762174"/>
            <a:ext cx="1945802" cy="1664501"/>
          </a:xfrm>
          <a:prstGeom prst="rect">
            <a:avLst/>
          </a:prstGeom>
        </p:spPr>
      </p:pic>
      <p:pic>
        <p:nvPicPr>
          <p:cNvPr id="19" name="圖片 18">
            <a:extLst>
              <a:ext uri="{FF2B5EF4-FFF2-40B4-BE49-F238E27FC236}">
                <a16:creationId xmlns:a16="http://schemas.microsoft.com/office/drawing/2014/main" id="{AC290DCE-A0DC-930C-8755-C8758FAD5DD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719706" y="2762175"/>
            <a:ext cx="1899874" cy="1664499"/>
          </a:xfrm>
          <a:prstGeom prst="rect">
            <a:avLst/>
          </a:prstGeom>
        </p:spPr>
      </p:pic>
      <p:cxnSp>
        <p:nvCxnSpPr>
          <p:cNvPr id="21" name="直線單箭頭接點 20">
            <a:extLst>
              <a:ext uri="{FF2B5EF4-FFF2-40B4-BE49-F238E27FC236}">
                <a16:creationId xmlns:a16="http://schemas.microsoft.com/office/drawing/2014/main" id="{5EA53232-878F-DF99-2A8A-C861A39F853E}"/>
              </a:ext>
            </a:extLst>
          </p:cNvPr>
          <p:cNvCxnSpPr/>
          <p:nvPr/>
        </p:nvCxnSpPr>
        <p:spPr>
          <a:xfrm>
            <a:off x="8319227" y="3550658"/>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22" name="圖片 21">
            <a:extLst>
              <a:ext uri="{FF2B5EF4-FFF2-40B4-BE49-F238E27FC236}">
                <a16:creationId xmlns:a16="http://schemas.microsoft.com/office/drawing/2014/main" id="{2D19CEEB-25FE-BE7D-F39E-7054ED24548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9502255" y="2754395"/>
            <a:ext cx="1977601" cy="1672279"/>
          </a:xfrm>
          <a:prstGeom prst="rect">
            <a:avLst/>
          </a:prstGeom>
        </p:spPr>
      </p:pic>
      <p:pic>
        <p:nvPicPr>
          <p:cNvPr id="23" name="圖片 22">
            <a:extLst>
              <a:ext uri="{FF2B5EF4-FFF2-40B4-BE49-F238E27FC236}">
                <a16:creationId xmlns:a16="http://schemas.microsoft.com/office/drawing/2014/main" id="{5FBCF09B-24AE-4F60-99BC-4CA3C6374821}"/>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267520" y="2762173"/>
            <a:ext cx="1978553" cy="1664503"/>
          </a:xfrm>
          <a:prstGeom prst="rect">
            <a:avLst/>
          </a:prstGeom>
        </p:spPr>
      </p:pic>
      <p:sp>
        <p:nvSpPr>
          <p:cNvPr id="24" name="文字方塊 23">
            <a:extLst>
              <a:ext uri="{FF2B5EF4-FFF2-40B4-BE49-F238E27FC236}">
                <a16:creationId xmlns:a16="http://schemas.microsoft.com/office/drawing/2014/main" id="{1DD1C3CE-7B13-BF1B-1F09-5A4086E931CE}"/>
              </a:ext>
            </a:extLst>
          </p:cNvPr>
          <p:cNvSpPr txBox="1"/>
          <p:nvPr/>
        </p:nvSpPr>
        <p:spPr>
          <a:xfrm>
            <a:off x="8412051" y="2705138"/>
            <a:ext cx="970460" cy="738664"/>
          </a:xfrm>
          <a:prstGeom prst="rect">
            <a:avLst/>
          </a:prstGeom>
          <a:noFill/>
        </p:spPr>
        <p:txBody>
          <a:bodyPr wrap="square" rtlCol="0">
            <a:spAutoFit/>
          </a:bodyPr>
          <a:lstStyle/>
          <a:p>
            <a:r>
              <a:rPr lang="en-US" altLang="zh-TW" sz="1400" b="1" dirty="0"/>
              <a:t>Skull </a:t>
            </a:r>
            <a:r>
              <a:rPr lang="en-US" altLang="zh-TW" sz="1400" b="1" dirty="0" err="1"/>
              <a:t>Stripping+RAS</a:t>
            </a:r>
            <a:endParaRPr lang="zh-TW" altLang="en-US" sz="1400" b="1" dirty="0"/>
          </a:p>
        </p:txBody>
      </p:sp>
      <p:pic>
        <p:nvPicPr>
          <p:cNvPr id="26" name="圖片 25">
            <a:extLst>
              <a:ext uri="{FF2B5EF4-FFF2-40B4-BE49-F238E27FC236}">
                <a16:creationId xmlns:a16="http://schemas.microsoft.com/office/drawing/2014/main" id="{EBE91ACE-676E-ADA9-BFC1-4EDAD2410A7F}"/>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3711625" y="4708507"/>
            <a:ext cx="1943010" cy="1664504"/>
          </a:xfrm>
          <a:prstGeom prst="rect">
            <a:avLst/>
          </a:prstGeom>
        </p:spPr>
      </p:pic>
      <p:pic>
        <p:nvPicPr>
          <p:cNvPr id="27" name="圖片 26">
            <a:extLst>
              <a:ext uri="{FF2B5EF4-FFF2-40B4-BE49-F238E27FC236}">
                <a16:creationId xmlns:a16="http://schemas.microsoft.com/office/drawing/2014/main" id="{EB1A7773-AD4E-1EC5-A1BD-807AEAC73E63}"/>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719706" y="4708513"/>
            <a:ext cx="1868894" cy="1664841"/>
          </a:xfrm>
          <a:prstGeom prst="rect">
            <a:avLst/>
          </a:prstGeom>
        </p:spPr>
      </p:pic>
      <p:cxnSp>
        <p:nvCxnSpPr>
          <p:cNvPr id="29" name="直線單箭頭接點 28">
            <a:extLst>
              <a:ext uri="{FF2B5EF4-FFF2-40B4-BE49-F238E27FC236}">
                <a16:creationId xmlns:a16="http://schemas.microsoft.com/office/drawing/2014/main" id="{A7FB0CDE-DAC7-F69A-A8AF-ECDF0738DBC3}"/>
              </a:ext>
            </a:extLst>
          </p:cNvPr>
          <p:cNvCxnSpPr/>
          <p:nvPr/>
        </p:nvCxnSpPr>
        <p:spPr>
          <a:xfrm>
            <a:off x="2679765" y="5628747"/>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文字方塊 29">
            <a:extLst>
              <a:ext uri="{FF2B5EF4-FFF2-40B4-BE49-F238E27FC236}">
                <a16:creationId xmlns:a16="http://schemas.microsoft.com/office/drawing/2014/main" id="{B9A13143-759D-C946-96F1-F14283251C87}"/>
              </a:ext>
            </a:extLst>
          </p:cNvPr>
          <p:cNvSpPr txBox="1"/>
          <p:nvPr/>
        </p:nvSpPr>
        <p:spPr>
          <a:xfrm>
            <a:off x="2552248" y="5258629"/>
            <a:ext cx="1181852" cy="307777"/>
          </a:xfrm>
          <a:prstGeom prst="rect">
            <a:avLst/>
          </a:prstGeom>
          <a:noFill/>
        </p:spPr>
        <p:txBody>
          <a:bodyPr wrap="square" rtlCol="0">
            <a:spAutoFit/>
          </a:bodyPr>
          <a:lstStyle/>
          <a:p>
            <a:r>
              <a:rPr lang="en-US" altLang="zh-TW" sz="1400" b="1" dirty="0"/>
              <a:t>Resampling</a:t>
            </a:r>
            <a:endParaRPr lang="zh-TW" altLang="en-US" sz="1400" b="1" dirty="0"/>
          </a:p>
        </p:txBody>
      </p:sp>
      <p:sp>
        <p:nvSpPr>
          <p:cNvPr id="31" name="文字方塊 30">
            <a:extLst>
              <a:ext uri="{FF2B5EF4-FFF2-40B4-BE49-F238E27FC236}">
                <a16:creationId xmlns:a16="http://schemas.microsoft.com/office/drawing/2014/main" id="{4755ADC6-2A5E-7200-A2B6-94DB984DFDCA}"/>
              </a:ext>
            </a:extLst>
          </p:cNvPr>
          <p:cNvSpPr txBox="1"/>
          <p:nvPr/>
        </p:nvSpPr>
        <p:spPr>
          <a:xfrm>
            <a:off x="2164320" y="6003681"/>
            <a:ext cx="387928" cy="369332"/>
          </a:xfrm>
          <a:prstGeom prst="rect">
            <a:avLst/>
          </a:prstGeom>
          <a:noFill/>
          <a:ln w="28575">
            <a:solidFill>
              <a:srgbClr val="FF0000"/>
            </a:solidFill>
          </a:ln>
        </p:spPr>
        <p:txBody>
          <a:bodyPr wrap="square" rtlCol="0">
            <a:spAutoFit/>
          </a:bodyPr>
          <a:lstStyle/>
          <a:p>
            <a:endParaRPr lang="zh-TW" altLang="en-US" dirty="0"/>
          </a:p>
        </p:txBody>
      </p:sp>
      <p:sp>
        <p:nvSpPr>
          <p:cNvPr id="32" name="文字方塊 31">
            <a:extLst>
              <a:ext uri="{FF2B5EF4-FFF2-40B4-BE49-F238E27FC236}">
                <a16:creationId xmlns:a16="http://schemas.microsoft.com/office/drawing/2014/main" id="{66A32889-D2C2-B756-BB61-C784DA4C0DF6}"/>
              </a:ext>
            </a:extLst>
          </p:cNvPr>
          <p:cNvSpPr txBox="1"/>
          <p:nvPr/>
        </p:nvSpPr>
        <p:spPr>
          <a:xfrm>
            <a:off x="5266707" y="6003678"/>
            <a:ext cx="387928" cy="369332"/>
          </a:xfrm>
          <a:prstGeom prst="rect">
            <a:avLst/>
          </a:prstGeom>
          <a:noFill/>
          <a:ln w="28575">
            <a:solidFill>
              <a:srgbClr val="FF0000"/>
            </a:solidFill>
          </a:ln>
        </p:spPr>
        <p:txBody>
          <a:bodyPr wrap="square" rtlCol="0">
            <a:spAutoFit/>
          </a:bodyPr>
          <a:lstStyle/>
          <a:p>
            <a:endParaRPr lang="zh-TW" altLang="en-US" dirty="0"/>
          </a:p>
        </p:txBody>
      </p:sp>
      <p:pic>
        <p:nvPicPr>
          <p:cNvPr id="33" name="圖片 32">
            <a:extLst>
              <a:ext uri="{FF2B5EF4-FFF2-40B4-BE49-F238E27FC236}">
                <a16:creationId xmlns:a16="http://schemas.microsoft.com/office/drawing/2014/main" id="{0E49C557-17C4-5943-4952-0DBABA028B20}"/>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9533598" y="4700733"/>
            <a:ext cx="1946258" cy="1664497"/>
          </a:xfrm>
          <a:prstGeom prst="rect">
            <a:avLst/>
          </a:prstGeom>
        </p:spPr>
      </p:pic>
      <p:pic>
        <p:nvPicPr>
          <p:cNvPr id="34" name="圖片 33">
            <a:extLst>
              <a:ext uri="{FF2B5EF4-FFF2-40B4-BE49-F238E27FC236}">
                <a16:creationId xmlns:a16="http://schemas.microsoft.com/office/drawing/2014/main" id="{1C1F3399-0ABD-460A-A6E6-E3F2194690D7}"/>
              </a:ext>
            </a:extLst>
          </p:cNvPr>
          <p:cNvPicPr>
            <a:picLocks noChangeAspect="1"/>
          </p:cNvPicPr>
          <p:nvPr/>
        </p:nvPicPr>
        <p:blipFill>
          <a:blip r:embed="rId10" cstate="screen">
            <a:extLst>
              <a:ext uri="{28A0092B-C50C-407E-A947-70E740481C1C}">
                <a14:useLocalDpi xmlns:a14="http://schemas.microsoft.com/office/drawing/2010/main"/>
              </a:ext>
            </a:extLst>
          </a:blip>
          <a:srcRect/>
          <a:stretch>
            <a:fillRect/>
          </a:stretch>
        </p:blipFill>
        <p:spPr>
          <a:xfrm>
            <a:off x="6267520" y="4700727"/>
            <a:ext cx="1979261" cy="1664504"/>
          </a:xfrm>
          <a:prstGeom prst="rect">
            <a:avLst/>
          </a:prstGeom>
        </p:spPr>
      </p:pic>
      <p:cxnSp>
        <p:nvCxnSpPr>
          <p:cNvPr id="35" name="直線單箭頭接點 34">
            <a:extLst>
              <a:ext uri="{FF2B5EF4-FFF2-40B4-BE49-F238E27FC236}">
                <a16:creationId xmlns:a16="http://schemas.microsoft.com/office/drawing/2014/main" id="{43B90A0E-F525-30C4-7619-3F99ACD5B183}"/>
              </a:ext>
            </a:extLst>
          </p:cNvPr>
          <p:cNvCxnSpPr/>
          <p:nvPr/>
        </p:nvCxnSpPr>
        <p:spPr>
          <a:xfrm>
            <a:off x="8392381" y="5557526"/>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6" name="文字方塊 35">
            <a:extLst>
              <a:ext uri="{FF2B5EF4-FFF2-40B4-BE49-F238E27FC236}">
                <a16:creationId xmlns:a16="http://schemas.microsoft.com/office/drawing/2014/main" id="{EBA1DC41-AF12-846E-554C-777989C3D236}"/>
              </a:ext>
            </a:extLst>
          </p:cNvPr>
          <p:cNvSpPr txBox="1"/>
          <p:nvPr/>
        </p:nvSpPr>
        <p:spPr>
          <a:xfrm>
            <a:off x="8234551" y="5066184"/>
            <a:ext cx="1299047" cy="307777"/>
          </a:xfrm>
          <a:prstGeom prst="rect">
            <a:avLst/>
          </a:prstGeom>
          <a:noFill/>
        </p:spPr>
        <p:txBody>
          <a:bodyPr wrap="square" rtlCol="0">
            <a:spAutoFit/>
          </a:bodyPr>
          <a:lstStyle/>
          <a:p>
            <a:r>
              <a:rPr lang="en-US" altLang="zh-TW" sz="1400" b="1" dirty="0"/>
              <a:t>Normalization</a:t>
            </a:r>
            <a:endParaRPr lang="zh-TW" altLang="en-US" sz="1400" b="1"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5A195674-02EE-854B-9AF3-D2C10B36A212}"/>
              </a:ext>
            </a:extLst>
          </p:cNvPr>
          <p:cNvSpPr txBox="1"/>
          <p:nvPr/>
        </p:nvSpPr>
        <p:spPr>
          <a:xfrm>
            <a:off x="7029666" y="6361349"/>
            <a:ext cx="5246833" cy="369332"/>
          </a:xfrm>
          <a:prstGeom prst="rect">
            <a:avLst/>
          </a:prstGeom>
          <a:noFill/>
        </p:spPr>
        <p:txBody>
          <a:bodyPr wrap="square">
            <a:spAutoFit/>
          </a:bodyPr>
          <a:lstStyle/>
          <a:p>
            <a:r>
              <a:rPr lang="en-US" altLang="zh-TW" dirty="0">
                <a:hlinkClick r:id="rId11" action="ppaction://hlinkfile"/>
              </a:rPr>
              <a:t>\\140.125.20.143\EL405 share\</a:t>
            </a:r>
            <a:r>
              <a:rPr lang="zh-TW" altLang="en-US" dirty="0">
                <a:hlinkClick r:id="rId11" action="ppaction://hlinkfile"/>
              </a:rPr>
              <a:t>學諺與</a:t>
            </a:r>
            <a:r>
              <a:rPr lang="en-US" altLang="zh-TW" dirty="0">
                <a:hlinkClick r:id="rId11" action="ppaction://hlinkfile"/>
              </a:rPr>
              <a:t>EL405</a:t>
            </a:r>
            <a:r>
              <a:rPr lang="zh-TW" altLang="en-US" dirty="0">
                <a:hlinkClick r:id="rId11" action="ppaction://hlinkfile"/>
              </a:rPr>
              <a:t>的產物</a:t>
            </a:r>
            <a:endParaRPr lang="zh-TW" altLang="en-US" dirty="0"/>
          </a:p>
        </p:txBody>
      </p:sp>
    </p:spTree>
    <p:extLst>
      <p:ext uri="{BB962C8B-B14F-4D97-AF65-F5344CB8AC3E}">
        <p14:creationId xmlns:p14="http://schemas.microsoft.com/office/powerpoint/2010/main" val="31618269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101C-A5FC-1D07-3341-2AA0EB65FB93}"/>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4272796-2AD2-11C0-2BEF-5A658901A236}"/>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2C292F88-AFCE-55F2-A424-CF04885FB964}"/>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858BC3C-D0B0-85B8-DC86-1DF7F49E0EC2}"/>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1D05228-1F0F-B0DE-C300-9EFA9B69BCB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917F747C-49B9-1A52-499E-01C378DFA696}"/>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74563F01-4981-1671-24C3-E197CB601E7F}"/>
              </a:ext>
            </a:extLst>
          </p:cNvPr>
          <p:cNvCxnSpPr>
            <a:cxnSpLocks/>
          </p:cNvCxnSpPr>
          <p:nvPr/>
        </p:nvCxnSpPr>
        <p:spPr>
          <a:xfrm flipH="1">
            <a:off x="3313568" y="489235"/>
            <a:ext cx="8733042" cy="47568"/>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16D3790-9216-D640-3247-6F7E6794AC1E}"/>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520CA46A-D872-7794-5CEB-C4675F020E68}"/>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8</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F33D1954-9474-55E4-262B-DD6E9DDC5055}"/>
              </a:ext>
            </a:extLst>
          </p:cNvPr>
          <p:cNvSpPr txBox="1"/>
          <p:nvPr/>
        </p:nvSpPr>
        <p:spPr>
          <a:xfrm>
            <a:off x="1439775" y="336748"/>
            <a:ext cx="1609194" cy="400110"/>
          </a:xfrm>
          <a:prstGeom prst="rect">
            <a:avLst/>
          </a:prstGeom>
          <a:noFill/>
        </p:spPr>
        <p:txBody>
          <a:bodyPr wrap="square" rtlCol="0">
            <a:spAutoFit/>
          </a:bodyPr>
          <a:lstStyle/>
          <a:p>
            <a:pPr algn="ctr"/>
            <a:r>
              <a:rPr lang="en-US" altLang="zh-TW" sz="2000" b="1" dirty="0">
                <a:latin typeface="微軟正黑體" panose="020B0604030504040204" pitchFamily="34" charset="-120"/>
                <a:ea typeface="微軟正黑體" panose="020B0604030504040204" pitchFamily="34" charset="-120"/>
              </a:rPr>
              <a:t>CNN</a:t>
            </a:r>
            <a:r>
              <a:rPr lang="zh-TW" altLang="en-US" sz="2000" b="1" dirty="0">
                <a:latin typeface="微軟正黑體" panose="020B0604030504040204" pitchFamily="34" charset="-120"/>
                <a:ea typeface="微軟正黑體" panose="020B0604030504040204" pitchFamily="34" charset="-120"/>
              </a:rPr>
              <a:t>架構</a:t>
            </a:r>
            <a:endParaRPr lang="en-US" altLang="zh-TW" sz="2000" b="1"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A8856A7-2C0C-6A0E-05B9-3E5B8D150BBB}"/>
                  </a:ext>
                </a:extLst>
              </p:cNvPr>
              <p:cNvSpPr txBox="1"/>
              <p:nvPr/>
            </p:nvSpPr>
            <p:spPr>
              <a:xfrm>
                <a:off x="2585002" y="3198855"/>
                <a:ext cx="2507320" cy="1278235"/>
              </a:xfrm>
              <a:prstGeom prst="rect">
                <a:avLst/>
              </a:prstGeom>
              <a:noFill/>
            </p:spPr>
            <p:txBody>
              <a:bodyPr wrap="square">
                <a:spAutoFit/>
              </a:bodyPr>
              <a:lstStyle/>
              <a:p>
                <a:pPr>
                  <a:buNone/>
                </a:pPr>
                <a:r>
                  <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rPr>
                  <a:t>Convolutional Layer</a:t>
                </a:r>
              </a:p>
              <a:p>
                <a:pPr>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使用 卷積核 </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(Filter) </a:t>
                </a: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提取特徵</a:t>
                </a:r>
              </a:p>
              <a:p>
                <a:pPr>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偵測邊緣、顏色、紋理、形狀等</a:t>
                </a:r>
              </a:p>
              <a:p>
                <a:pPr>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公式：</a:t>
                </a:r>
              </a:p>
              <a:p>
                <a:pPr>
                  <a:buNone/>
                </a:pPr>
                <a14:m>
                  <m:oMathPara xmlns:m="http://schemas.openxmlformats.org/officeDocument/2006/math">
                    <m:oMathParaPr>
                      <m:jc m:val="centerGroup"/>
                    </m:oMathParaPr>
                    <m:oMath xmlns:m="http://schemas.openxmlformats.org/officeDocument/2006/math">
                      <m:d>
                        <m:dPr>
                          <m:ctrlPr>
                            <a:rPr lang="ar-AE" altLang="zh-TW" sz="1200" b="1" i="1">
                              <a:latin typeface="Cambria Math" panose="02040503050406030204" pitchFamily="18" charset="0"/>
                            </a:rPr>
                          </m:ctrlPr>
                        </m:dPr>
                        <m:e>
                          <m:r>
                            <a:rPr lang="zh-TW" altLang="ar-AE" sz="1200" b="1">
                              <a:latin typeface="Cambria Math" panose="02040503050406030204" pitchFamily="18" charset="0"/>
                            </a:rPr>
                            <m:t>𝑓</m:t>
                          </m:r>
                          <m:r>
                            <a:rPr lang="ar-AE" altLang="zh-TW" sz="1200" b="1">
                              <a:latin typeface="Cambria Math" panose="02040503050406030204" pitchFamily="18" charset="0"/>
                            </a:rPr>
                            <m:t>∗</m:t>
                          </m:r>
                          <m:r>
                            <a:rPr lang="zh-TW" altLang="ar-AE" sz="1200" b="1">
                              <a:latin typeface="Cambria Math" panose="02040503050406030204" pitchFamily="18" charset="0"/>
                            </a:rPr>
                            <m:t>𝑥</m:t>
                          </m:r>
                        </m:e>
                      </m:d>
                      <m:d>
                        <m:dPr>
                          <m:ctrlPr>
                            <a:rPr lang="ar-AE" altLang="zh-TW" sz="1200" b="1" i="1">
                              <a:latin typeface="Cambria Math" panose="02040503050406030204" pitchFamily="18" charset="0"/>
                            </a:rPr>
                          </m:ctrlPr>
                        </m:dPr>
                        <m:e>
                          <m:r>
                            <a:rPr lang="zh-TW" altLang="ar-AE" sz="1200" b="1">
                              <a:latin typeface="Cambria Math" panose="02040503050406030204" pitchFamily="18" charset="0"/>
                            </a:rPr>
                            <m:t>𝑡</m:t>
                          </m:r>
                        </m:e>
                      </m:d>
                      <m:r>
                        <a:rPr lang="ar-AE" altLang="zh-TW" sz="1200" b="1">
                          <a:latin typeface="Cambria Math" panose="02040503050406030204" pitchFamily="18" charset="0"/>
                        </a:rPr>
                        <m:t>=</m:t>
                      </m:r>
                      <m:nary>
                        <m:naryPr>
                          <m:chr m:val="∑"/>
                          <m:grow m:val="on"/>
                          <m:subHide m:val="on"/>
                          <m:supHide m:val="on"/>
                          <m:ctrlPr>
                            <a:rPr lang="ar-AE" altLang="zh-TW" sz="1200" b="1" i="1">
                              <a:latin typeface="Cambria Math" panose="02040503050406030204" pitchFamily="18" charset="0"/>
                            </a:rPr>
                          </m:ctrlPr>
                        </m:naryPr>
                        <m:sub/>
                        <m:sup/>
                        <m:e>
                          <m:r>
                            <a:rPr lang="zh-TW" altLang="ar-AE" sz="1200" b="1">
                              <a:latin typeface="Cambria Math" panose="02040503050406030204" pitchFamily="18" charset="0"/>
                            </a:rPr>
                            <m:t>𝑥</m:t>
                          </m:r>
                        </m:e>
                      </m:nary>
                      <m:r>
                        <a:rPr lang="ar-AE" altLang="zh-TW" sz="1200" b="1">
                          <a:latin typeface="Cambria Math" panose="02040503050406030204" pitchFamily="18" charset="0"/>
                        </a:rPr>
                        <m:t>⋅</m:t>
                      </m:r>
                      <m:r>
                        <a:rPr lang="zh-TW" altLang="ar-AE" sz="1200" b="1">
                          <a:latin typeface="Cambria Math" panose="02040503050406030204" pitchFamily="18" charset="0"/>
                        </a:rPr>
                        <m:t>𝑤</m:t>
                      </m:r>
                      <m:r>
                        <a:rPr lang="ar-AE" altLang="zh-TW" sz="1200" b="1">
                          <a:latin typeface="Cambria Math" panose="02040503050406030204" pitchFamily="18" charset="0"/>
                        </a:rPr>
                        <m:t>+</m:t>
                      </m:r>
                      <m:r>
                        <a:rPr lang="zh-TW" altLang="ar-AE" sz="1200" b="1">
                          <a:latin typeface="Cambria Math" panose="02040503050406030204" pitchFamily="18" charset="0"/>
                        </a:rPr>
                        <m:t>𝑏</m:t>
                      </m:r>
                    </m:oMath>
                  </m:oMathPara>
                </a14:m>
                <a:endPar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3A8856A7-2C0C-6A0E-05B9-3E5B8D150BBB}"/>
                  </a:ext>
                </a:extLst>
              </p:cNvPr>
              <p:cNvSpPr txBox="1">
                <a:spLocks noRot="1" noChangeAspect="1" noMove="1" noResize="1" noEditPoints="1" noAdjustHandles="1" noChangeArrowheads="1" noChangeShapeType="1" noTextEdit="1"/>
              </p:cNvSpPr>
              <p:nvPr/>
            </p:nvSpPr>
            <p:spPr>
              <a:xfrm>
                <a:off x="2585002" y="3198855"/>
                <a:ext cx="2507320" cy="1278235"/>
              </a:xfrm>
              <a:prstGeom prst="rect">
                <a:avLst/>
              </a:prstGeom>
              <a:blipFill>
                <a:blip r:embed="rId3"/>
                <a:stretch>
                  <a:fillRect t="-478" r="-4136" b="-69378"/>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E2541DE5-06B1-8C4A-72D8-BECC4D537FA2}"/>
              </a:ext>
            </a:extLst>
          </p:cNvPr>
          <p:cNvSpPr txBox="1"/>
          <p:nvPr/>
        </p:nvSpPr>
        <p:spPr>
          <a:xfrm>
            <a:off x="8212900" y="542406"/>
            <a:ext cx="3221639" cy="646331"/>
          </a:xfrm>
          <a:prstGeom prst="rect">
            <a:avLst/>
          </a:prstGeom>
          <a:solidFill>
            <a:schemeClr val="accent5">
              <a:lumMod val="40000"/>
              <a:lumOff val="60000"/>
            </a:schemeClr>
          </a:solidFill>
          <a:ln>
            <a:solidFill>
              <a:schemeClr val="accent5"/>
            </a:solidFill>
          </a:ln>
        </p:spPr>
        <p:txBody>
          <a:bodyPr wrap="square">
            <a:spAutoFit/>
          </a:bodyPr>
          <a:lstStyle/>
          <a:p>
            <a:pPr>
              <a:buNone/>
            </a:pPr>
            <a:r>
              <a:rPr lang="en-US" altLang="zh-TW" sz="1000" b="1" dirty="0">
                <a:latin typeface="Microsoft JhengHei Light" panose="020B0304030504040204" pitchFamily="34" charset="-120"/>
                <a:ea typeface="Microsoft JhengHei Light" panose="020B0304030504040204" pitchFamily="34" charset="-120"/>
              </a:rPr>
              <a:t> </a:t>
            </a:r>
            <a:r>
              <a:rPr lang="zh-TW" altLang="en-US" sz="1200" b="1" dirty="0">
                <a:latin typeface="Microsoft JhengHei Light" panose="020B0304030504040204" pitchFamily="34" charset="-120"/>
                <a:ea typeface="Microsoft JhengHei Light" panose="020B0304030504040204" pitchFamily="34" charset="-120"/>
              </a:rPr>
              <a:t>全連接層 </a:t>
            </a:r>
            <a:r>
              <a:rPr lang="en-US" altLang="zh-TW" sz="1200" b="1" dirty="0">
                <a:latin typeface="Microsoft JhengHei Light" panose="020B0304030504040204" pitchFamily="34" charset="-120"/>
                <a:ea typeface="Microsoft JhengHei Light" panose="020B0304030504040204" pitchFamily="34" charset="-120"/>
              </a:rPr>
              <a:t>(Fully Connected Layer, FC)</a:t>
            </a:r>
          </a:p>
          <a:p>
            <a:pPr>
              <a:buFont typeface="Arial" panose="020B0604020202020204" pitchFamily="34" charset="0"/>
              <a:buChar char="•"/>
            </a:pPr>
            <a:r>
              <a:rPr lang="zh-TW" altLang="en-US" sz="1200" dirty="0">
                <a:latin typeface="Microsoft JhengHei Light" panose="020B0304030504040204" pitchFamily="34" charset="-120"/>
                <a:ea typeface="Microsoft JhengHei Light" panose="020B0304030504040204" pitchFamily="34" charset="-120"/>
              </a:rPr>
              <a:t>將前面提取的特徵展平 </a:t>
            </a:r>
            <a:r>
              <a:rPr lang="en-US" altLang="zh-TW" sz="1200" dirty="0">
                <a:latin typeface="Microsoft JhengHei Light" panose="020B0304030504040204" pitchFamily="34" charset="-120"/>
                <a:ea typeface="Microsoft JhengHei Light" panose="020B0304030504040204" pitchFamily="34" charset="-120"/>
              </a:rPr>
              <a:t>(Flatten)</a:t>
            </a:r>
            <a:r>
              <a:rPr lang="zh-TW" altLang="en-US" sz="1200" dirty="0">
                <a:latin typeface="Microsoft JhengHei Light" panose="020B0304030504040204" pitchFamily="34" charset="-120"/>
                <a:ea typeface="Microsoft JhengHei Light" panose="020B0304030504040204" pitchFamily="34" charset="-120"/>
              </a:rPr>
              <a:t> 成一維陣列</a:t>
            </a:r>
            <a:endParaRPr lang="en-US" altLang="zh-TW" sz="1200" dirty="0">
              <a:latin typeface="Microsoft JhengHei Light" panose="020B0304030504040204" pitchFamily="34" charset="-120"/>
              <a:ea typeface="Microsoft JhengHei Light" panose="020B0304030504040204" pitchFamily="34" charset="-120"/>
            </a:endParaRPr>
          </a:p>
          <a:p>
            <a:pPr>
              <a:buFont typeface="Arial" panose="020B0604020202020204" pitchFamily="34" charset="0"/>
              <a:buChar char="•"/>
            </a:pPr>
            <a:r>
              <a:rPr lang="zh-TW" altLang="en-US" sz="1200" dirty="0">
                <a:latin typeface="Microsoft JhengHei Light" panose="020B0304030504040204" pitchFamily="34" charset="-120"/>
                <a:ea typeface="Microsoft JhengHei Light" panose="020B0304030504040204" pitchFamily="34" charset="-120"/>
              </a:rPr>
              <a:t>經由 </a:t>
            </a:r>
            <a:r>
              <a:rPr lang="en-US" altLang="zh-TW" sz="1200" dirty="0">
                <a:latin typeface="Microsoft JhengHei Light" panose="020B0304030504040204" pitchFamily="34" charset="-120"/>
                <a:ea typeface="Microsoft JhengHei Light" panose="020B0304030504040204" pitchFamily="34" charset="-120"/>
              </a:rPr>
              <a:t>Dense </a:t>
            </a:r>
            <a:r>
              <a:rPr lang="zh-TW" altLang="en-US" sz="1200" dirty="0">
                <a:latin typeface="Microsoft JhengHei Light" panose="020B0304030504040204" pitchFamily="34" charset="-120"/>
                <a:ea typeface="Microsoft JhengHei Light" panose="020B0304030504040204" pitchFamily="34" charset="-120"/>
              </a:rPr>
              <a:t>層進行分類或回歸</a:t>
            </a:r>
          </a:p>
        </p:txBody>
      </p:sp>
      <p:pic>
        <p:nvPicPr>
          <p:cNvPr id="6" name="圖片 5">
            <a:extLst>
              <a:ext uri="{FF2B5EF4-FFF2-40B4-BE49-F238E27FC236}">
                <a16:creationId xmlns:a16="http://schemas.microsoft.com/office/drawing/2014/main" id="{C3C14AD7-D731-0AD7-77F6-97CC633FA104}"/>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0" y="1163732"/>
            <a:ext cx="12192000" cy="2015254"/>
          </a:xfrm>
          <a:prstGeom prst="rect">
            <a:avLst/>
          </a:prstGeom>
        </p:spPr>
      </p:pic>
      <p:sp>
        <p:nvSpPr>
          <p:cNvPr id="3" name="文字方塊 2">
            <a:extLst>
              <a:ext uri="{FF2B5EF4-FFF2-40B4-BE49-F238E27FC236}">
                <a16:creationId xmlns:a16="http://schemas.microsoft.com/office/drawing/2014/main" id="{6D387880-9FC6-D77C-2240-68808CEF7517}"/>
              </a:ext>
            </a:extLst>
          </p:cNvPr>
          <p:cNvSpPr txBox="1"/>
          <p:nvPr/>
        </p:nvSpPr>
        <p:spPr>
          <a:xfrm>
            <a:off x="791677" y="3198853"/>
            <a:ext cx="1690952" cy="1015663"/>
          </a:xfrm>
          <a:prstGeom prst="rect">
            <a:avLst/>
          </a:prstGeom>
          <a:noFill/>
        </p:spPr>
        <p:txBody>
          <a:bodyPr wrap="square">
            <a:spAutoFit/>
          </a:bodyPr>
          <a:lstStyle/>
          <a:p>
            <a:r>
              <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rPr>
              <a:t>Input Layer</a:t>
            </a: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輸入資料：</a:t>
            </a:r>
            <a:endPar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endParaRP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例如 影像 </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(RGB: 224×224×3)</a:t>
            </a: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負責接收原始數據</a:t>
            </a:r>
          </a:p>
        </p:txBody>
      </p:sp>
      <p:sp>
        <p:nvSpPr>
          <p:cNvPr id="16" name="文字方塊 15">
            <a:extLst>
              <a:ext uri="{FF2B5EF4-FFF2-40B4-BE49-F238E27FC236}">
                <a16:creationId xmlns:a16="http://schemas.microsoft.com/office/drawing/2014/main" id="{5B385D81-E31A-5906-52A4-FEF8D99A790A}"/>
              </a:ext>
            </a:extLst>
          </p:cNvPr>
          <p:cNvSpPr txBox="1"/>
          <p:nvPr/>
        </p:nvSpPr>
        <p:spPr>
          <a:xfrm>
            <a:off x="5164940" y="3206222"/>
            <a:ext cx="2298031" cy="1015663"/>
          </a:xfrm>
          <a:prstGeom prst="rect">
            <a:avLst/>
          </a:prstGeom>
          <a:noFill/>
        </p:spPr>
        <p:txBody>
          <a:bodyPr wrap="square">
            <a:spAutoFit/>
          </a:bodyPr>
          <a:lstStyle/>
          <a:p>
            <a:r>
              <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rPr>
              <a:t>Activation Function</a:t>
            </a: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常用：</a:t>
            </a:r>
            <a:endPar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endParaRPr>
          </a:p>
          <a:p>
            <a:r>
              <a:rPr lang="en-US" altLang="zh-TW" sz="1200" dirty="0" err="1">
                <a:latin typeface="Times New Roman" panose="02020603050405020304" pitchFamily="18" charset="0"/>
                <a:ea typeface="微軟正黑體" panose="020B0604030504040204" pitchFamily="34" charset="-120"/>
                <a:cs typeface="Times New Roman" panose="02020603050405020304" pitchFamily="18" charset="0"/>
              </a:rPr>
              <a:t>ReLU</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 (max(0,x))</a:t>
            </a: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增加非線性，讓網路能學習複雜特徵</a:t>
            </a:r>
          </a:p>
        </p:txBody>
      </p:sp>
      <p:sp>
        <p:nvSpPr>
          <p:cNvPr id="18" name="文字方塊 17">
            <a:extLst>
              <a:ext uri="{FF2B5EF4-FFF2-40B4-BE49-F238E27FC236}">
                <a16:creationId xmlns:a16="http://schemas.microsoft.com/office/drawing/2014/main" id="{400177EA-5B83-6C38-B806-592B6074CE34}"/>
              </a:ext>
            </a:extLst>
          </p:cNvPr>
          <p:cNvSpPr txBox="1"/>
          <p:nvPr/>
        </p:nvSpPr>
        <p:spPr>
          <a:xfrm>
            <a:off x="7380646" y="3191567"/>
            <a:ext cx="2369807" cy="1200329"/>
          </a:xfrm>
          <a:prstGeom prst="rect">
            <a:avLst/>
          </a:prstGeom>
          <a:noFill/>
        </p:spPr>
        <p:txBody>
          <a:bodyPr wrap="square">
            <a:spAutoFit/>
          </a:bodyPr>
          <a:lstStyle/>
          <a:p>
            <a:pPr>
              <a:buNone/>
            </a:pPr>
            <a:r>
              <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rPr>
              <a:t>Pooling Layer</a:t>
            </a:r>
          </a:p>
          <a:p>
            <a:pPr>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常見：</a:t>
            </a:r>
            <a:endPar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endParaRPr>
          </a:p>
          <a:p>
            <a:pPr>
              <a:buFont typeface="Arial" panose="020B0604020202020204" pitchFamily="34" charset="0"/>
              <a:buChar char="•"/>
            </a:pPr>
            <a:r>
              <a:rPr lang="en-US" altLang="zh-TW" sz="1200" b="1" dirty="0">
                <a:latin typeface="Times New Roman" panose="02020603050405020304" pitchFamily="18" charset="0"/>
                <a:ea typeface="微軟正黑體" panose="020B0604030504040204" pitchFamily="34" charset="-120"/>
                <a:cs typeface="Times New Roman" panose="02020603050405020304" pitchFamily="18" charset="0"/>
              </a:rPr>
              <a:t>Max Pooling / Average Pooling</a:t>
            </a:r>
          </a:p>
          <a:p>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功能</a:t>
            </a:r>
            <a:endPar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endParaRPr>
          </a:p>
          <a:p>
            <a:pPr indent="-171450">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降低維度 </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a:t>
            </a: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減少參數、計算量</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a:t>
            </a:r>
          </a:p>
          <a:p>
            <a:pPr indent="-171450">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保留關鍵特徵</a:t>
            </a:r>
          </a:p>
        </p:txBody>
      </p:sp>
      <p:sp>
        <p:nvSpPr>
          <p:cNvPr id="20" name="文字方塊 19">
            <a:extLst>
              <a:ext uri="{FF2B5EF4-FFF2-40B4-BE49-F238E27FC236}">
                <a16:creationId xmlns:a16="http://schemas.microsoft.com/office/drawing/2014/main" id="{95868425-A258-913E-DB65-FED5FC596F86}"/>
              </a:ext>
            </a:extLst>
          </p:cNvPr>
          <p:cNvSpPr txBox="1"/>
          <p:nvPr/>
        </p:nvSpPr>
        <p:spPr>
          <a:xfrm>
            <a:off x="9658174" y="3206222"/>
            <a:ext cx="2535547" cy="830997"/>
          </a:xfrm>
          <a:prstGeom prst="rect">
            <a:avLst/>
          </a:prstGeom>
          <a:noFill/>
        </p:spPr>
        <p:txBody>
          <a:bodyPr wrap="square">
            <a:spAutoFit/>
          </a:bodyPr>
          <a:lstStyle/>
          <a:p>
            <a:r>
              <a:rPr lang="en-US" altLang="zh-TW" sz="1200" b="1" dirty="0">
                <a:latin typeface="Times New Roman" panose="02020603050405020304" pitchFamily="18" charset="0"/>
                <a:ea typeface="Microsoft JhengHei Light" panose="020B0304030504040204" pitchFamily="34" charset="-120"/>
                <a:cs typeface="Times New Roman" panose="02020603050405020304" pitchFamily="18" charset="0"/>
              </a:rPr>
              <a:t>Output Layer</a:t>
            </a:r>
          </a:p>
          <a:p>
            <a:pPr indent="-171450">
              <a:buFont typeface="Arial" panose="020B0604020202020204" pitchFamily="34" charset="0"/>
              <a:buChar char="•"/>
            </a:pP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常用：</a:t>
            </a:r>
            <a:endPar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endParaRPr>
          </a:p>
          <a:p>
            <a:pPr indent="-171450">
              <a:buFont typeface="Arial" panose="020B0604020202020204" pitchFamily="34" charset="0"/>
              <a:buChar char="•"/>
            </a:pPr>
            <a:r>
              <a:rPr lang="en-US" altLang="zh-TW" sz="1200" dirty="0" err="1">
                <a:latin typeface="Times New Roman" panose="02020603050405020304" pitchFamily="18" charset="0"/>
                <a:ea typeface="微軟正黑體" panose="020B0604030504040204" pitchFamily="34" charset="-120"/>
                <a:cs typeface="Times New Roman" panose="02020603050405020304" pitchFamily="18" charset="0"/>
              </a:rPr>
              <a:t>Softmax</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 (</a:t>
            </a: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分類</a:t>
            </a:r>
            <a:r>
              <a:rPr lang="en-US" altLang="zh-TW" sz="1200" dirty="0">
                <a:latin typeface="Times New Roman" panose="02020603050405020304" pitchFamily="18" charset="0"/>
                <a:ea typeface="微軟正黑體" panose="020B0604030504040204" pitchFamily="34" charset="-120"/>
                <a:cs typeface="Times New Roman" panose="02020603050405020304" pitchFamily="18" charset="0"/>
              </a:rPr>
              <a:t>) / Sigmoid </a:t>
            </a:r>
            <a:r>
              <a:rPr lang="zh-TW" altLang="en-US" sz="1200" dirty="0">
                <a:latin typeface="Times New Roman" panose="02020603050405020304" pitchFamily="18" charset="0"/>
                <a:ea typeface="微軟正黑體" panose="020B0604030504040204" pitchFamily="34" charset="-120"/>
                <a:cs typeface="Times New Roman" panose="02020603050405020304" pitchFamily="18" charset="0"/>
              </a:rPr>
              <a:t>輸出對應的機率或結果</a:t>
            </a:r>
          </a:p>
        </p:txBody>
      </p:sp>
      <p:pic>
        <p:nvPicPr>
          <p:cNvPr id="25" name="圖片 24" descr="一張含有 文字, 字型, 圖表, 數字 的圖片&#10;&#10;AI 產生的內容可能不正確。">
            <a:extLst>
              <a:ext uri="{FF2B5EF4-FFF2-40B4-BE49-F238E27FC236}">
                <a16:creationId xmlns:a16="http://schemas.microsoft.com/office/drawing/2014/main" id="{A04B91B1-A613-3B6C-67C2-BB43DAF8DC3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712195" y="4831767"/>
            <a:ext cx="3138720" cy="1626880"/>
          </a:xfrm>
          <a:prstGeom prst="rect">
            <a:avLst/>
          </a:prstGeom>
        </p:spPr>
      </p:pic>
      <p:pic>
        <p:nvPicPr>
          <p:cNvPr id="30" name="圖片 29" descr="一張含有 文字, 圖表, Rectangle 的圖片&#10;&#10;AI 產生的內容可能不正確。">
            <a:extLst>
              <a:ext uri="{FF2B5EF4-FFF2-40B4-BE49-F238E27FC236}">
                <a16:creationId xmlns:a16="http://schemas.microsoft.com/office/drawing/2014/main" id="{DAB30BB0-9759-F27E-EE7C-D6C751C8A3A1}"/>
              </a:ext>
            </a:extLst>
          </p:cNvPr>
          <p:cNvPicPr>
            <a:picLocks noChangeAspect="1"/>
          </p:cNvPicPr>
          <p:nvPr/>
        </p:nvPicPr>
        <p:blipFill>
          <a:blip r:embed="rId6" cstate="screen">
            <a:extLst>
              <a:ext uri="{28A0092B-C50C-407E-A947-70E740481C1C}">
                <a14:useLocalDpi xmlns:a14="http://schemas.microsoft.com/office/drawing/2010/main"/>
              </a:ext>
            </a:extLst>
          </a:blip>
          <a:srcRect b="6591"/>
          <a:stretch>
            <a:fillRect/>
          </a:stretch>
        </p:blipFill>
        <p:spPr>
          <a:xfrm>
            <a:off x="624451" y="4760694"/>
            <a:ext cx="3377987" cy="1867147"/>
          </a:xfrm>
          <a:prstGeom prst="rect">
            <a:avLst/>
          </a:prstGeom>
        </p:spPr>
      </p:pic>
      <p:pic>
        <p:nvPicPr>
          <p:cNvPr id="34" name="圖片 33" descr="一張含有 文字, 數字, 圖表, 螢幕擷取畫面 的圖片&#10;&#10;AI 產生的內容可能不正確。">
            <a:extLst>
              <a:ext uri="{FF2B5EF4-FFF2-40B4-BE49-F238E27FC236}">
                <a16:creationId xmlns:a16="http://schemas.microsoft.com/office/drawing/2014/main" id="{E8242D4F-C95E-0962-8E9D-FE8201D69ABD}"/>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4630100" y="4760694"/>
            <a:ext cx="3493145" cy="1626881"/>
          </a:xfrm>
          <a:prstGeom prst="rect">
            <a:avLst/>
          </a:prstGeom>
        </p:spPr>
      </p:pic>
      <p:sp>
        <p:nvSpPr>
          <p:cNvPr id="38" name="文字方塊 37">
            <a:extLst>
              <a:ext uri="{FF2B5EF4-FFF2-40B4-BE49-F238E27FC236}">
                <a16:creationId xmlns:a16="http://schemas.microsoft.com/office/drawing/2014/main" id="{22815A9D-88F8-CEE2-3D5C-A11D195824B5}"/>
              </a:ext>
            </a:extLst>
          </p:cNvPr>
          <p:cNvSpPr txBox="1"/>
          <p:nvPr/>
        </p:nvSpPr>
        <p:spPr>
          <a:xfrm>
            <a:off x="3202057" y="2407774"/>
            <a:ext cx="1600762" cy="523220"/>
          </a:xfrm>
          <a:prstGeom prst="rect">
            <a:avLst/>
          </a:prstGeom>
          <a:solidFill>
            <a:srgbClr val="CCFFCC"/>
          </a:solidFill>
        </p:spPr>
        <p:txBody>
          <a:bodyPr wrap="square" rtlCol="0">
            <a:spAutoFit/>
          </a:bodyPr>
          <a:lstStyle/>
          <a:p>
            <a:pPr algn="ctr"/>
            <a:endPar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endParaRPr>
          </a:p>
          <a:p>
            <a:pPr algn="ctr"/>
            <a:r>
              <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微軟正黑體" panose="020B0604030504040204" pitchFamily="34" charset="-120"/>
                <a:cs typeface="Times New Roman" panose="02020603050405020304" pitchFamily="18" charset="0"/>
              </a:rPr>
              <a:t>𝑓∗𝑥</a:t>
            </a:r>
            <a:r>
              <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微軟正黑體" panose="020B0604030504040204" pitchFamily="34" charset="-120"/>
                <a:cs typeface="Times New Roman" panose="02020603050405020304" pitchFamily="18" charset="0"/>
              </a:rPr>
              <a:t>𝑡</a:t>
            </a:r>
            <a:r>
              <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微軟正黑體" panose="020B0604030504040204" pitchFamily="34" charset="-120"/>
                <a:cs typeface="Times New Roman" panose="02020603050405020304" pitchFamily="18" charset="0"/>
              </a:rPr>
              <a:t>𝑥⋅𝑤</a:t>
            </a:r>
            <a:r>
              <a:rPr lang="en-US" altLang="zh-TW" sz="1400" dirty="0">
                <a:latin typeface="Times New Roman" panose="02020603050405020304" pitchFamily="18" charset="0"/>
                <a:ea typeface="微軟正黑體"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微軟正黑體" panose="020B0604030504040204" pitchFamily="34" charset="-120"/>
                <a:cs typeface="Times New Roman" panose="02020603050405020304" pitchFamily="18" charset="0"/>
              </a:rPr>
              <a:t>𝑏</a:t>
            </a:r>
          </a:p>
        </p:txBody>
      </p:sp>
    </p:spTree>
    <p:extLst>
      <p:ext uri="{BB962C8B-B14F-4D97-AF65-F5344CB8AC3E}">
        <p14:creationId xmlns:p14="http://schemas.microsoft.com/office/powerpoint/2010/main" val="23553175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CF4CB-5ABE-182E-D32C-8F8A0AB47329}"/>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517C33DD-E1DB-DE2F-92F7-B73CE24AD4F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88426AC3-8EFB-0075-794B-02CEA123E22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07E27DFC-AE78-923F-298B-DB176AFA11B8}"/>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942AC60-4561-B296-B2E0-BA64BA9B896B}"/>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1A1CF2A-EB02-A337-581C-1682A11C9688}"/>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C0255A9D-49C7-D09D-51EC-79B31714A588}"/>
              </a:ext>
            </a:extLst>
          </p:cNvPr>
          <p:cNvCxnSpPr>
            <a:cxnSpLocks/>
          </p:cNvCxnSpPr>
          <p:nvPr/>
        </p:nvCxnSpPr>
        <p:spPr>
          <a:xfrm flipH="1">
            <a:off x="2708763" y="640758"/>
            <a:ext cx="9090521" cy="36284"/>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E4B2B85-45D0-67F5-A0AB-CD1E3C6ACF7C}"/>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04D24C17-5C02-830C-8949-A8D85C10BB7C}"/>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9</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C3C8514A-03A8-C0E4-518A-6D94D037E241}"/>
              </a:ext>
            </a:extLst>
          </p:cNvPr>
          <p:cNvSpPr txBox="1"/>
          <p:nvPr/>
        </p:nvSpPr>
        <p:spPr>
          <a:xfrm>
            <a:off x="1152588" y="353876"/>
            <a:ext cx="1328062" cy="400110"/>
          </a:xfrm>
          <a:prstGeom prst="rect">
            <a:avLst/>
          </a:prstGeom>
          <a:noFill/>
        </p:spPr>
        <p:txBody>
          <a:bodyPr wrap="square" rtlCol="0">
            <a:spAutoFit/>
          </a:bodyPr>
          <a:lstStyle/>
          <a:p>
            <a:pPr algn="ctr"/>
            <a:r>
              <a:rPr lang="en-US" altLang="zh-TW" sz="2000" b="1" dirty="0">
                <a:latin typeface="微軟正黑體" panose="020B0604030504040204" pitchFamily="34" charset="-120"/>
                <a:ea typeface="微軟正黑體" panose="020B0604030504040204" pitchFamily="34" charset="-120"/>
              </a:rPr>
              <a:t>CNN</a:t>
            </a:r>
            <a:r>
              <a:rPr lang="zh-TW" altLang="en-US" sz="2000" b="1" dirty="0">
                <a:latin typeface="微軟正黑體" panose="020B0604030504040204" pitchFamily="34" charset="-120"/>
                <a:ea typeface="微軟正黑體" panose="020B0604030504040204" pitchFamily="34" charset="-120"/>
              </a:rPr>
              <a:t>種類</a:t>
            </a:r>
            <a:endParaRPr lang="en-US" altLang="zh-TW" sz="2000" b="1" dirty="0">
              <a:latin typeface="微軟正黑體" panose="020B0604030504040204" pitchFamily="34" charset="-120"/>
              <a:ea typeface="微軟正黑體" panose="020B0604030504040204" pitchFamily="34" charset="-120"/>
            </a:endParaRPr>
          </a:p>
        </p:txBody>
      </p:sp>
      <p:sp>
        <p:nvSpPr>
          <p:cNvPr id="6" name="Rectangle 2">
            <a:extLst>
              <a:ext uri="{FF2B5EF4-FFF2-40B4-BE49-F238E27FC236}">
                <a16:creationId xmlns:a16="http://schemas.microsoft.com/office/drawing/2014/main" id="{BE3459B1-6980-2512-F11C-171161239D06}"/>
              </a:ext>
            </a:extLst>
          </p:cNvPr>
          <p:cNvSpPr>
            <a:spLocks noChangeArrowheads="1"/>
          </p:cNvSpPr>
          <p:nvPr/>
        </p:nvSpPr>
        <p:spPr bwMode="auto">
          <a:xfrm>
            <a:off x="360912" y="851972"/>
            <a:ext cx="115675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每個任務不同</a:t>
            </a:r>
            <a:r>
              <a:rPr kumimoji="0" lang="zh-TW" altLang="zh-TW" sz="1800" b="0" i="0" u="none" strike="noStrike" cap="none" normalizeH="0" baseline="0" dirty="0">
                <a:ln>
                  <a:noFill/>
                </a:ln>
                <a:solidFill>
                  <a:schemeClr val="tx1"/>
                </a:solidFill>
                <a:effectLst/>
                <a:latin typeface="Arial" panose="020B0604020202020204" pitchFamily="34" charset="0"/>
              </a:rPr>
              <a:t>：分類、分割用的模型不同。</a:t>
            </a:r>
            <a:endParaRPr kumimoji="0" lang="en-US"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20" name="圖片 19" descr="一張含有 文字, 字型, 圖表, 螢幕擷取畫面 的圖片&#10;&#10;AI 產生的內容可能不正確。">
            <a:extLst>
              <a:ext uri="{FF2B5EF4-FFF2-40B4-BE49-F238E27FC236}">
                <a16:creationId xmlns:a16="http://schemas.microsoft.com/office/drawing/2014/main" id="{F2C0D1D3-6103-EDD4-ECAC-B926C258C14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451" y="1596289"/>
            <a:ext cx="2993719" cy="1729975"/>
          </a:xfrm>
          <a:prstGeom prst="rect">
            <a:avLst/>
          </a:prstGeom>
        </p:spPr>
      </p:pic>
      <p:sp>
        <p:nvSpPr>
          <p:cNvPr id="4" name="文字方塊 3">
            <a:extLst>
              <a:ext uri="{FF2B5EF4-FFF2-40B4-BE49-F238E27FC236}">
                <a16:creationId xmlns:a16="http://schemas.microsoft.com/office/drawing/2014/main" id="{9D0920FB-3BB7-BACD-F7AC-1742A295ACB0}"/>
              </a:ext>
            </a:extLst>
          </p:cNvPr>
          <p:cNvSpPr txBox="1"/>
          <p:nvPr/>
        </p:nvSpPr>
        <p:spPr>
          <a:xfrm>
            <a:off x="1115353" y="1226957"/>
            <a:ext cx="1593410" cy="369332"/>
          </a:xfrm>
          <a:prstGeom prst="rect">
            <a:avLst/>
          </a:prstGeom>
          <a:noFill/>
        </p:spPr>
        <p:txBody>
          <a:bodyPr wrap="square" rtlCol="0">
            <a:spAutoFit/>
          </a:bodyPr>
          <a:lstStyle/>
          <a:p>
            <a:r>
              <a:rPr lang="en-US" altLang="zh-TW" b="1" dirty="0"/>
              <a:t>3D</a:t>
            </a:r>
            <a:r>
              <a:rPr lang="en-US" altLang="zh-TW" dirty="0"/>
              <a:t> </a:t>
            </a:r>
            <a:r>
              <a:rPr lang="en-US" altLang="zh-TW" b="1" dirty="0" err="1"/>
              <a:t>ResNet</a:t>
            </a:r>
            <a:endParaRPr lang="zh-TW" altLang="en-US" dirty="0"/>
          </a:p>
        </p:txBody>
      </p:sp>
      <p:sp>
        <p:nvSpPr>
          <p:cNvPr id="16" name="Rectangle 3">
            <a:extLst>
              <a:ext uri="{FF2B5EF4-FFF2-40B4-BE49-F238E27FC236}">
                <a16:creationId xmlns:a16="http://schemas.microsoft.com/office/drawing/2014/main" id="{345B69EE-6172-3478-89C1-505AD6EB3BF8}"/>
              </a:ext>
            </a:extLst>
          </p:cNvPr>
          <p:cNvSpPr>
            <a:spLocks noChangeArrowheads="1"/>
          </p:cNvSpPr>
          <p:nvPr/>
        </p:nvSpPr>
        <p:spPr bwMode="auto">
          <a:xfrm>
            <a:off x="4070603" y="1504578"/>
            <a:ext cx="7090064" cy="2123658"/>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zh-TW" sz="1200" b="1" dirty="0" err="1">
                <a:latin typeface="微軟正黑體" panose="020B0604030504040204" pitchFamily="34" charset="-120"/>
                <a:ea typeface="微軟正黑體" panose="020B0604030504040204" pitchFamily="34" charset="-120"/>
              </a:rPr>
              <a:t>ResNet</a:t>
            </a:r>
            <a:r>
              <a:rPr lang="en-US" altLang="zh-TW" sz="1200" b="1" dirty="0">
                <a:latin typeface="微軟正黑體" panose="020B0604030504040204" pitchFamily="34" charset="-120"/>
                <a:ea typeface="微軟正黑體" panose="020B0604030504040204" pitchFamily="34" charset="-120"/>
              </a:rPr>
              <a:t> </a:t>
            </a:r>
            <a:r>
              <a:rPr lang="zh-TW" altLang="en-US" sz="1200" b="1" dirty="0">
                <a:latin typeface="微軟正黑體" panose="020B0604030504040204" pitchFamily="34" charset="-120"/>
                <a:ea typeface="微軟正黑體" panose="020B0604030504040204" pitchFamily="34" charset="-120"/>
              </a:rPr>
              <a:t>的特色</a:t>
            </a:r>
            <a:endPar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捷徑連接 (Skip Connection)</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輸入可直接相加到輸出，提升訓練效率</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避免梯度消失</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訊號與梯度能順暢傳遞，深層網路更穩定</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支援更深層設計</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可構建 50、101、152 層等大型網路</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殘差學習 (Residual Learning)</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學習殘差F(x)，輸出公式 H(x)=F(x)+x</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TW" altLang="en-US" sz="1200" b="1" dirty="0">
                <a:latin typeface="微軟正黑體" panose="020B0604030504040204" pitchFamily="34" charset="-120"/>
                <a:ea typeface="微軟正黑體" panose="020B0604030504040204" pitchFamily="34" charset="-120"/>
              </a:rPr>
              <a:t>廣泛應用</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lang="en-US" altLang="zh-TW" sz="1200"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常用於分類、檢測、分割與醫學影像分析</a:t>
            </a:r>
            <a:endPar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19" name="文字方塊 18">
            <a:extLst>
              <a:ext uri="{FF2B5EF4-FFF2-40B4-BE49-F238E27FC236}">
                <a16:creationId xmlns:a16="http://schemas.microsoft.com/office/drawing/2014/main" id="{BF9AE31F-06C5-3092-6B1D-8BF3ED0D0BAE}"/>
              </a:ext>
            </a:extLst>
          </p:cNvPr>
          <p:cNvSpPr txBox="1"/>
          <p:nvPr/>
        </p:nvSpPr>
        <p:spPr>
          <a:xfrm>
            <a:off x="398632" y="4260773"/>
            <a:ext cx="1315285" cy="1169551"/>
          </a:xfrm>
          <a:prstGeom prst="rect">
            <a:avLst/>
          </a:prstGeom>
          <a:noFill/>
          <a:ln>
            <a:solidFill>
              <a:schemeClr val="tx1"/>
            </a:solidFill>
          </a:ln>
        </p:spPr>
        <p:txBody>
          <a:bodyPr wrap="square">
            <a:spAutoFit/>
          </a:bodyPr>
          <a:lstStyle/>
          <a:p>
            <a:pPr>
              <a:buNone/>
            </a:pPr>
            <a:r>
              <a:rPr lang="en-US" altLang="zh-TW" sz="1000" b="1" dirty="0"/>
              <a:t>Conv1 + </a:t>
            </a:r>
            <a:r>
              <a:rPr lang="en-US" altLang="zh-TW" sz="1000" b="1" dirty="0" err="1"/>
              <a:t>MaxPool</a:t>
            </a:r>
            <a:endParaRPr lang="en-US" altLang="zh-TW" sz="1000" dirty="0"/>
          </a:p>
          <a:p>
            <a:pPr>
              <a:buFont typeface="Arial" panose="020B0604020202020204" pitchFamily="34" charset="0"/>
              <a:buChar char="•"/>
            </a:pPr>
            <a:r>
              <a:rPr lang="en-US" altLang="zh-TW" sz="1000" dirty="0"/>
              <a:t>7×7 </a:t>
            </a:r>
            <a:r>
              <a:rPr lang="zh-TW" altLang="en-US" sz="1000" dirty="0"/>
              <a:t>卷積</a:t>
            </a:r>
            <a:r>
              <a:rPr lang="en-US" altLang="zh-TW" sz="1000" dirty="0"/>
              <a:t>, 64 </a:t>
            </a:r>
            <a:r>
              <a:rPr lang="zh-TW" altLang="en-US" sz="1000" dirty="0"/>
              <a:t>個 </a:t>
            </a:r>
            <a:r>
              <a:rPr lang="en-US" altLang="zh-TW" sz="1000" dirty="0"/>
              <a:t>filter, stride=2</a:t>
            </a:r>
          </a:p>
          <a:p>
            <a:pPr>
              <a:buFont typeface="Arial" panose="020B0604020202020204" pitchFamily="34" charset="0"/>
              <a:buChar char="•"/>
            </a:pPr>
            <a:r>
              <a:rPr lang="en-US" altLang="zh-TW" sz="1000" dirty="0" err="1"/>
              <a:t>BatchNorm</a:t>
            </a:r>
            <a:r>
              <a:rPr lang="en-US" altLang="zh-TW" sz="1000" dirty="0"/>
              <a:t> + </a:t>
            </a:r>
            <a:r>
              <a:rPr lang="en-US" altLang="zh-TW" sz="1000" dirty="0" err="1"/>
              <a:t>ReLU</a:t>
            </a:r>
            <a:endParaRPr lang="en-US" altLang="zh-TW" sz="1000" dirty="0"/>
          </a:p>
          <a:p>
            <a:pPr>
              <a:buFont typeface="Arial" panose="020B0604020202020204" pitchFamily="34" charset="0"/>
              <a:buChar char="•"/>
            </a:pPr>
            <a:r>
              <a:rPr lang="en-US" altLang="zh-TW" sz="1000" dirty="0"/>
              <a:t>3×3 </a:t>
            </a:r>
            <a:r>
              <a:rPr lang="zh-TW" altLang="en-US" sz="1000" dirty="0"/>
              <a:t>最大池化</a:t>
            </a:r>
            <a:r>
              <a:rPr lang="en-US" altLang="zh-TW" sz="1000" dirty="0"/>
              <a:t>, stride=2</a:t>
            </a:r>
          </a:p>
          <a:p>
            <a:pPr>
              <a:buFont typeface="Arial" panose="020B0604020202020204" pitchFamily="34" charset="0"/>
              <a:buChar char="•"/>
            </a:pPr>
            <a:r>
              <a:rPr lang="zh-TW" altLang="en-US" sz="1000" dirty="0"/>
              <a:t>輸出大小</a:t>
            </a:r>
            <a:r>
              <a:rPr lang="en-US" altLang="zh-TW" sz="1000" dirty="0"/>
              <a:t>: 56×56×64</a:t>
            </a:r>
          </a:p>
        </p:txBody>
      </p:sp>
      <p:sp>
        <p:nvSpPr>
          <p:cNvPr id="25" name="文字方塊 24">
            <a:extLst>
              <a:ext uri="{FF2B5EF4-FFF2-40B4-BE49-F238E27FC236}">
                <a16:creationId xmlns:a16="http://schemas.microsoft.com/office/drawing/2014/main" id="{BAE436D9-A366-3F73-0C0C-F92529A36977}"/>
              </a:ext>
            </a:extLst>
          </p:cNvPr>
          <p:cNvSpPr txBox="1"/>
          <p:nvPr/>
        </p:nvSpPr>
        <p:spPr>
          <a:xfrm>
            <a:off x="1993799" y="4106885"/>
            <a:ext cx="1432871" cy="1477328"/>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Layer1 (Residual Block ×2)</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64 </a:t>
            </a:r>
            <a:r>
              <a:rPr lang="zh-TW" altLang="en-US" sz="1000" dirty="0">
                <a:latin typeface="微軟正黑體" panose="020B0604030504040204" pitchFamily="34" charset="-120"/>
                <a:ea typeface="微軟正黑體" panose="020B0604030504040204" pitchFamily="34" charset="-120"/>
              </a:rPr>
              <a:t>個卷積 </a:t>
            </a:r>
            <a:r>
              <a:rPr lang="en-US" altLang="zh-TW" sz="1000" dirty="0">
                <a:latin typeface="微軟正黑體" panose="020B0604030504040204" pitchFamily="34" charset="-120"/>
                <a:ea typeface="微軟正黑體" panose="020B0604030504040204" pitchFamily="34" charset="-120"/>
              </a:rPr>
              <a:t>filter</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每個 </a:t>
            </a:r>
            <a:r>
              <a:rPr lang="en-US" altLang="zh-TW" sz="1000" dirty="0">
                <a:latin typeface="微軟正黑體" panose="020B0604030504040204" pitchFamily="34" charset="-120"/>
                <a:ea typeface="微軟正黑體" panose="020B0604030504040204" pitchFamily="34" charset="-120"/>
              </a:rPr>
              <a:t>block </a:t>
            </a:r>
            <a:r>
              <a:rPr lang="zh-TW" altLang="en-US" sz="1000" dirty="0">
                <a:latin typeface="微軟正黑體" panose="020B0604030504040204" pitchFamily="34" charset="-120"/>
                <a:ea typeface="微軟正黑體" panose="020B0604030504040204" pitchFamily="34" charset="-120"/>
              </a:rPr>
              <a:t>內有兩個 </a:t>
            </a:r>
            <a:r>
              <a:rPr lang="en-US" altLang="zh-TW" sz="1000" dirty="0">
                <a:latin typeface="微軟正黑體" panose="020B0604030504040204" pitchFamily="34" charset="-120"/>
                <a:ea typeface="微軟正黑體" panose="020B0604030504040204" pitchFamily="34" charset="-120"/>
              </a:rPr>
              <a:t>3×3 </a:t>
            </a:r>
            <a:r>
              <a:rPr lang="zh-TW" altLang="en-US" sz="1000" dirty="0">
                <a:latin typeface="微軟正黑體" panose="020B0604030504040204" pitchFamily="34" charset="-120"/>
                <a:ea typeface="微軟正黑體" panose="020B0604030504040204" pitchFamily="34" charset="-120"/>
              </a:rPr>
              <a:t>卷積 </a:t>
            </a:r>
            <a:r>
              <a:rPr lang="en-US" altLang="zh-TW" sz="1000" dirty="0">
                <a:latin typeface="微軟正黑體" panose="020B0604030504040204" pitchFamily="34" charset="-120"/>
                <a:ea typeface="微軟正黑體" panose="020B0604030504040204" pitchFamily="34" charset="-120"/>
              </a:rPr>
              <a:t>+ </a:t>
            </a:r>
            <a:r>
              <a:rPr lang="en-US" altLang="zh-TW" sz="1000" dirty="0" err="1">
                <a:latin typeface="微軟正黑體" panose="020B0604030504040204" pitchFamily="34" charset="-120"/>
                <a:ea typeface="微軟正黑體" panose="020B0604030504040204" pitchFamily="34" charset="-120"/>
              </a:rPr>
              <a:t>BatchNorm</a:t>
            </a:r>
            <a:r>
              <a:rPr lang="en-US" altLang="zh-TW" sz="1000" dirty="0">
                <a:latin typeface="微軟正黑體" panose="020B0604030504040204" pitchFamily="34" charset="-120"/>
                <a:ea typeface="微軟正黑體" panose="020B0604030504040204" pitchFamily="34" charset="-120"/>
              </a:rPr>
              <a:t> + </a:t>
            </a:r>
            <a:r>
              <a:rPr lang="en-US" altLang="zh-TW" sz="1000" dirty="0" err="1">
                <a:latin typeface="微軟正黑體" panose="020B0604030504040204" pitchFamily="34" charset="-120"/>
                <a:ea typeface="微軟正黑體" panose="020B0604030504040204" pitchFamily="34" charset="-120"/>
              </a:rPr>
              <a:t>ReLU</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Shortcut: </a:t>
            </a:r>
            <a:r>
              <a:rPr lang="zh-TW" altLang="en-US" sz="1000" dirty="0">
                <a:latin typeface="微軟正黑體" panose="020B0604030504040204" pitchFamily="34" charset="-120"/>
                <a:ea typeface="微軟正黑體" panose="020B0604030504040204" pitchFamily="34" charset="-120"/>
              </a:rPr>
              <a:t>直接加 </a:t>
            </a:r>
            <a:r>
              <a:rPr lang="en-US" altLang="zh-TW" sz="1000" dirty="0">
                <a:latin typeface="微軟正黑體" panose="020B0604030504040204" pitchFamily="34" charset="-120"/>
                <a:ea typeface="微軟正黑體" panose="020B0604030504040204" pitchFamily="34" charset="-120"/>
              </a:rPr>
              <a:t>(identity)</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56×56×64</a:t>
            </a:r>
          </a:p>
        </p:txBody>
      </p:sp>
      <p:sp>
        <p:nvSpPr>
          <p:cNvPr id="27" name="文字方塊 26">
            <a:extLst>
              <a:ext uri="{FF2B5EF4-FFF2-40B4-BE49-F238E27FC236}">
                <a16:creationId xmlns:a16="http://schemas.microsoft.com/office/drawing/2014/main" id="{777D79BD-1854-2249-0016-82BD435D9268}"/>
              </a:ext>
            </a:extLst>
          </p:cNvPr>
          <p:cNvSpPr txBox="1"/>
          <p:nvPr/>
        </p:nvSpPr>
        <p:spPr>
          <a:xfrm>
            <a:off x="3788058" y="4108454"/>
            <a:ext cx="1229319" cy="1477328"/>
          </a:xfrm>
          <a:prstGeom prst="rect">
            <a:avLst/>
          </a:prstGeom>
          <a:noFill/>
          <a:ln>
            <a:solidFill>
              <a:schemeClr val="tx1"/>
            </a:solidFill>
          </a:ln>
        </p:spPr>
        <p:txBody>
          <a:bodyPr wrap="square">
            <a:spAutoFit/>
          </a:bodyPr>
          <a:lstStyle/>
          <a:p>
            <a:pPr>
              <a:buNone/>
            </a:pPr>
            <a:r>
              <a:rPr lang="en-US" altLang="zh-TW" sz="1000" b="1" dirty="0"/>
              <a:t>Layer2 (Residual Block ×2)</a:t>
            </a:r>
            <a:endParaRPr lang="en-US" altLang="zh-TW" sz="1000" dirty="0"/>
          </a:p>
          <a:p>
            <a:pPr>
              <a:buFont typeface="Arial" panose="020B0604020202020204" pitchFamily="34" charset="0"/>
              <a:buChar char="•"/>
            </a:pPr>
            <a:r>
              <a:rPr lang="en-US" altLang="zh-TW" sz="1000" dirty="0"/>
              <a:t>128 </a:t>
            </a:r>
            <a:r>
              <a:rPr lang="zh-TW" altLang="en-US" sz="1000" dirty="0"/>
              <a:t>個卷積 </a:t>
            </a:r>
            <a:r>
              <a:rPr lang="en-US" altLang="zh-TW" sz="1000" dirty="0"/>
              <a:t>filter</a:t>
            </a:r>
          </a:p>
          <a:p>
            <a:pPr>
              <a:buFont typeface="Arial" panose="020B0604020202020204" pitchFamily="34" charset="0"/>
              <a:buChar char="•"/>
            </a:pPr>
            <a:r>
              <a:rPr lang="zh-TW" altLang="en-US" sz="1000" dirty="0"/>
              <a:t>第一個 </a:t>
            </a:r>
            <a:r>
              <a:rPr lang="en-US" altLang="zh-TW" sz="1000" dirty="0"/>
              <a:t>block </a:t>
            </a:r>
            <a:r>
              <a:rPr lang="zh-TW" altLang="en-US" sz="1000" dirty="0"/>
              <a:t>的 </a:t>
            </a:r>
            <a:r>
              <a:rPr lang="en-US" altLang="zh-TW" sz="1000" dirty="0"/>
              <a:t>stride=2</a:t>
            </a:r>
            <a:r>
              <a:rPr lang="zh-TW" altLang="en-US" sz="1000" dirty="0"/>
              <a:t>（下採樣）</a:t>
            </a:r>
          </a:p>
          <a:p>
            <a:pPr>
              <a:buFont typeface="Arial" panose="020B0604020202020204" pitchFamily="34" charset="0"/>
              <a:buChar char="•"/>
            </a:pPr>
            <a:r>
              <a:rPr lang="en-US" altLang="zh-TW" sz="1000" dirty="0"/>
              <a:t>Shortcut </a:t>
            </a:r>
            <a:r>
              <a:rPr lang="zh-TW" altLang="en-US" sz="1000" dirty="0"/>
              <a:t>做 </a:t>
            </a:r>
            <a:r>
              <a:rPr lang="en-US" altLang="zh-TW" sz="1000" dirty="0"/>
              <a:t>1×1 </a:t>
            </a:r>
            <a:r>
              <a:rPr lang="zh-TW" altLang="en-US" sz="1000" dirty="0"/>
              <a:t>卷積匹配維度</a:t>
            </a:r>
          </a:p>
          <a:p>
            <a:pPr>
              <a:buFont typeface="Arial" panose="020B0604020202020204" pitchFamily="34" charset="0"/>
              <a:buChar char="•"/>
            </a:pPr>
            <a:r>
              <a:rPr lang="zh-TW" altLang="en-US" sz="1000" dirty="0"/>
              <a:t>輸出大小</a:t>
            </a:r>
            <a:r>
              <a:rPr lang="en-US" altLang="zh-TW" sz="1000" dirty="0"/>
              <a:t>: 28×28×128</a:t>
            </a:r>
          </a:p>
        </p:txBody>
      </p:sp>
      <p:sp>
        <p:nvSpPr>
          <p:cNvPr id="30" name="文字方塊 29">
            <a:extLst>
              <a:ext uri="{FF2B5EF4-FFF2-40B4-BE49-F238E27FC236}">
                <a16:creationId xmlns:a16="http://schemas.microsoft.com/office/drawing/2014/main" id="{33259C2F-10E1-EBA2-969E-71CA5CD3F951}"/>
              </a:ext>
            </a:extLst>
          </p:cNvPr>
          <p:cNvSpPr txBox="1"/>
          <p:nvPr/>
        </p:nvSpPr>
        <p:spPr>
          <a:xfrm>
            <a:off x="5396873" y="4108454"/>
            <a:ext cx="1138225" cy="1477328"/>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Layer3 (Residual Block ×2)</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256 </a:t>
            </a:r>
            <a:r>
              <a:rPr lang="zh-TW" altLang="en-US" sz="1000" dirty="0">
                <a:latin typeface="微軟正黑體" panose="020B0604030504040204" pitchFamily="34" charset="-120"/>
                <a:ea typeface="微軟正黑體" panose="020B0604030504040204" pitchFamily="34" charset="-120"/>
              </a:rPr>
              <a:t>個卷積 </a:t>
            </a:r>
            <a:r>
              <a:rPr lang="en-US" altLang="zh-TW" sz="1000" dirty="0">
                <a:latin typeface="微軟正黑體" panose="020B0604030504040204" pitchFamily="34" charset="-120"/>
                <a:ea typeface="微軟正黑體" panose="020B0604030504040204" pitchFamily="34" charset="-120"/>
              </a:rPr>
              <a:t>filter</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第一個 </a:t>
            </a:r>
            <a:r>
              <a:rPr lang="en-US" altLang="zh-TW" sz="1000" dirty="0">
                <a:latin typeface="微軟正黑體" panose="020B0604030504040204" pitchFamily="34" charset="-120"/>
                <a:ea typeface="微軟正黑體" panose="020B0604030504040204" pitchFamily="34" charset="-120"/>
              </a:rPr>
              <a:t>block stride=2</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14×14×256</a:t>
            </a:r>
          </a:p>
        </p:txBody>
      </p:sp>
      <p:sp>
        <p:nvSpPr>
          <p:cNvPr id="32" name="文字方塊 31">
            <a:extLst>
              <a:ext uri="{FF2B5EF4-FFF2-40B4-BE49-F238E27FC236}">
                <a16:creationId xmlns:a16="http://schemas.microsoft.com/office/drawing/2014/main" id="{F160042D-4661-CA6A-42C5-6916192815D2}"/>
              </a:ext>
            </a:extLst>
          </p:cNvPr>
          <p:cNvSpPr txBox="1"/>
          <p:nvPr/>
        </p:nvSpPr>
        <p:spPr>
          <a:xfrm>
            <a:off x="6861502" y="4260772"/>
            <a:ext cx="1225800" cy="1169551"/>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Layer4 (Residual Block ×2)</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512 </a:t>
            </a:r>
            <a:r>
              <a:rPr lang="zh-TW" altLang="en-US" sz="1000" dirty="0">
                <a:latin typeface="微軟正黑體" panose="020B0604030504040204" pitchFamily="34" charset="-120"/>
                <a:ea typeface="微軟正黑體" panose="020B0604030504040204" pitchFamily="34" charset="-120"/>
              </a:rPr>
              <a:t>個卷積 </a:t>
            </a:r>
            <a:r>
              <a:rPr lang="en-US" altLang="zh-TW" sz="1000" dirty="0">
                <a:latin typeface="微軟正黑體" panose="020B0604030504040204" pitchFamily="34" charset="-120"/>
                <a:ea typeface="微軟正黑體" panose="020B0604030504040204" pitchFamily="34" charset="-120"/>
              </a:rPr>
              <a:t>filter</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第一個 </a:t>
            </a:r>
            <a:r>
              <a:rPr lang="en-US" altLang="zh-TW" sz="1000" dirty="0">
                <a:latin typeface="微軟正黑體" panose="020B0604030504040204" pitchFamily="34" charset="-120"/>
                <a:ea typeface="微軟正黑體" panose="020B0604030504040204" pitchFamily="34" charset="-120"/>
              </a:rPr>
              <a:t>block stride=2</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7×7×512</a:t>
            </a:r>
          </a:p>
        </p:txBody>
      </p:sp>
      <p:sp>
        <p:nvSpPr>
          <p:cNvPr id="34" name="文字方塊 33">
            <a:extLst>
              <a:ext uri="{FF2B5EF4-FFF2-40B4-BE49-F238E27FC236}">
                <a16:creationId xmlns:a16="http://schemas.microsoft.com/office/drawing/2014/main" id="{BBBC3CB4-C854-53B9-6A00-C0EAA8CAA078}"/>
              </a:ext>
            </a:extLst>
          </p:cNvPr>
          <p:cNvSpPr txBox="1"/>
          <p:nvPr/>
        </p:nvSpPr>
        <p:spPr>
          <a:xfrm>
            <a:off x="8367184" y="4365675"/>
            <a:ext cx="1594474" cy="861774"/>
          </a:xfrm>
          <a:prstGeom prst="rect">
            <a:avLst/>
          </a:prstGeom>
          <a:noFill/>
          <a:ln>
            <a:solidFill>
              <a:schemeClr val="tx1"/>
            </a:solidFill>
          </a:ln>
        </p:spPr>
        <p:txBody>
          <a:bodyPr wrap="square">
            <a:spAutoFit/>
          </a:bodyPr>
          <a:lstStyle/>
          <a:p>
            <a:pPr>
              <a:buNone/>
            </a:pPr>
            <a:r>
              <a:rPr lang="zh-TW" altLang="en-US" sz="1000" b="1" dirty="0">
                <a:latin typeface="微軟正黑體" panose="020B0604030504040204" pitchFamily="34" charset="-120"/>
                <a:ea typeface="微軟正黑體" panose="020B0604030504040204" pitchFamily="34" charset="-120"/>
              </a:rPr>
              <a:t>全域平均池化 </a:t>
            </a:r>
            <a:r>
              <a:rPr lang="en-US" altLang="zh-TW" sz="1000" b="1" dirty="0">
                <a:latin typeface="微軟正黑體" panose="020B0604030504040204" pitchFamily="34" charset="-120"/>
                <a:ea typeface="微軟正黑體" panose="020B0604030504040204" pitchFamily="34" charset="-120"/>
              </a:rPr>
              <a:t>(Global Average Pooling)</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7×7 feature map → 1×1</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512</a:t>
            </a:r>
          </a:p>
        </p:txBody>
      </p:sp>
      <p:sp>
        <p:nvSpPr>
          <p:cNvPr id="36" name="文字方塊 35">
            <a:extLst>
              <a:ext uri="{FF2B5EF4-FFF2-40B4-BE49-F238E27FC236}">
                <a16:creationId xmlns:a16="http://schemas.microsoft.com/office/drawing/2014/main" id="{799DC07E-E465-8FD0-8021-A2D551DDBBC4}"/>
              </a:ext>
            </a:extLst>
          </p:cNvPr>
          <p:cNvSpPr txBox="1"/>
          <p:nvPr/>
        </p:nvSpPr>
        <p:spPr>
          <a:xfrm>
            <a:off x="10303135" y="4365675"/>
            <a:ext cx="1480995" cy="707886"/>
          </a:xfrm>
          <a:prstGeom prst="rect">
            <a:avLst/>
          </a:prstGeom>
          <a:noFill/>
          <a:ln>
            <a:solidFill>
              <a:schemeClr val="tx1"/>
            </a:solidFill>
          </a:ln>
        </p:spPr>
        <p:txBody>
          <a:bodyPr wrap="square">
            <a:spAutoFit/>
          </a:bodyPr>
          <a:lstStyle/>
          <a:p>
            <a:pPr>
              <a:buNone/>
            </a:pPr>
            <a:r>
              <a:rPr lang="zh-TW" altLang="en-US" sz="1000" b="1" dirty="0">
                <a:latin typeface="微軟正黑體" panose="020B0604030504040204" pitchFamily="34" charset="-120"/>
                <a:ea typeface="微軟正黑體" panose="020B0604030504040204" pitchFamily="34" charset="-120"/>
              </a:rPr>
              <a:t>全連接層 </a:t>
            </a:r>
            <a:r>
              <a:rPr lang="en-US" altLang="zh-TW" sz="1000" b="1" dirty="0">
                <a:latin typeface="微軟正黑體" panose="020B0604030504040204" pitchFamily="34" charset="-120"/>
                <a:ea typeface="微軟正黑體" panose="020B0604030504040204" pitchFamily="34" charset="-120"/>
              </a:rPr>
              <a:t>(Fully Connected)</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輸出</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類別數（如 </a:t>
            </a:r>
            <a:r>
              <a:rPr lang="en-US" altLang="zh-TW" sz="1000" dirty="0">
                <a:latin typeface="微軟正黑體" panose="020B0604030504040204" pitchFamily="34" charset="-120"/>
                <a:ea typeface="微軟正黑體" panose="020B0604030504040204" pitchFamily="34" charset="-120"/>
              </a:rPr>
              <a:t>1000 </a:t>
            </a:r>
            <a:r>
              <a:rPr lang="zh-TW" altLang="en-US" sz="1000" dirty="0">
                <a:latin typeface="微軟正黑體" panose="020B0604030504040204" pitchFamily="34" charset="-120"/>
                <a:ea typeface="微軟正黑體" panose="020B0604030504040204" pitchFamily="34" charset="-120"/>
              </a:rPr>
              <a:t>類 </a:t>
            </a:r>
            <a:r>
              <a:rPr lang="en-US" altLang="zh-TW" sz="1000" dirty="0">
                <a:latin typeface="微軟正黑體" panose="020B0604030504040204" pitchFamily="34" charset="-120"/>
                <a:ea typeface="微軟正黑體" panose="020B0604030504040204" pitchFamily="34" charset="-120"/>
              </a:rPr>
              <a:t>for ImageNet</a:t>
            </a:r>
            <a:r>
              <a:rPr lang="zh-TW" altLang="en-US" sz="1000" dirty="0">
                <a:latin typeface="微軟正黑體" panose="020B0604030504040204" pitchFamily="34" charset="-120"/>
                <a:ea typeface="微軟正黑體" panose="020B0604030504040204" pitchFamily="34" charset="-120"/>
              </a:rPr>
              <a:t>）</a:t>
            </a:r>
          </a:p>
        </p:txBody>
      </p:sp>
      <p:sp>
        <p:nvSpPr>
          <p:cNvPr id="40" name="文字方塊 39">
            <a:extLst>
              <a:ext uri="{FF2B5EF4-FFF2-40B4-BE49-F238E27FC236}">
                <a16:creationId xmlns:a16="http://schemas.microsoft.com/office/drawing/2014/main" id="{47EB684B-2B9E-67B2-3CAE-03EF4B5A0885}"/>
              </a:ext>
            </a:extLst>
          </p:cNvPr>
          <p:cNvSpPr txBox="1"/>
          <p:nvPr/>
        </p:nvSpPr>
        <p:spPr>
          <a:xfrm>
            <a:off x="232874" y="3560008"/>
            <a:ext cx="2030492" cy="369332"/>
          </a:xfrm>
          <a:prstGeom prst="rect">
            <a:avLst/>
          </a:prstGeom>
          <a:noFill/>
        </p:spPr>
        <p:txBody>
          <a:bodyPr wrap="square">
            <a:spAutoFit/>
          </a:bodyPr>
          <a:lstStyle/>
          <a:p>
            <a:pPr>
              <a:buNone/>
            </a:pPr>
            <a:r>
              <a:rPr lang="en-US" altLang="zh-TW" b="1" dirty="0"/>
              <a:t>ResNet-18 </a:t>
            </a:r>
            <a:r>
              <a:rPr lang="zh-TW" altLang="en-US" b="1" dirty="0"/>
              <a:t>的結構</a:t>
            </a:r>
          </a:p>
        </p:txBody>
      </p:sp>
      <p:sp>
        <p:nvSpPr>
          <p:cNvPr id="42" name="文字方塊 41">
            <a:extLst>
              <a:ext uri="{FF2B5EF4-FFF2-40B4-BE49-F238E27FC236}">
                <a16:creationId xmlns:a16="http://schemas.microsoft.com/office/drawing/2014/main" id="{77475C38-12D5-AA9F-1383-43C34EF4D0E0}"/>
              </a:ext>
            </a:extLst>
          </p:cNvPr>
          <p:cNvSpPr txBox="1"/>
          <p:nvPr/>
        </p:nvSpPr>
        <p:spPr>
          <a:xfrm>
            <a:off x="335225" y="5779154"/>
            <a:ext cx="1825790" cy="369332"/>
          </a:xfrm>
          <a:prstGeom prst="rect">
            <a:avLst/>
          </a:prstGeom>
          <a:noFill/>
        </p:spPr>
        <p:txBody>
          <a:bodyPr wrap="square">
            <a:spAutoFit/>
          </a:bodyPr>
          <a:lstStyle/>
          <a:p>
            <a:pPr lvl="1"/>
            <a:r>
              <a:rPr lang="en-US" altLang="zh-TW" b="1" dirty="0"/>
              <a:t>1 </a:t>
            </a:r>
            <a:r>
              <a:rPr lang="zh-TW" altLang="en-US" b="1" dirty="0"/>
              <a:t>層</a:t>
            </a:r>
            <a:endParaRPr lang="zh-TW" altLang="en-US" dirty="0"/>
          </a:p>
        </p:txBody>
      </p:sp>
      <p:sp>
        <p:nvSpPr>
          <p:cNvPr id="44" name="文字方塊 43">
            <a:extLst>
              <a:ext uri="{FF2B5EF4-FFF2-40B4-BE49-F238E27FC236}">
                <a16:creationId xmlns:a16="http://schemas.microsoft.com/office/drawing/2014/main" id="{1527671C-D902-F6A2-A4C1-0D01EEDFA428}"/>
              </a:ext>
            </a:extLst>
          </p:cNvPr>
          <p:cNvSpPr txBox="1"/>
          <p:nvPr/>
        </p:nvSpPr>
        <p:spPr>
          <a:xfrm>
            <a:off x="1656906" y="5779154"/>
            <a:ext cx="1825791" cy="369332"/>
          </a:xfrm>
          <a:prstGeom prst="rect">
            <a:avLst/>
          </a:prstGeom>
          <a:noFill/>
        </p:spPr>
        <p:txBody>
          <a:bodyPr wrap="square">
            <a:spAutoFit/>
          </a:bodyPr>
          <a:lstStyle/>
          <a:p>
            <a:pPr marR="0" lvl="1" algn="l" defTabSz="914400" rtl="0" eaLnBrk="1" fontAlgn="auto" latinLnBrk="0" hangingPunct="1">
              <a:lnSpc>
                <a:spcPct val="100000"/>
              </a:lnSpc>
              <a:spcBef>
                <a:spcPts val="0"/>
              </a:spcBef>
              <a:spcAft>
                <a:spcPts val="0"/>
              </a:spcAft>
              <a:buClrTx/>
              <a:buSzTx/>
              <a:tabLst/>
              <a:defRPr/>
            </a:pPr>
            <a:r>
              <a:rPr kumimoji="0" lang="en-US" altLang="zh-TW"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 2 = 4 </a:t>
            </a:r>
            <a:r>
              <a:rPr kumimoji="0" lang="zh-TW" altLang="en-US"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p>
        </p:txBody>
      </p:sp>
      <p:sp>
        <p:nvSpPr>
          <p:cNvPr id="45" name="文字方塊 44">
            <a:extLst>
              <a:ext uri="{FF2B5EF4-FFF2-40B4-BE49-F238E27FC236}">
                <a16:creationId xmlns:a16="http://schemas.microsoft.com/office/drawing/2014/main" id="{1331737B-056D-9FE4-2786-515DA14B770A}"/>
              </a:ext>
            </a:extLst>
          </p:cNvPr>
          <p:cNvSpPr txBox="1"/>
          <p:nvPr/>
        </p:nvSpPr>
        <p:spPr>
          <a:xfrm>
            <a:off x="3367100" y="5784069"/>
            <a:ext cx="1996840" cy="369332"/>
          </a:xfrm>
          <a:prstGeom prst="rect">
            <a:avLst/>
          </a:prstGeom>
          <a:noFill/>
        </p:spPr>
        <p:txBody>
          <a:bodyPr wrap="square">
            <a:spAutoFit/>
          </a:bodyPr>
          <a:lstStyle/>
          <a:p>
            <a:pPr marR="0" lvl="1" algn="l" defTabSz="914400" rtl="0" eaLnBrk="1" fontAlgn="auto" latinLnBrk="0" hangingPunct="1">
              <a:lnSpc>
                <a:spcPct val="100000"/>
              </a:lnSpc>
              <a:spcBef>
                <a:spcPts val="0"/>
              </a:spcBef>
              <a:spcAft>
                <a:spcPts val="0"/>
              </a:spcAft>
              <a:buClrTx/>
              <a:buSzTx/>
              <a:tabLst/>
              <a:defRPr/>
            </a:pPr>
            <a:r>
              <a:rPr kumimoji="0" lang="en-US" altLang="zh-TW"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 2 = 4 </a:t>
            </a:r>
            <a:r>
              <a:rPr kumimoji="0" lang="zh-TW" altLang="en-US"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p>
        </p:txBody>
      </p:sp>
      <p:sp>
        <p:nvSpPr>
          <p:cNvPr id="46" name="文字方塊 45">
            <a:extLst>
              <a:ext uri="{FF2B5EF4-FFF2-40B4-BE49-F238E27FC236}">
                <a16:creationId xmlns:a16="http://schemas.microsoft.com/office/drawing/2014/main" id="{01EC4F0E-896E-0B0F-B311-2E2C33E1836C}"/>
              </a:ext>
            </a:extLst>
          </p:cNvPr>
          <p:cNvSpPr txBox="1"/>
          <p:nvPr/>
        </p:nvSpPr>
        <p:spPr>
          <a:xfrm>
            <a:off x="4882827" y="5784069"/>
            <a:ext cx="1825791" cy="369332"/>
          </a:xfrm>
          <a:prstGeom prst="rect">
            <a:avLst/>
          </a:prstGeom>
          <a:noFill/>
        </p:spPr>
        <p:txBody>
          <a:bodyPr wrap="square">
            <a:spAutoFit/>
          </a:bodyPr>
          <a:lstStyle/>
          <a:p>
            <a:pPr marR="0" lvl="1" algn="l" defTabSz="914400" rtl="0" eaLnBrk="1" fontAlgn="auto" latinLnBrk="0" hangingPunct="1">
              <a:lnSpc>
                <a:spcPct val="100000"/>
              </a:lnSpc>
              <a:spcBef>
                <a:spcPts val="0"/>
              </a:spcBef>
              <a:spcAft>
                <a:spcPts val="0"/>
              </a:spcAft>
              <a:buClrTx/>
              <a:buSzTx/>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 2 = </a:t>
            </a:r>
            <a:r>
              <a:rPr kumimoji="0" lang="en-US" altLang="zh-TW"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 </a:t>
            </a:r>
            <a:r>
              <a:rPr kumimoji="0" lang="zh-TW" altLang="en-US"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文字方塊 46">
            <a:extLst>
              <a:ext uri="{FF2B5EF4-FFF2-40B4-BE49-F238E27FC236}">
                <a16:creationId xmlns:a16="http://schemas.microsoft.com/office/drawing/2014/main" id="{0C35E833-8D8D-E627-CF0C-B536021F1372}"/>
              </a:ext>
            </a:extLst>
          </p:cNvPr>
          <p:cNvSpPr txBox="1"/>
          <p:nvPr/>
        </p:nvSpPr>
        <p:spPr>
          <a:xfrm>
            <a:off x="6452433" y="5779154"/>
            <a:ext cx="1996840" cy="369332"/>
          </a:xfrm>
          <a:prstGeom prst="rect">
            <a:avLst/>
          </a:prstGeom>
          <a:noFill/>
        </p:spPr>
        <p:txBody>
          <a:bodyPr wrap="square">
            <a:spAutoFit/>
          </a:bodyPr>
          <a:lstStyle/>
          <a:p>
            <a:pPr marR="0" lvl="1" algn="l" defTabSz="914400" rtl="0" eaLnBrk="1" fontAlgn="auto" latinLnBrk="0" hangingPunct="1">
              <a:lnSpc>
                <a:spcPct val="100000"/>
              </a:lnSpc>
              <a:spcBef>
                <a:spcPts val="0"/>
              </a:spcBef>
              <a:spcAft>
                <a:spcPts val="0"/>
              </a:spcAft>
              <a:buClrTx/>
              <a:buSzTx/>
              <a:tabLst/>
              <a:defRPr/>
            </a:pPr>
            <a:r>
              <a:rPr kumimoji="0" lang="en-US" altLang="zh-TW"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 2 = 4 </a:t>
            </a:r>
            <a:r>
              <a:rPr kumimoji="0" lang="zh-TW" altLang="en-US"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p>
        </p:txBody>
      </p:sp>
      <p:sp>
        <p:nvSpPr>
          <p:cNvPr id="48" name="文字方塊 47">
            <a:extLst>
              <a:ext uri="{FF2B5EF4-FFF2-40B4-BE49-F238E27FC236}">
                <a16:creationId xmlns:a16="http://schemas.microsoft.com/office/drawing/2014/main" id="{4CE925B4-0CF4-C9B0-1A45-21726A3D7AD7}"/>
              </a:ext>
            </a:extLst>
          </p:cNvPr>
          <p:cNvSpPr txBox="1"/>
          <p:nvPr/>
        </p:nvSpPr>
        <p:spPr>
          <a:xfrm>
            <a:off x="10247772" y="5779154"/>
            <a:ext cx="1825790" cy="369332"/>
          </a:xfrm>
          <a:prstGeom prst="rect">
            <a:avLst/>
          </a:prstGeom>
          <a:noFill/>
        </p:spPr>
        <p:txBody>
          <a:bodyPr wrap="square">
            <a:spAutoFit/>
          </a:bodyPr>
          <a:lstStyle/>
          <a:p>
            <a:pPr lvl="1"/>
            <a:r>
              <a:rPr lang="en-US" altLang="zh-TW" b="1" dirty="0"/>
              <a:t>1 </a:t>
            </a:r>
            <a:r>
              <a:rPr lang="zh-TW" altLang="en-US" b="1" dirty="0"/>
              <a:t>層</a:t>
            </a:r>
            <a:endParaRPr lang="zh-TW" altLang="en-US" dirty="0"/>
          </a:p>
        </p:txBody>
      </p:sp>
      <p:cxnSp>
        <p:nvCxnSpPr>
          <p:cNvPr id="56" name="直線單箭頭接點 55">
            <a:extLst>
              <a:ext uri="{FF2B5EF4-FFF2-40B4-BE49-F238E27FC236}">
                <a16:creationId xmlns:a16="http://schemas.microsoft.com/office/drawing/2014/main" id="{43E71055-D6E1-302A-3356-CAFF88143015}"/>
              </a:ext>
            </a:extLst>
          </p:cNvPr>
          <p:cNvCxnSpPr>
            <a:stCxn id="19" idx="3"/>
            <a:endCxn id="25" idx="1"/>
          </p:cNvCxnSpPr>
          <p:nvPr/>
        </p:nvCxnSpPr>
        <p:spPr>
          <a:xfrm>
            <a:off x="1713917" y="4845549"/>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750C1C3A-EF89-B2E4-FF3E-FAC5BBF7D994}"/>
              </a:ext>
            </a:extLst>
          </p:cNvPr>
          <p:cNvCxnSpPr/>
          <p:nvPr/>
        </p:nvCxnSpPr>
        <p:spPr>
          <a:xfrm>
            <a:off x="3426670" y="4845548"/>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3A35A63F-A0DA-5A8B-DA14-A2307D68E2B9}"/>
              </a:ext>
            </a:extLst>
          </p:cNvPr>
          <p:cNvCxnSpPr/>
          <p:nvPr/>
        </p:nvCxnSpPr>
        <p:spPr>
          <a:xfrm>
            <a:off x="5084058" y="4845548"/>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8653032B-083D-8FF6-5D0B-67AFC61AE20E}"/>
              </a:ext>
            </a:extLst>
          </p:cNvPr>
          <p:cNvCxnSpPr/>
          <p:nvPr/>
        </p:nvCxnSpPr>
        <p:spPr>
          <a:xfrm>
            <a:off x="6535098" y="4845548"/>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89CD2F7B-57D0-376A-6FD6-0D3BDD4B27F9}"/>
              </a:ext>
            </a:extLst>
          </p:cNvPr>
          <p:cNvCxnSpPr/>
          <p:nvPr/>
        </p:nvCxnSpPr>
        <p:spPr>
          <a:xfrm>
            <a:off x="8087302" y="4845547"/>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4" name="直線單箭頭接點 1023">
            <a:extLst>
              <a:ext uri="{FF2B5EF4-FFF2-40B4-BE49-F238E27FC236}">
                <a16:creationId xmlns:a16="http://schemas.microsoft.com/office/drawing/2014/main" id="{06899587-2A89-A19F-4B93-B350F9CF68E5}"/>
              </a:ext>
            </a:extLst>
          </p:cNvPr>
          <p:cNvCxnSpPr/>
          <p:nvPr/>
        </p:nvCxnSpPr>
        <p:spPr>
          <a:xfrm>
            <a:off x="10023253" y="4845547"/>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76689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DD613-E1D3-67B6-8FC3-3DB9B2C62BF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3FC720A-A804-6592-5681-320F1F954577}"/>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E490BA42-4866-50B4-1389-D21DDADF7E0F}"/>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36449678-9296-7976-18CA-A49D94434AFC}"/>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B1846B9-E481-EC16-70EC-520CD00336AB}"/>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01A31E16-C6DD-8415-4603-1149755D2ECD}"/>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F472A9B3-31D5-7F81-B044-01B6600CC9D5}"/>
              </a:ext>
            </a:extLst>
          </p:cNvPr>
          <p:cNvCxnSpPr>
            <a:cxnSpLocks/>
          </p:cNvCxnSpPr>
          <p:nvPr/>
        </p:nvCxnSpPr>
        <p:spPr>
          <a:xfrm flipH="1">
            <a:off x="2480650" y="640758"/>
            <a:ext cx="9318634"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FCB09C0-54D2-5E50-8ADA-62E9B761C3DA}"/>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4FE07315-ED0F-024C-0D21-ACF9780E6C60}"/>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10</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A6184D54-98E7-2BD3-1B6D-16A35EB5CEA1}"/>
              </a:ext>
            </a:extLst>
          </p:cNvPr>
          <p:cNvSpPr txBox="1"/>
          <p:nvPr/>
        </p:nvSpPr>
        <p:spPr>
          <a:xfrm>
            <a:off x="1152588" y="353876"/>
            <a:ext cx="1328062" cy="400110"/>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CNN</a:t>
            </a:r>
            <a:r>
              <a:rPr lang="zh-TW" altLang="en-US" sz="2000" b="1" dirty="0">
                <a:latin typeface="微軟正黑體" panose="020B0604030504040204" pitchFamily="34" charset="-120"/>
                <a:ea typeface="微軟正黑體" panose="020B0604030504040204" pitchFamily="34" charset="-120"/>
              </a:rPr>
              <a:t>種類</a:t>
            </a:r>
            <a:endParaRPr lang="en-US" altLang="zh-TW" sz="2000" b="1" dirty="0">
              <a:latin typeface="微軟正黑體" panose="020B0604030504040204" pitchFamily="34" charset="-120"/>
              <a:ea typeface="微軟正黑體" panose="020B0604030504040204" pitchFamily="34" charset="-120"/>
            </a:endParaRPr>
          </a:p>
        </p:txBody>
      </p:sp>
      <p:sp>
        <p:nvSpPr>
          <p:cNvPr id="6" name="Rectangle 2">
            <a:extLst>
              <a:ext uri="{FF2B5EF4-FFF2-40B4-BE49-F238E27FC236}">
                <a16:creationId xmlns:a16="http://schemas.microsoft.com/office/drawing/2014/main" id="{CBEEBB41-7C2E-9CC3-D09E-839905FE47CA}"/>
              </a:ext>
            </a:extLst>
          </p:cNvPr>
          <p:cNvSpPr>
            <a:spLocks noChangeArrowheads="1"/>
          </p:cNvSpPr>
          <p:nvPr/>
        </p:nvSpPr>
        <p:spPr bwMode="auto">
          <a:xfrm>
            <a:off x="360912" y="851972"/>
            <a:ext cx="115675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每個任務不同</a:t>
            </a:r>
            <a:r>
              <a:rPr kumimoji="0" lang="zh-TW" altLang="zh-TW" sz="1800" b="0" i="0" u="none" strike="noStrike" cap="none" normalizeH="0" baseline="0" dirty="0">
                <a:ln>
                  <a:noFill/>
                </a:ln>
                <a:solidFill>
                  <a:schemeClr val="tx1"/>
                </a:solidFill>
                <a:effectLst/>
                <a:latin typeface="Arial" panose="020B0604020202020204" pitchFamily="34" charset="0"/>
              </a:rPr>
              <a:t>：分類、分割用的模型不同。</a:t>
            </a:r>
            <a:endParaRPr kumimoji="0" lang="en-US"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21" name="圖片 20" descr="一張含有 寫生, 圖畫, 圖表, 房子 的圖片&#10;&#10;AI 產生的內容可能不正確。">
            <a:hlinkClick r:id="rId3"/>
            <a:extLst>
              <a:ext uri="{FF2B5EF4-FFF2-40B4-BE49-F238E27FC236}">
                <a16:creationId xmlns:a16="http://schemas.microsoft.com/office/drawing/2014/main" id="{199384A8-4A52-A0EB-896C-5CE71945AE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73708" y="1544469"/>
            <a:ext cx="3765959" cy="2268199"/>
          </a:xfrm>
          <a:prstGeom prst="rect">
            <a:avLst/>
          </a:prstGeom>
        </p:spPr>
      </p:pic>
      <p:sp>
        <p:nvSpPr>
          <p:cNvPr id="3" name="文字方塊 2">
            <a:extLst>
              <a:ext uri="{FF2B5EF4-FFF2-40B4-BE49-F238E27FC236}">
                <a16:creationId xmlns:a16="http://schemas.microsoft.com/office/drawing/2014/main" id="{AA8E7BDD-9DF5-23BC-CEF6-756C62AC3591}"/>
              </a:ext>
            </a:extLst>
          </p:cNvPr>
          <p:cNvSpPr txBox="1"/>
          <p:nvPr/>
        </p:nvSpPr>
        <p:spPr>
          <a:xfrm>
            <a:off x="639669" y="1175137"/>
            <a:ext cx="1633948" cy="369332"/>
          </a:xfrm>
          <a:prstGeom prst="rect">
            <a:avLst/>
          </a:prstGeom>
          <a:noFill/>
        </p:spPr>
        <p:txBody>
          <a:bodyPr wrap="square" rtlCol="0">
            <a:spAutoFit/>
          </a:bodyPr>
          <a:lstStyle/>
          <a:p>
            <a:r>
              <a:rPr lang="en-US" altLang="zh-TW" b="1" dirty="0"/>
              <a:t>3D </a:t>
            </a:r>
            <a:r>
              <a:rPr lang="en-US" altLang="zh-TW" b="1" dirty="0" err="1"/>
              <a:t>DenseNet</a:t>
            </a:r>
            <a:endParaRPr lang="zh-TW" altLang="en-US" b="1" dirty="0"/>
          </a:p>
        </p:txBody>
      </p:sp>
      <p:sp>
        <p:nvSpPr>
          <p:cNvPr id="22" name="文字方塊 21">
            <a:extLst>
              <a:ext uri="{FF2B5EF4-FFF2-40B4-BE49-F238E27FC236}">
                <a16:creationId xmlns:a16="http://schemas.microsoft.com/office/drawing/2014/main" id="{C04DC16B-919C-67DC-61E6-3D42B8AA0200}"/>
              </a:ext>
            </a:extLst>
          </p:cNvPr>
          <p:cNvSpPr txBox="1"/>
          <p:nvPr/>
        </p:nvSpPr>
        <p:spPr>
          <a:xfrm>
            <a:off x="6185714" y="1783910"/>
            <a:ext cx="4893443" cy="2123658"/>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defPPr>
              <a:defRPr lang="zh-TW"/>
            </a:defPPr>
            <a:lvl1pPr lvl="0" eaLnBrk="0" fontAlgn="base" hangingPunct="0">
              <a:spcBef>
                <a:spcPct val="0"/>
              </a:spcBef>
              <a:spcAft>
                <a:spcPct val="0"/>
              </a:spcAft>
              <a:defRPr sz="1200" b="1">
                <a:latin typeface="微軟正黑體" panose="020B0604030504040204" pitchFamily="34" charset="-120"/>
                <a:ea typeface="微軟正黑體" panose="020B0604030504040204" pitchFamily="34" charset="-120"/>
              </a:defRPr>
            </a:lvl1pPr>
          </a:lstStyle>
          <a:p>
            <a:r>
              <a:rPr lang="en-US" altLang="zh-TW" dirty="0" err="1"/>
              <a:t>DenseNet</a:t>
            </a:r>
            <a:r>
              <a:rPr lang="en-US" altLang="zh-TW" dirty="0"/>
              <a:t> </a:t>
            </a:r>
            <a:r>
              <a:rPr lang="zh-TW" altLang="en-US" dirty="0"/>
              <a:t>的特色</a:t>
            </a:r>
          </a:p>
          <a:p>
            <a:pPr marL="171450" indent="-171450">
              <a:buFont typeface="Arial" panose="020B0604020202020204" pitchFamily="34" charset="0"/>
              <a:buChar char="•"/>
            </a:pPr>
            <a:r>
              <a:rPr lang="zh-TW" altLang="en-US" dirty="0"/>
              <a:t>密集連接 </a:t>
            </a:r>
            <a:r>
              <a:rPr lang="en-US" altLang="zh-TW" dirty="0"/>
              <a:t>(Dense Connectivity)</a:t>
            </a:r>
            <a:r>
              <a:rPr lang="zh-TW" altLang="en-US" b="0" dirty="0"/>
              <a:t>：</a:t>
            </a:r>
            <a:endParaRPr lang="en-US" altLang="zh-TW" b="0" dirty="0"/>
          </a:p>
          <a:p>
            <a:r>
              <a:rPr lang="zh-TW" altLang="en-US" b="0" dirty="0"/>
              <a:t>     每層都接收前面所有層的輸出，強化特徵傳遞</a:t>
            </a:r>
          </a:p>
          <a:p>
            <a:pPr marL="171450" indent="-171450">
              <a:buFont typeface="Arial" panose="020B0604020202020204" pitchFamily="34" charset="0"/>
              <a:buChar char="•"/>
            </a:pPr>
            <a:r>
              <a:rPr lang="zh-TW" altLang="en-US" dirty="0"/>
              <a:t>特徵重用</a:t>
            </a:r>
            <a:r>
              <a:rPr lang="zh-TW" altLang="en-US" b="0" dirty="0"/>
              <a:t>：</a:t>
            </a:r>
            <a:endParaRPr lang="en-US" altLang="zh-TW" b="0" dirty="0"/>
          </a:p>
          <a:p>
            <a:r>
              <a:rPr lang="en-US" altLang="zh-TW" b="0" dirty="0"/>
              <a:t>    </a:t>
            </a:r>
            <a:r>
              <a:rPr lang="zh-TW" altLang="en-US" b="0" dirty="0"/>
              <a:t>低層細節特徵可直接傳到高層，提高資訊利用率</a:t>
            </a:r>
          </a:p>
          <a:p>
            <a:pPr marL="171450" indent="-171450">
              <a:buFont typeface="Arial" panose="020B0604020202020204" pitchFamily="34" charset="0"/>
              <a:buChar char="•"/>
            </a:pPr>
            <a:r>
              <a:rPr lang="zh-TW" altLang="en-US" dirty="0"/>
              <a:t>減少參數量</a:t>
            </a:r>
            <a:r>
              <a:rPr lang="zh-TW" altLang="en-US" b="0" dirty="0"/>
              <a:t>：</a:t>
            </a:r>
            <a:endParaRPr lang="en-US" altLang="zh-TW" b="0" dirty="0"/>
          </a:p>
          <a:p>
            <a:r>
              <a:rPr lang="en-US" altLang="zh-TW" b="0" dirty="0"/>
              <a:t>     </a:t>
            </a:r>
            <a:r>
              <a:rPr lang="zh-TW" altLang="en-US" b="0" dirty="0"/>
              <a:t>避免重複學習冗餘特徵，比 </a:t>
            </a:r>
            <a:r>
              <a:rPr lang="en-US" altLang="zh-TW" b="0" dirty="0" err="1"/>
              <a:t>ResNet</a:t>
            </a:r>
            <a:r>
              <a:rPr lang="en-US" altLang="zh-TW" b="0" dirty="0"/>
              <a:t> </a:t>
            </a:r>
            <a:r>
              <a:rPr lang="zh-TW" altLang="en-US" b="0" dirty="0"/>
              <a:t>更省參數</a:t>
            </a:r>
          </a:p>
          <a:p>
            <a:pPr marL="171450" indent="-171450">
              <a:buFont typeface="Arial" panose="020B0604020202020204" pitchFamily="34" charset="0"/>
              <a:buChar char="•"/>
            </a:pPr>
            <a:r>
              <a:rPr lang="zh-TW" altLang="en-US" dirty="0"/>
              <a:t>緩解梯度消失</a:t>
            </a:r>
            <a:r>
              <a:rPr lang="zh-TW" altLang="en-US" b="0" dirty="0"/>
              <a:t>：</a:t>
            </a:r>
            <a:endParaRPr lang="en-US" altLang="zh-TW" b="0" dirty="0"/>
          </a:p>
          <a:p>
            <a:r>
              <a:rPr lang="en-US" altLang="zh-TW" b="0" dirty="0"/>
              <a:t>     </a:t>
            </a:r>
            <a:r>
              <a:rPr lang="zh-TW" altLang="en-US" b="0" dirty="0"/>
              <a:t>多條梯度傳遞路徑，深層網路也能順利訓練</a:t>
            </a:r>
          </a:p>
          <a:p>
            <a:pPr marL="171450" indent="-171450">
              <a:buFont typeface="Arial" panose="020B0604020202020204" pitchFamily="34" charset="0"/>
              <a:buChar char="•"/>
            </a:pPr>
            <a:r>
              <a:rPr lang="zh-TW" altLang="en-US" dirty="0"/>
              <a:t>高效能</a:t>
            </a:r>
            <a:r>
              <a:rPr lang="zh-TW" altLang="en-US" b="0" dirty="0"/>
              <a:t>：</a:t>
            </a:r>
            <a:endParaRPr lang="en-US" altLang="zh-TW" b="0" dirty="0"/>
          </a:p>
          <a:p>
            <a:r>
              <a:rPr lang="en-US" altLang="zh-TW" b="0" dirty="0"/>
              <a:t>     </a:t>
            </a:r>
            <a:r>
              <a:rPr lang="zh-TW" altLang="en-US" b="0" dirty="0"/>
              <a:t>在影像分類與醫學影像分析中表現優秀</a:t>
            </a:r>
            <a:endParaRPr lang="en-US" altLang="zh-TW" b="0" dirty="0"/>
          </a:p>
        </p:txBody>
      </p:sp>
      <p:sp>
        <p:nvSpPr>
          <p:cNvPr id="36" name="文字方塊 35">
            <a:extLst>
              <a:ext uri="{FF2B5EF4-FFF2-40B4-BE49-F238E27FC236}">
                <a16:creationId xmlns:a16="http://schemas.microsoft.com/office/drawing/2014/main" id="{A57A102A-E679-714F-A5F6-09904EAB2756}"/>
              </a:ext>
            </a:extLst>
          </p:cNvPr>
          <p:cNvSpPr txBox="1"/>
          <p:nvPr/>
        </p:nvSpPr>
        <p:spPr>
          <a:xfrm>
            <a:off x="301146" y="4332418"/>
            <a:ext cx="1024582" cy="1785104"/>
          </a:xfrm>
          <a:prstGeom prst="rect">
            <a:avLst/>
          </a:prstGeom>
          <a:noFill/>
          <a:ln>
            <a:solidFill>
              <a:schemeClr val="tx1"/>
            </a:solidFill>
          </a:ln>
        </p:spPr>
        <p:txBody>
          <a:bodyPr wrap="square">
            <a:spAutoFit/>
          </a:bodyPr>
          <a:lstStyle/>
          <a:p>
            <a:pPr>
              <a:buNone/>
            </a:pPr>
            <a:r>
              <a:rPr lang="en-US" altLang="zh-TW" sz="1000" b="1" dirty="0"/>
              <a:t>Conv1 + </a:t>
            </a:r>
            <a:r>
              <a:rPr lang="en-US" altLang="zh-TW" sz="1000" b="1" dirty="0" err="1"/>
              <a:t>MaxPool</a:t>
            </a:r>
            <a:endParaRPr lang="en-US" altLang="zh-TW" sz="1000" dirty="0"/>
          </a:p>
          <a:p>
            <a:pPr>
              <a:buFont typeface="Arial" panose="020B0604020202020204" pitchFamily="34" charset="0"/>
              <a:buChar char="•"/>
            </a:pPr>
            <a:r>
              <a:rPr lang="en-US" altLang="zh-TW" sz="1000" dirty="0"/>
              <a:t>7×7 </a:t>
            </a:r>
            <a:r>
              <a:rPr lang="zh-TW" altLang="en-US" sz="1000" dirty="0"/>
              <a:t>卷積</a:t>
            </a:r>
            <a:r>
              <a:rPr lang="en-US" altLang="zh-TW" sz="1000" dirty="0"/>
              <a:t>, 64 </a:t>
            </a:r>
            <a:r>
              <a:rPr lang="zh-TW" altLang="en-US" sz="1000" dirty="0"/>
              <a:t>個 </a:t>
            </a:r>
            <a:r>
              <a:rPr lang="en-US" altLang="zh-TW" sz="1000" dirty="0"/>
              <a:t>filter, stride=2</a:t>
            </a:r>
          </a:p>
          <a:p>
            <a:pPr>
              <a:buFont typeface="Arial" panose="020B0604020202020204" pitchFamily="34" charset="0"/>
              <a:buChar char="•"/>
            </a:pPr>
            <a:r>
              <a:rPr lang="en-US" altLang="zh-TW" sz="1000" dirty="0" err="1"/>
              <a:t>BatchNorm</a:t>
            </a:r>
            <a:r>
              <a:rPr lang="en-US" altLang="zh-TW" sz="1000" dirty="0"/>
              <a:t> + </a:t>
            </a:r>
            <a:r>
              <a:rPr lang="en-US" altLang="zh-TW" sz="1000" dirty="0" err="1"/>
              <a:t>ReLU</a:t>
            </a:r>
            <a:endParaRPr lang="en-US" altLang="zh-TW" sz="1000" dirty="0"/>
          </a:p>
          <a:p>
            <a:pPr>
              <a:buFont typeface="Arial" panose="020B0604020202020204" pitchFamily="34" charset="0"/>
              <a:buChar char="•"/>
            </a:pPr>
            <a:r>
              <a:rPr lang="en-US" altLang="zh-TW" sz="1000" dirty="0"/>
              <a:t>3×3 </a:t>
            </a:r>
            <a:r>
              <a:rPr lang="zh-TW" altLang="en-US" sz="1000" dirty="0"/>
              <a:t>最大池化</a:t>
            </a:r>
            <a:r>
              <a:rPr lang="en-US" altLang="zh-TW" sz="1000" dirty="0"/>
              <a:t>, stride=2</a:t>
            </a:r>
          </a:p>
          <a:p>
            <a:pPr>
              <a:buFont typeface="Arial" panose="020B0604020202020204" pitchFamily="34" charset="0"/>
              <a:buChar char="•"/>
            </a:pPr>
            <a:r>
              <a:rPr lang="zh-TW" altLang="en-US" sz="1000" b="1" dirty="0"/>
              <a:t>輸出大小</a:t>
            </a:r>
            <a:r>
              <a:rPr lang="en-US" altLang="zh-TW" sz="1000" dirty="0"/>
              <a:t>: 56×56×64</a:t>
            </a:r>
          </a:p>
        </p:txBody>
      </p:sp>
      <p:sp>
        <p:nvSpPr>
          <p:cNvPr id="38" name="文字方塊 37">
            <a:extLst>
              <a:ext uri="{FF2B5EF4-FFF2-40B4-BE49-F238E27FC236}">
                <a16:creationId xmlns:a16="http://schemas.microsoft.com/office/drawing/2014/main" id="{C17B7679-6318-60FE-118F-BD874472CA92}"/>
              </a:ext>
            </a:extLst>
          </p:cNvPr>
          <p:cNvSpPr txBox="1"/>
          <p:nvPr/>
        </p:nvSpPr>
        <p:spPr>
          <a:xfrm>
            <a:off x="1527277" y="4337146"/>
            <a:ext cx="928266" cy="1631216"/>
          </a:xfrm>
          <a:prstGeom prst="rect">
            <a:avLst/>
          </a:prstGeom>
          <a:noFill/>
          <a:ln>
            <a:solidFill>
              <a:schemeClr val="tx1"/>
            </a:solidFill>
          </a:ln>
        </p:spPr>
        <p:txBody>
          <a:bodyPr wrap="square">
            <a:spAutoFit/>
          </a:bodyPr>
          <a:lstStyle/>
          <a:p>
            <a:pPr>
              <a:buNone/>
            </a:pPr>
            <a:r>
              <a:rPr lang="en-US" altLang="zh-TW" sz="1000" b="1" dirty="0"/>
              <a:t>Dense Block 1</a:t>
            </a:r>
            <a:r>
              <a:rPr lang="en-US" altLang="zh-TW" sz="1000" dirty="0"/>
              <a:t> (6 layers)</a:t>
            </a:r>
          </a:p>
          <a:p>
            <a:pPr>
              <a:buFont typeface="Arial" panose="020B0604020202020204" pitchFamily="34" charset="0"/>
              <a:buChar char="•"/>
            </a:pPr>
            <a:r>
              <a:rPr lang="zh-TW" altLang="en-US" sz="1000" dirty="0"/>
              <a:t>每層</a:t>
            </a:r>
            <a:r>
              <a:rPr lang="en-US" altLang="zh-TW" sz="1000" dirty="0"/>
              <a:t>: 1×1 Conv + 3×3 Conv</a:t>
            </a:r>
          </a:p>
          <a:p>
            <a:pPr>
              <a:buFont typeface="Arial" panose="020B0604020202020204" pitchFamily="34" charset="0"/>
              <a:buChar char="•"/>
            </a:pPr>
            <a:r>
              <a:rPr lang="zh-TW" altLang="en-US" sz="1000" dirty="0"/>
              <a:t>每層輸出特徵數</a:t>
            </a:r>
            <a:r>
              <a:rPr lang="en-US" altLang="zh-TW" sz="1000" dirty="0"/>
              <a:t>: growth rate k=32</a:t>
            </a:r>
          </a:p>
          <a:p>
            <a:pPr>
              <a:buFont typeface="Arial" panose="020B0604020202020204" pitchFamily="34" charset="0"/>
              <a:buChar char="•"/>
            </a:pPr>
            <a:r>
              <a:rPr lang="zh-TW" altLang="en-US" sz="1000" b="1" dirty="0"/>
              <a:t>輸出大小</a:t>
            </a:r>
            <a:r>
              <a:rPr lang="en-US" altLang="zh-TW" sz="1000" dirty="0"/>
              <a:t>: 56×56×256</a:t>
            </a:r>
          </a:p>
        </p:txBody>
      </p:sp>
      <p:sp>
        <p:nvSpPr>
          <p:cNvPr id="40" name="文字方塊 39">
            <a:extLst>
              <a:ext uri="{FF2B5EF4-FFF2-40B4-BE49-F238E27FC236}">
                <a16:creationId xmlns:a16="http://schemas.microsoft.com/office/drawing/2014/main" id="{57F6B223-810D-58A2-D03F-C90EA49D49A3}"/>
              </a:ext>
            </a:extLst>
          </p:cNvPr>
          <p:cNvSpPr txBox="1"/>
          <p:nvPr/>
        </p:nvSpPr>
        <p:spPr>
          <a:xfrm>
            <a:off x="2713597" y="4567978"/>
            <a:ext cx="900201" cy="1169551"/>
          </a:xfrm>
          <a:prstGeom prst="rect">
            <a:avLst/>
          </a:prstGeom>
          <a:noFill/>
          <a:ln>
            <a:solidFill>
              <a:schemeClr val="tx1"/>
            </a:solidFill>
          </a:ln>
        </p:spPr>
        <p:txBody>
          <a:bodyPr wrap="square">
            <a:spAutoFit/>
          </a:bodyPr>
          <a:lstStyle/>
          <a:p>
            <a:pPr>
              <a:buNone/>
            </a:pPr>
            <a:r>
              <a:rPr lang="en-US" altLang="zh-TW" sz="1000" b="1" dirty="0"/>
              <a:t>Transition Layer 1</a:t>
            </a:r>
            <a:endParaRPr lang="en-US" altLang="zh-TW" sz="1000" dirty="0"/>
          </a:p>
          <a:p>
            <a:pPr>
              <a:buFont typeface="Arial" panose="020B0604020202020204" pitchFamily="34" charset="0"/>
              <a:buChar char="•"/>
            </a:pPr>
            <a:r>
              <a:rPr lang="en-US" altLang="zh-TW" sz="1000" dirty="0"/>
              <a:t>1×1 Conv + 2×2 </a:t>
            </a:r>
            <a:r>
              <a:rPr lang="en-US" altLang="zh-TW" sz="1000" dirty="0" err="1"/>
              <a:t>AvgPool</a:t>
            </a:r>
            <a:r>
              <a:rPr lang="en-US" altLang="zh-TW" sz="1000" dirty="0"/>
              <a:t>, stride=2</a:t>
            </a:r>
          </a:p>
          <a:p>
            <a:pPr>
              <a:buFont typeface="Arial" panose="020B0604020202020204" pitchFamily="34" charset="0"/>
              <a:buChar char="•"/>
            </a:pPr>
            <a:r>
              <a:rPr lang="zh-TW" altLang="en-US" sz="1000" b="1" dirty="0"/>
              <a:t>輸出大小</a:t>
            </a:r>
            <a:r>
              <a:rPr lang="en-US" altLang="zh-TW" sz="1000" dirty="0"/>
              <a:t>: 28×28×128</a:t>
            </a:r>
          </a:p>
        </p:txBody>
      </p:sp>
      <p:sp>
        <p:nvSpPr>
          <p:cNvPr id="42" name="文字方塊 41">
            <a:extLst>
              <a:ext uri="{FF2B5EF4-FFF2-40B4-BE49-F238E27FC236}">
                <a16:creationId xmlns:a16="http://schemas.microsoft.com/office/drawing/2014/main" id="{E7EAFA25-6A2A-93F5-4974-63CACB59C903}"/>
              </a:ext>
            </a:extLst>
          </p:cNvPr>
          <p:cNvSpPr txBox="1"/>
          <p:nvPr/>
        </p:nvSpPr>
        <p:spPr>
          <a:xfrm>
            <a:off x="3926093" y="4567977"/>
            <a:ext cx="900202" cy="1169551"/>
          </a:xfrm>
          <a:prstGeom prst="rect">
            <a:avLst/>
          </a:prstGeom>
          <a:noFill/>
          <a:ln>
            <a:solidFill>
              <a:schemeClr val="tx1"/>
            </a:solidFill>
          </a:ln>
        </p:spPr>
        <p:txBody>
          <a:bodyPr wrap="square">
            <a:spAutoFit/>
          </a:bodyPr>
          <a:lstStyle/>
          <a:p>
            <a:pPr>
              <a:buNone/>
            </a:pPr>
            <a:r>
              <a:rPr lang="en-US" altLang="zh-TW" sz="1000" b="1" dirty="0"/>
              <a:t>Dense Block 2</a:t>
            </a:r>
            <a:r>
              <a:rPr lang="en-US" altLang="zh-TW" sz="1000" dirty="0"/>
              <a:t> (12 layers)</a:t>
            </a:r>
          </a:p>
          <a:p>
            <a:pPr>
              <a:buFont typeface="Arial" panose="020B0604020202020204" pitchFamily="34" charset="0"/>
              <a:buChar char="•"/>
            </a:pPr>
            <a:r>
              <a:rPr lang="zh-TW" altLang="en-US" sz="1000" dirty="0"/>
              <a:t>每層</a:t>
            </a:r>
            <a:r>
              <a:rPr lang="en-US" altLang="zh-TW" sz="1000" dirty="0"/>
              <a:t>: 1×1 Conv + 3×3 Conv</a:t>
            </a:r>
          </a:p>
          <a:p>
            <a:pPr>
              <a:buFont typeface="Arial" panose="020B0604020202020204" pitchFamily="34" charset="0"/>
              <a:buChar char="•"/>
            </a:pPr>
            <a:r>
              <a:rPr lang="zh-TW" altLang="en-US" sz="1000" b="1" dirty="0"/>
              <a:t>輸出大小</a:t>
            </a:r>
            <a:r>
              <a:rPr lang="en-US" altLang="zh-TW" sz="1000" dirty="0"/>
              <a:t>: 28×28×512</a:t>
            </a:r>
          </a:p>
        </p:txBody>
      </p:sp>
      <p:sp>
        <p:nvSpPr>
          <p:cNvPr id="44" name="文字方塊 43">
            <a:extLst>
              <a:ext uri="{FF2B5EF4-FFF2-40B4-BE49-F238E27FC236}">
                <a16:creationId xmlns:a16="http://schemas.microsoft.com/office/drawing/2014/main" id="{383B5D12-AA03-D039-98EC-A409D0681DBC}"/>
              </a:ext>
            </a:extLst>
          </p:cNvPr>
          <p:cNvSpPr txBox="1"/>
          <p:nvPr/>
        </p:nvSpPr>
        <p:spPr>
          <a:xfrm>
            <a:off x="5084348" y="4414088"/>
            <a:ext cx="821926" cy="1477328"/>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Transition Layer 2</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1×1 Conv + 2×2 </a:t>
            </a:r>
            <a:r>
              <a:rPr lang="en-US" altLang="zh-TW" sz="1000" dirty="0" err="1">
                <a:latin typeface="微軟正黑體" panose="020B0604030504040204" pitchFamily="34" charset="-120"/>
                <a:ea typeface="微軟正黑體" panose="020B0604030504040204" pitchFamily="34" charset="-120"/>
              </a:rPr>
              <a:t>AvgPool</a:t>
            </a:r>
            <a:r>
              <a:rPr lang="en-US" altLang="zh-TW" sz="1000" dirty="0">
                <a:latin typeface="微軟正黑體" panose="020B0604030504040204" pitchFamily="34" charset="-120"/>
                <a:ea typeface="微軟正黑體" panose="020B0604030504040204" pitchFamily="34" charset="-120"/>
              </a:rPr>
              <a:t>, stride=2</a:t>
            </a:r>
          </a:p>
          <a:p>
            <a:pPr>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14×14×256</a:t>
            </a:r>
          </a:p>
        </p:txBody>
      </p:sp>
      <p:sp>
        <p:nvSpPr>
          <p:cNvPr id="46" name="文字方塊 45">
            <a:extLst>
              <a:ext uri="{FF2B5EF4-FFF2-40B4-BE49-F238E27FC236}">
                <a16:creationId xmlns:a16="http://schemas.microsoft.com/office/drawing/2014/main" id="{4228E949-57A6-68DD-B4C3-D2C23E740E6D}"/>
              </a:ext>
            </a:extLst>
          </p:cNvPr>
          <p:cNvSpPr txBox="1"/>
          <p:nvPr/>
        </p:nvSpPr>
        <p:spPr>
          <a:xfrm>
            <a:off x="6118874" y="4415647"/>
            <a:ext cx="913949" cy="1477328"/>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Dense Block 3</a:t>
            </a:r>
            <a:r>
              <a:rPr lang="en-US" altLang="zh-TW" sz="1000" dirty="0">
                <a:latin typeface="微軟正黑體" panose="020B0604030504040204" pitchFamily="34" charset="-120"/>
                <a:ea typeface="微軟正黑體" panose="020B0604030504040204" pitchFamily="34" charset="-120"/>
              </a:rPr>
              <a:t> (24 layers)</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每層</a:t>
            </a:r>
            <a:r>
              <a:rPr lang="en-US" altLang="zh-TW" sz="1000" dirty="0">
                <a:latin typeface="微軟正黑體" panose="020B0604030504040204" pitchFamily="34" charset="-120"/>
                <a:ea typeface="微軟正黑體" panose="020B0604030504040204" pitchFamily="34" charset="-120"/>
              </a:rPr>
              <a:t>: 1×1 Conv + 3×3 Conv</a:t>
            </a:r>
          </a:p>
          <a:p>
            <a:pPr>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14×14×1024</a:t>
            </a:r>
          </a:p>
        </p:txBody>
      </p:sp>
      <p:sp>
        <p:nvSpPr>
          <p:cNvPr id="48" name="文字方塊 47">
            <a:extLst>
              <a:ext uri="{FF2B5EF4-FFF2-40B4-BE49-F238E27FC236}">
                <a16:creationId xmlns:a16="http://schemas.microsoft.com/office/drawing/2014/main" id="{02EF8C07-5089-752E-4E5B-FD2D224311D3}"/>
              </a:ext>
            </a:extLst>
          </p:cNvPr>
          <p:cNvSpPr txBox="1"/>
          <p:nvPr/>
        </p:nvSpPr>
        <p:spPr>
          <a:xfrm>
            <a:off x="7277129" y="4408935"/>
            <a:ext cx="913949" cy="1323439"/>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Transition Layer 3</a:t>
            </a:r>
            <a:endParaRPr lang="en-US" altLang="zh-TW" sz="1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1×1 Conv + 2×2 </a:t>
            </a:r>
            <a:r>
              <a:rPr lang="en-US" altLang="zh-TW" sz="1000" dirty="0" err="1">
                <a:latin typeface="微軟正黑體" panose="020B0604030504040204" pitchFamily="34" charset="-120"/>
                <a:ea typeface="微軟正黑體" panose="020B0604030504040204" pitchFamily="34" charset="-120"/>
              </a:rPr>
              <a:t>AvgPool</a:t>
            </a:r>
            <a:r>
              <a:rPr lang="en-US" altLang="zh-TW" sz="1000" dirty="0">
                <a:latin typeface="微軟正黑體" panose="020B0604030504040204" pitchFamily="34" charset="-120"/>
                <a:ea typeface="微軟正黑體" panose="020B0604030504040204" pitchFamily="34" charset="-120"/>
              </a:rPr>
              <a:t>, stride=2</a:t>
            </a:r>
          </a:p>
          <a:p>
            <a:pPr>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7×7×512</a:t>
            </a:r>
          </a:p>
        </p:txBody>
      </p:sp>
      <p:sp>
        <p:nvSpPr>
          <p:cNvPr id="50" name="文字方塊 49">
            <a:extLst>
              <a:ext uri="{FF2B5EF4-FFF2-40B4-BE49-F238E27FC236}">
                <a16:creationId xmlns:a16="http://schemas.microsoft.com/office/drawing/2014/main" id="{2883476B-34EB-B507-FF48-EAF88A8E8AE3}"/>
              </a:ext>
            </a:extLst>
          </p:cNvPr>
          <p:cNvSpPr txBox="1"/>
          <p:nvPr/>
        </p:nvSpPr>
        <p:spPr>
          <a:xfrm>
            <a:off x="8465524" y="4408935"/>
            <a:ext cx="821926" cy="1323439"/>
          </a:xfrm>
          <a:prstGeom prst="rect">
            <a:avLst/>
          </a:prstGeom>
          <a:noFill/>
          <a:ln>
            <a:solidFill>
              <a:schemeClr val="tx1"/>
            </a:solidFill>
          </a:ln>
        </p:spPr>
        <p:txBody>
          <a:bodyPr wrap="square">
            <a:spAutoFit/>
          </a:bodyPr>
          <a:lstStyle/>
          <a:p>
            <a:pPr>
              <a:buNone/>
            </a:pPr>
            <a:r>
              <a:rPr lang="en-US" altLang="zh-TW" sz="1000" b="1" dirty="0">
                <a:latin typeface="微軟正黑體" panose="020B0604030504040204" pitchFamily="34" charset="-120"/>
                <a:ea typeface="微軟正黑體" panose="020B0604030504040204" pitchFamily="34" charset="-120"/>
              </a:rPr>
              <a:t>Dense Block 4</a:t>
            </a:r>
            <a:r>
              <a:rPr lang="en-US" altLang="zh-TW" sz="1000" dirty="0">
                <a:latin typeface="微軟正黑體" panose="020B0604030504040204" pitchFamily="34" charset="-120"/>
                <a:ea typeface="微軟正黑體" panose="020B0604030504040204" pitchFamily="34" charset="-120"/>
              </a:rPr>
              <a:t> (16 layers)</a:t>
            </a:r>
          </a:p>
          <a:p>
            <a:pPr>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每層</a:t>
            </a:r>
            <a:r>
              <a:rPr lang="en-US" altLang="zh-TW" sz="1000" dirty="0">
                <a:latin typeface="微軟正黑體" panose="020B0604030504040204" pitchFamily="34" charset="-120"/>
                <a:ea typeface="微軟正黑體" panose="020B0604030504040204" pitchFamily="34" charset="-120"/>
              </a:rPr>
              <a:t>: 1×1 Conv + 3×3 Conv</a:t>
            </a:r>
          </a:p>
          <a:p>
            <a:pPr>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輸出大小</a:t>
            </a:r>
            <a:r>
              <a:rPr lang="en-US" altLang="zh-TW" sz="1000" dirty="0">
                <a:latin typeface="微軟正黑體" panose="020B0604030504040204" pitchFamily="34" charset="-120"/>
                <a:ea typeface="微軟正黑體" panose="020B0604030504040204" pitchFamily="34" charset="-120"/>
              </a:rPr>
              <a:t>: 7×7×1024</a:t>
            </a:r>
          </a:p>
        </p:txBody>
      </p:sp>
      <p:sp>
        <p:nvSpPr>
          <p:cNvPr id="52" name="文字方塊 51">
            <a:extLst>
              <a:ext uri="{FF2B5EF4-FFF2-40B4-BE49-F238E27FC236}">
                <a16:creationId xmlns:a16="http://schemas.microsoft.com/office/drawing/2014/main" id="{D07A2A64-E385-E279-7BBC-9CF7FA3816D0}"/>
              </a:ext>
            </a:extLst>
          </p:cNvPr>
          <p:cNvSpPr txBox="1"/>
          <p:nvPr/>
        </p:nvSpPr>
        <p:spPr>
          <a:xfrm>
            <a:off x="9581295" y="4408934"/>
            <a:ext cx="935679" cy="1323439"/>
          </a:xfrm>
          <a:prstGeom prst="rect">
            <a:avLst/>
          </a:prstGeom>
          <a:noFill/>
          <a:ln>
            <a:solidFill>
              <a:schemeClr val="tx1"/>
            </a:solidFill>
          </a:ln>
        </p:spPr>
        <p:txBody>
          <a:bodyPr wrap="square">
            <a:spAutoFit/>
          </a:bodyPr>
          <a:lstStyle/>
          <a:p>
            <a:pPr>
              <a:buNone/>
            </a:pPr>
            <a:r>
              <a:rPr lang="zh-TW" altLang="en-US" sz="1000" b="1" dirty="0"/>
              <a:t>全域平均池化 </a:t>
            </a:r>
            <a:r>
              <a:rPr lang="en-US" altLang="zh-TW" sz="1000" b="1" dirty="0"/>
              <a:t>(Global Average Pooling)</a:t>
            </a:r>
            <a:endParaRPr lang="en-US" altLang="zh-TW" sz="1000" dirty="0"/>
          </a:p>
          <a:p>
            <a:pPr>
              <a:buFont typeface="Arial" panose="020B0604020202020204" pitchFamily="34" charset="0"/>
              <a:buChar char="•"/>
            </a:pPr>
            <a:r>
              <a:rPr lang="en-US" altLang="zh-TW" sz="1000" dirty="0"/>
              <a:t>7×7 feature map → 1×1</a:t>
            </a:r>
          </a:p>
          <a:p>
            <a:pPr>
              <a:buFont typeface="Arial" panose="020B0604020202020204" pitchFamily="34" charset="0"/>
              <a:buChar char="•"/>
            </a:pPr>
            <a:r>
              <a:rPr lang="zh-TW" altLang="en-US" sz="1000" b="1" dirty="0"/>
              <a:t>輸出大小</a:t>
            </a:r>
            <a:r>
              <a:rPr lang="en-US" altLang="zh-TW" sz="1000" dirty="0"/>
              <a:t>: 1024</a:t>
            </a:r>
          </a:p>
        </p:txBody>
      </p:sp>
      <p:sp>
        <p:nvSpPr>
          <p:cNvPr id="54" name="文字方塊 53">
            <a:extLst>
              <a:ext uri="{FF2B5EF4-FFF2-40B4-BE49-F238E27FC236}">
                <a16:creationId xmlns:a16="http://schemas.microsoft.com/office/drawing/2014/main" id="{94C97D54-9FB5-A31F-F0F4-F17757C80969}"/>
              </a:ext>
            </a:extLst>
          </p:cNvPr>
          <p:cNvSpPr txBox="1"/>
          <p:nvPr/>
        </p:nvSpPr>
        <p:spPr>
          <a:xfrm>
            <a:off x="10778176" y="4427749"/>
            <a:ext cx="935680" cy="1138773"/>
          </a:xfrm>
          <a:prstGeom prst="rect">
            <a:avLst/>
          </a:prstGeom>
          <a:noFill/>
          <a:ln>
            <a:solidFill>
              <a:schemeClr val="tx1"/>
            </a:solidFill>
          </a:ln>
        </p:spPr>
        <p:txBody>
          <a:bodyPr wrap="square">
            <a:spAutoFit/>
          </a:bodyPr>
          <a:lstStyle/>
          <a:p>
            <a:pPr>
              <a:buNone/>
            </a:pPr>
            <a:r>
              <a:rPr lang="zh-TW" altLang="en-US" sz="1000" b="1" dirty="0"/>
              <a:t>全連接層 </a:t>
            </a:r>
            <a:r>
              <a:rPr lang="en-US" altLang="zh-TW" sz="1000" b="1" dirty="0"/>
              <a:t>(Fully Connected)</a:t>
            </a:r>
            <a:endParaRPr lang="en-US" altLang="zh-TW" sz="1000" dirty="0"/>
          </a:p>
          <a:p>
            <a:pPr>
              <a:buFont typeface="Arial" panose="020B0604020202020204" pitchFamily="34" charset="0"/>
              <a:buChar char="•"/>
            </a:pPr>
            <a:r>
              <a:rPr lang="zh-TW" altLang="en-US" sz="1000" dirty="0"/>
              <a:t>輸出</a:t>
            </a:r>
            <a:r>
              <a:rPr lang="en-US" altLang="zh-TW" sz="1000" dirty="0"/>
              <a:t>: </a:t>
            </a:r>
            <a:r>
              <a:rPr lang="zh-TW" altLang="en-US" sz="1000" dirty="0"/>
              <a:t>類別數（如 </a:t>
            </a:r>
            <a:r>
              <a:rPr lang="en-US" altLang="zh-TW" sz="1000" dirty="0"/>
              <a:t>1000 </a:t>
            </a:r>
            <a:r>
              <a:rPr lang="zh-TW" altLang="en-US" sz="1000" dirty="0"/>
              <a:t>類 </a:t>
            </a:r>
            <a:r>
              <a:rPr lang="en-US" altLang="zh-TW" sz="1000" dirty="0"/>
              <a:t>for ImageNet</a:t>
            </a:r>
            <a:r>
              <a:rPr lang="zh-TW" altLang="en-US" dirty="0"/>
              <a:t>）</a:t>
            </a:r>
          </a:p>
        </p:txBody>
      </p:sp>
      <p:sp>
        <p:nvSpPr>
          <p:cNvPr id="61" name="文字方塊 60">
            <a:extLst>
              <a:ext uri="{FF2B5EF4-FFF2-40B4-BE49-F238E27FC236}">
                <a16:creationId xmlns:a16="http://schemas.microsoft.com/office/drawing/2014/main" id="{EC3DC81E-FB44-CE22-D764-4107DCBE4A4C}"/>
              </a:ext>
            </a:extLst>
          </p:cNvPr>
          <p:cNvSpPr txBox="1"/>
          <p:nvPr/>
        </p:nvSpPr>
        <p:spPr>
          <a:xfrm>
            <a:off x="478346" y="6158744"/>
            <a:ext cx="695362" cy="307777"/>
          </a:xfrm>
          <a:prstGeom prst="rect">
            <a:avLst/>
          </a:prstGeom>
          <a:noFill/>
        </p:spPr>
        <p:txBody>
          <a:bodyPr wrap="square">
            <a:spAutoFit/>
          </a:bodyPr>
          <a:lstStyle/>
          <a:p>
            <a:r>
              <a:rPr lang="en-US" altLang="zh-TW" sz="1400" b="1" dirty="0"/>
              <a:t>1 </a:t>
            </a:r>
            <a:r>
              <a:rPr lang="zh-TW" altLang="en-US" sz="1400" b="1" dirty="0"/>
              <a:t>層</a:t>
            </a:r>
          </a:p>
        </p:txBody>
      </p:sp>
      <p:sp>
        <p:nvSpPr>
          <p:cNvPr id="1025" name="文字方塊 1024">
            <a:extLst>
              <a:ext uri="{FF2B5EF4-FFF2-40B4-BE49-F238E27FC236}">
                <a16:creationId xmlns:a16="http://schemas.microsoft.com/office/drawing/2014/main" id="{1C941750-8CAC-7F18-1AC7-A99A9B4E39CF}"/>
              </a:ext>
            </a:extLst>
          </p:cNvPr>
          <p:cNvSpPr txBox="1"/>
          <p:nvPr/>
        </p:nvSpPr>
        <p:spPr>
          <a:xfrm>
            <a:off x="1477796" y="6135380"/>
            <a:ext cx="1100852" cy="307777"/>
          </a:xfrm>
          <a:prstGeom prst="rect">
            <a:avLst/>
          </a:prstGeom>
          <a:noFill/>
        </p:spPr>
        <p:txBody>
          <a:bodyPr wrap="square">
            <a:spAutoFit/>
          </a:bodyPr>
          <a:lstStyle/>
          <a:p>
            <a:r>
              <a:rPr kumimoji="0" lang="en-US" altLang="zh-TW"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6 × 2 = 12 </a:t>
            </a:r>
            <a:r>
              <a:rPr lang="zh-TW" altLang="en-US" sz="1400" b="1" dirty="0">
                <a:solidFill>
                  <a:prstClr val="black"/>
                </a:solidFill>
                <a:latin typeface="Calibri" panose="020F0502020204030204"/>
                <a:ea typeface="新細明體" panose="02020500000000000000" pitchFamily="18" charset="-120"/>
              </a:rPr>
              <a:t>層</a:t>
            </a:r>
            <a:endParaRPr lang="zh-TW" altLang="en-US" sz="1400" b="1" dirty="0"/>
          </a:p>
        </p:txBody>
      </p:sp>
      <p:sp>
        <p:nvSpPr>
          <p:cNvPr id="1027" name="文字方塊 1026">
            <a:extLst>
              <a:ext uri="{FF2B5EF4-FFF2-40B4-BE49-F238E27FC236}">
                <a16:creationId xmlns:a16="http://schemas.microsoft.com/office/drawing/2014/main" id="{2BDFDB40-C7C5-9399-0451-245491B7F693}"/>
              </a:ext>
            </a:extLst>
          </p:cNvPr>
          <p:cNvSpPr txBox="1"/>
          <p:nvPr/>
        </p:nvSpPr>
        <p:spPr>
          <a:xfrm>
            <a:off x="3783680" y="6138127"/>
            <a:ext cx="1505208" cy="307777"/>
          </a:xfrm>
          <a:prstGeom prst="rect">
            <a:avLst/>
          </a:prstGeom>
          <a:noFill/>
        </p:spPr>
        <p:txBody>
          <a:bodyPr wrap="square">
            <a:spAutoFit/>
          </a:bodyPr>
          <a:lstStyle/>
          <a:p>
            <a:r>
              <a:rPr kumimoji="0" lang="en-US" altLang="zh-TW"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 × 2 = 24 </a:t>
            </a:r>
            <a:r>
              <a:rPr kumimoji="0" lang="zh-TW" altLang="en-US"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endParaRPr lang="zh-TW" altLang="en-US" sz="1400" b="1" dirty="0"/>
          </a:p>
        </p:txBody>
      </p:sp>
      <p:sp>
        <p:nvSpPr>
          <p:cNvPr id="1030" name="文字方塊 1029">
            <a:extLst>
              <a:ext uri="{FF2B5EF4-FFF2-40B4-BE49-F238E27FC236}">
                <a16:creationId xmlns:a16="http://schemas.microsoft.com/office/drawing/2014/main" id="{6CDA0C97-50F0-AB6A-B8AC-2AC4FDCC4D06}"/>
              </a:ext>
            </a:extLst>
          </p:cNvPr>
          <p:cNvSpPr txBox="1"/>
          <p:nvPr/>
        </p:nvSpPr>
        <p:spPr>
          <a:xfrm>
            <a:off x="5978933" y="6135380"/>
            <a:ext cx="1598918" cy="307777"/>
          </a:xfrm>
          <a:prstGeom prst="rect">
            <a:avLst/>
          </a:prstGeom>
          <a:noFill/>
        </p:spPr>
        <p:txBody>
          <a:bodyPr wrap="square">
            <a:spAutoFit/>
          </a:bodyPr>
          <a:lstStyle/>
          <a:p>
            <a:r>
              <a:rPr kumimoji="0" lang="en-US" altLang="zh-TW"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24 × 2 = 48 </a:t>
            </a:r>
            <a:r>
              <a:rPr kumimoji="0" lang="zh-TW" altLang="en-US"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endParaRPr lang="zh-TW" altLang="en-US" sz="1400" b="1" dirty="0"/>
          </a:p>
        </p:txBody>
      </p:sp>
      <p:sp>
        <p:nvSpPr>
          <p:cNvPr id="1032" name="文字方塊 1031">
            <a:extLst>
              <a:ext uri="{FF2B5EF4-FFF2-40B4-BE49-F238E27FC236}">
                <a16:creationId xmlns:a16="http://schemas.microsoft.com/office/drawing/2014/main" id="{CA951A80-DAFE-43E8-3A6D-6404E50AAA9D}"/>
              </a:ext>
            </a:extLst>
          </p:cNvPr>
          <p:cNvSpPr txBox="1"/>
          <p:nvPr/>
        </p:nvSpPr>
        <p:spPr>
          <a:xfrm>
            <a:off x="8378528" y="6117522"/>
            <a:ext cx="1505208" cy="307777"/>
          </a:xfrm>
          <a:prstGeom prst="rect">
            <a:avLst/>
          </a:prstGeom>
          <a:noFill/>
        </p:spPr>
        <p:txBody>
          <a:bodyPr wrap="square">
            <a:spAutoFit/>
          </a:bodyPr>
          <a:lstStyle/>
          <a:p>
            <a:r>
              <a:rPr kumimoji="0" lang="en-US" altLang="zh-TW"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16 × 2 = 32 </a:t>
            </a:r>
            <a:r>
              <a:rPr kumimoji="0" lang="zh-TW" altLang="en-US" sz="1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層</a:t>
            </a:r>
            <a:endParaRPr lang="zh-TW" altLang="en-US" sz="1400" b="1" dirty="0"/>
          </a:p>
        </p:txBody>
      </p:sp>
      <p:sp>
        <p:nvSpPr>
          <p:cNvPr id="1034" name="文字方塊 1033">
            <a:extLst>
              <a:ext uri="{FF2B5EF4-FFF2-40B4-BE49-F238E27FC236}">
                <a16:creationId xmlns:a16="http://schemas.microsoft.com/office/drawing/2014/main" id="{A81282E5-03B1-6EC3-F0B6-5A9E1A341D3D}"/>
              </a:ext>
            </a:extLst>
          </p:cNvPr>
          <p:cNvSpPr txBox="1"/>
          <p:nvPr/>
        </p:nvSpPr>
        <p:spPr>
          <a:xfrm>
            <a:off x="11018292" y="6158744"/>
            <a:ext cx="695362" cy="307777"/>
          </a:xfrm>
          <a:prstGeom prst="rect">
            <a:avLst/>
          </a:prstGeom>
          <a:noFill/>
        </p:spPr>
        <p:txBody>
          <a:bodyPr wrap="square">
            <a:spAutoFit/>
          </a:bodyPr>
          <a:lstStyle/>
          <a:p>
            <a:r>
              <a:rPr lang="en-US" altLang="zh-TW" sz="1400" b="1" dirty="0"/>
              <a:t>1 </a:t>
            </a:r>
            <a:r>
              <a:rPr lang="zh-TW" altLang="en-US" sz="1400" b="1" dirty="0"/>
              <a:t>層</a:t>
            </a:r>
          </a:p>
        </p:txBody>
      </p:sp>
      <p:cxnSp>
        <p:nvCxnSpPr>
          <p:cNvPr id="1035" name="直線單箭頭接點 1034">
            <a:extLst>
              <a:ext uri="{FF2B5EF4-FFF2-40B4-BE49-F238E27FC236}">
                <a16:creationId xmlns:a16="http://schemas.microsoft.com/office/drawing/2014/main" id="{F2C8C2E2-95CC-D947-5D0B-4FAA25991557}"/>
              </a:ext>
            </a:extLst>
          </p:cNvPr>
          <p:cNvCxnSpPr/>
          <p:nvPr/>
        </p:nvCxnSpPr>
        <p:spPr>
          <a:xfrm>
            <a:off x="1248902"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6" name="直線單箭頭接點 1035">
            <a:extLst>
              <a:ext uri="{FF2B5EF4-FFF2-40B4-BE49-F238E27FC236}">
                <a16:creationId xmlns:a16="http://schemas.microsoft.com/office/drawing/2014/main" id="{F3B67C63-B996-B36E-9CD1-FC0A0DC78E12}"/>
              </a:ext>
            </a:extLst>
          </p:cNvPr>
          <p:cNvCxnSpPr/>
          <p:nvPr/>
        </p:nvCxnSpPr>
        <p:spPr>
          <a:xfrm>
            <a:off x="2455543"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7" name="直線單箭頭接點 1036">
            <a:extLst>
              <a:ext uri="{FF2B5EF4-FFF2-40B4-BE49-F238E27FC236}">
                <a16:creationId xmlns:a16="http://schemas.microsoft.com/office/drawing/2014/main" id="{AFF3496C-85A7-FDE4-051C-E623E8504368}"/>
              </a:ext>
            </a:extLst>
          </p:cNvPr>
          <p:cNvCxnSpPr/>
          <p:nvPr/>
        </p:nvCxnSpPr>
        <p:spPr>
          <a:xfrm>
            <a:off x="3613798"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8" name="直線單箭頭接點 1037">
            <a:extLst>
              <a:ext uri="{FF2B5EF4-FFF2-40B4-BE49-F238E27FC236}">
                <a16:creationId xmlns:a16="http://schemas.microsoft.com/office/drawing/2014/main" id="{4D4D702A-4529-8D58-5562-3FAE4108B8D7}"/>
              </a:ext>
            </a:extLst>
          </p:cNvPr>
          <p:cNvCxnSpPr>
            <a:cxnSpLocks/>
          </p:cNvCxnSpPr>
          <p:nvPr/>
        </p:nvCxnSpPr>
        <p:spPr>
          <a:xfrm>
            <a:off x="4804466"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直線單箭頭接點 1039">
            <a:extLst>
              <a:ext uri="{FF2B5EF4-FFF2-40B4-BE49-F238E27FC236}">
                <a16:creationId xmlns:a16="http://schemas.microsoft.com/office/drawing/2014/main" id="{EAF138FF-3C84-5CC1-73E3-C8D4EFBCA70C}"/>
              </a:ext>
            </a:extLst>
          </p:cNvPr>
          <p:cNvCxnSpPr/>
          <p:nvPr/>
        </p:nvCxnSpPr>
        <p:spPr>
          <a:xfrm>
            <a:off x="5838992"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1" name="直線單箭頭接點 1040">
            <a:extLst>
              <a:ext uri="{FF2B5EF4-FFF2-40B4-BE49-F238E27FC236}">
                <a16:creationId xmlns:a16="http://schemas.microsoft.com/office/drawing/2014/main" id="{C53F5085-84B3-DBA1-E362-DF4ADBB15F43}"/>
              </a:ext>
            </a:extLst>
          </p:cNvPr>
          <p:cNvCxnSpPr/>
          <p:nvPr/>
        </p:nvCxnSpPr>
        <p:spPr>
          <a:xfrm>
            <a:off x="7032823" y="5159585"/>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2" name="直線單箭頭接點 1041">
            <a:extLst>
              <a:ext uri="{FF2B5EF4-FFF2-40B4-BE49-F238E27FC236}">
                <a16:creationId xmlns:a16="http://schemas.microsoft.com/office/drawing/2014/main" id="{FD5F2A2D-D96D-3D3B-7494-33313D75FC16}"/>
              </a:ext>
            </a:extLst>
          </p:cNvPr>
          <p:cNvCxnSpPr/>
          <p:nvPr/>
        </p:nvCxnSpPr>
        <p:spPr>
          <a:xfrm>
            <a:off x="8211127" y="5169897"/>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直線單箭頭接點 1042">
            <a:extLst>
              <a:ext uri="{FF2B5EF4-FFF2-40B4-BE49-F238E27FC236}">
                <a16:creationId xmlns:a16="http://schemas.microsoft.com/office/drawing/2014/main" id="{FE85905D-B50A-0141-D9CD-624F53FD3F30}"/>
              </a:ext>
            </a:extLst>
          </p:cNvPr>
          <p:cNvCxnSpPr>
            <a:cxnSpLocks/>
          </p:cNvCxnSpPr>
          <p:nvPr/>
        </p:nvCxnSpPr>
        <p:spPr>
          <a:xfrm>
            <a:off x="10516974" y="5170973"/>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5" name="直線單箭頭接點 1044">
            <a:extLst>
              <a:ext uri="{FF2B5EF4-FFF2-40B4-BE49-F238E27FC236}">
                <a16:creationId xmlns:a16="http://schemas.microsoft.com/office/drawing/2014/main" id="{2602FE2F-4C41-9144-4AD0-162182C8A8C2}"/>
              </a:ext>
            </a:extLst>
          </p:cNvPr>
          <p:cNvCxnSpPr/>
          <p:nvPr/>
        </p:nvCxnSpPr>
        <p:spPr>
          <a:xfrm>
            <a:off x="9301413" y="5169897"/>
            <a:ext cx="279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9" name="文字方塊 1048">
            <a:extLst>
              <a:ext uri="{FF2B5EF4-FFF2-40B4-BE49-F238E27FC236}">
                <a16:creationId xmlns:a16="http://schemas.microsoft.com/office/drawing/2014/main" id="{A9A50D73-6A2A-DBD5-7631-5A4414D3D806}"/>
              </a:ext>
            </a:extLst>
          </p:cNvPr>
          <p:cNvSpPr txBox="1"/>
          <p:nvPr/>
        </p:nvSpPr>
        <p:spPr>
          <a:xfrm>
            <a:off x="224188" y="3967922"/>
            <a:ext cx="2049428" cy="307777"/>
          </a:xfrm>
          <a:prstGeom prst="rect">
            <a:avLst/>
          </a:prstGeom>
          <a:noFill/>
        </p:spPr>
        <p:txBody>
          <a:bodyPr wrap="square">
            <a:spAutoFit/>
          </a:bodyPr>
          <a:lstStyle/>
          <a:p>
            <a:r>
              <a:rPr lang="en-US" altLang="zh-TW" sz="1400" b="1" dirty="0">
                <a:latin typeface="微軟正黑體" panose="020B0604030504040204" pitchFamily="34" charset="-120"/>
                <a:ea typeface="微軟正黑體" panose="020B0604030504040204" pitchFamily="34" charset="-120"/>
              </a:rPr>
              <a:t>DenseNet-121</a:t>
            </a:r>
            <a:r>
              <a:rPr lang="zh-TW" altLang="en-US" sz="1400" b="1" dirty="0">
                <a:latin typeface="微軟正黑體" panose="020B0604030504040204" pitchFamily="34" charset="-120"/>
                <a:ea typeface="微軟正黑體" panose="020B0604030504040204" pitchFamily="34" charset="-120"/>
              </a:rPr>
              <a:t>的結構</a:t>
            </a:r>
          </a:p>
        </p:txBody>
      </p:sp>
    </p:spTree>
    <p:extLst>
      <p:ext uri="{BB962C8B-B14F-4D97-AF65-F5344CB8AC3E}">
        <p14:creationId xmlns:p14="http://schemas.microsoft.com/office/powerpoint/2010/main" val="2539878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6BB63-3D4B-D5DD-2790-A979BF900E6D}"/>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A33F8F82-4D4B-EC74-5F99-4E81663A409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EE5192AB-E98D-5B0C-40D1-456EDB0103BB}"/>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354FE95F-EA2B-02AF-9DBA-C60A2B807F40}"/>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5DED0B86-D469-1E13-9245-2FD9AB4A737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630EC767-0A3D-71D4-F148-BC586EC9DD1B}"/>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B87E4B93-6836-C2D8-1125-D87FDECFCFEA}"/>
              </a:ext>
            </a:extLst>
          </p:cNvPr>
          <p:cNvCxnSpPr>
            <a:cxnSpLocks/>
          </p:cNvCxnSpPr>
          <p:nvPr/>
        </p:nvCxnSpPr>
        <p:spPr>
          <a:xfrm flipH="1">
            <a:off x="3149600" y="640758"/>
            <a:ext cx="8649684" cy="36284"/>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72CC3E-DE11-0DA7-358F-086D3AA05A4E}"/>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E2FEAF46-85F3-43E9-870A-19A9B34C4C46}"/>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11</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35E66F9A-7688-9E03-9099-66E4E5C3BECE}"/>
              </a:ext>
            </a:extLst>
          </p:cNvPr>
          <p:cNvSpPr txBox="1"/>
          <p:nvPr/>
        </p:nvSpPr>
        <p:spPr>
          <a:xfrm>
            <a:off x="1556939" y="399353"/>
            <a:ext cx="1328062" cy="400110"/>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CNN</a:t>
            </a:r>
            <a:r>
              <a:rPr lang="zh-TW" altLang="en-US" sz="2000" b="1" dirty="0">
                <a:latin typeface="微軟正黑體" panose="020B0604030504040204" pitchFamily="34" charset="-120"/>
                <a:ea typeface="微軟正黑體" panose="020B0604030504040204" pitchFamily="34" charset="-120"/>
              </a:rPr>
              <a:t>種類</a:t>
            </a:r>
            <a:endParaRPr lang="en-US" altLang="zh-TW" sz="2000" b="1" dirty="0">
              <a:latin typeface="微軟正黑體" panose="020B0604030504040204" pitchFamily="34" charset="-120"/>
              <a:ea typeface="微軟正黑體" panose="020B0604030504040204" pitchFamily="34" charset="-120"/>
            </a:endParaRPr>
          </a:p>
        </p:txBody>
      </p:sp>
      <p:sp>
        <p:nvSpPr>
          <p:cNvPr id="6" name="Rectangle 2">
            <a:extLst>
              <a:ext uri="{FF2B5EF4-FFF2-40B4-BE49-F238E27FC236}">
                <a16:creationId xmlns:a16="http://schemas.microsoft.com/office/drawing/2014/main" id="{A33E20F9-6EBF-BBC0-5677-2EEC0C8EEA8B}"/>
              </a:ext>
            </a:extLst>
          </p:cNvPr>
          <p:cNvSpPr>
            <a:spLocks noChangeArrowheads="1"/>
          </p:cNvSpPr>
          <p:nvPr/>
        </p:nvSpPr>
        <p:spPr bwMode="auto">
          <a:xfrm>
            <a:off x="457226" y="909510"/>
            <a:ext cx="115675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每個任務不同</a:t>
            </a:r>
            <a:r>
              <a:rPr kumimoji="0" lang="zh-TW" altLang="zh-TW" sz="1800" b="0" i="0" u="none" strike="noStrike" cap="none" normalizeH="0" baseline="0" dirty="0">
                <a:ln>
                  <a:noFill/>
                </a:ln>
                <a:solidFill>
                  <a:schemeClr val="tx1"/>
                </a:solidFill>
                <a:effectLst/>
                <a:latin typeface="Arial" panose="020B0604020202020204" pitchFamily="34" charset="0"/>
              </a:rPr>
              <a:t>：分類、分割用的模型不同。</a:t>
            </a:r>
            <a:endParaRPr kumimoji="0" lang="en-US"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56F9D8C1-85B9-674B-FB74-D19D6610BB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2081" y="2439851"/>
            <a:ext cx="3058961" cy="2123658"/>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1">
            <a:extLst>
              <a:ext uri="{FF2B5EF4-FFF2-40B4-BE49-F238E27FC236}">
                <a16:creationId xmlns:a16="http://schemas.microsoft.com/office/drawing/2014/main" id="{F3AC245A-CE5D-4825-5E2E-FCA73B58D4DF}"/>
              </a:ext>
            </a:extLst>
          </p:cNvPr>
          <p:cNvSpPr txBox="1"/>
          <p:nvPr/>
        </p:nvSpPr>
        <p:spPr>
          <a:xfrm>
            <a:off x="1511929" y="1695534"/>
            <a:ext cx="860079" cy="369332"/>
          </a:xfrm>
          <a:prstGeom prst="rect">
            <a:avLst/>
          </a:prstGeom>
          <a:noFill/>
        </p:spPr>
        <p:txBody>
          <a:bodyPr wrap="square" rtlCol="0">
            <a:spAutoFit/>
          </a:bodyPr>
          <a:lstStyle/>
          <a:p>
            <a:r>
              <a:rPr lang="en-US" altLang="zh-TW" b="1" dirty="0"/>
              <a:t>U-Net</a:t>
            </a:r>
            <a:endParaRPr lang="zh-TW" altLang="en-US" b="1" dirty="0"/>
          </a:p>
        </p:txBody>
      </p:sp>
      <p:sp>
        <p:nvSpPr>
          <p:cNvPr id="23" name="Rectangle 4">
            <a:extLst>
              <a:ext uri="{FF2B5EF4-FFF2-40B4-BE49-F238E27FC236}">
                <a16:creationId xmlns:a16="http://schemas.microsoft.com/office/drawing/2014/main" id="{8A784739-9815-F507-BE52-F27171CB441E}"/>
              </a:ext>
            </a:extLst>
          </p:cNvPr>
          <p:cNvSpPr>
            <a:spLocks noChangeArrowheads="1"/>
          </p:cNvSpPr>
          <p:nvPr/>
        </p:nvSpPr>
        <p:spPr bwMode="auto">
          <a:xfrm>
            <a:off x="5610486" y="2197893"/>
            <a:ext cx="3058961" cy="2462213"/>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zh-TW" sz="1400" b="1" dirty="0">
                <a:latin typeface="微軟正黑體" panose="020B0604030504040204" pitchFamily="34" charset="-120"/>
                <a:ea typeface="微軟正黑體" panose="020B0604030504040204" pitchFamily="34" charset="-120"/>
              </a:rPr>
              <a:t>U-Net </a:t>
            </a:r>
            <a:r>
              <a:rPr lang="zh-TW" altLang="en-US" sz="1400" b="1" dirty="0">
                <a:latin typeface="微軟正黑體" panose="020B0604030504040204" pitchFamily="34" charset="-120"/>
                <a:ea typeface="微軟正黑體" panose="020B0604030504040204" pitchFamily="34" charset="-120"/>
              </a:rPr>
              <a:t>的特色</a:t>
            </a:r>
            <a:endParaRPr lang="en-US" altLang="zh-TW" sz="1400" b="1" dirty="0">
              <a:latin typeface="微軟正黑體" panose="020B0604030504040204" pitchFamily="34" charset="-120"/>
              <a:ea typeface="微軟正黑體" panose="020B0604030504040204" pitchFamily="34" charset="-120"/>
            </a:endParaRPr>
          </a:p>
          <a:p>
            <a:pPr marL="171450" indent="-171450" eaLnBrk="0" fontAlgn="base" hangingPunct="0">
              <a:spcBef>
                <a:spcPct val="0"/>
              </a:spcBef>
              <a:spcAft>
                <a:spcPct val="0"/>
              </a:spcAft>
              <a:buFont typeface="Arial" panose="020B0604020202020204" pitchFamily="34" charset="0"/>
              <a:buChar char="•"/>
            </a:pPr>
            <a:r>
              <a:rPr lang="zh-TW" altLang="zh-TW" sz="1400" b="1" dirty="0">
                <a:latin typeface="微軟正黑體" panose="020B0604030504040204" pitchFamily="34" charset="-120"/>
                <a:ea typeface="微軟正黑體" panose="020B0604030504040204" pitchFamily="34" charset="-120"/>
              </a:rPr>
              <a:t>編碼-解碼結構</a:t>
            </a:r>
            <a:r>
              <a:rPr lang="zh-TW" altLang="zh-TW"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400" dirty="0">
                <a:latin typeface="微軟正黑體" panose="020B0604030504040204" pitchFamily="34" charset="-120"/>
                <a:ea typeface="微軟正黑體" panose="020B0604030504040204" pitchFamily="34" charset="-120"/>
              </a:rPr>
              <a:t>    </a:t>
            </a:r>
            <a:r>
              <a:rPr lang="zh-TW" altLang="zh-TW" sz="1400" dirty="0">
                <a:latin typeface="微軟正黑體" panose="020B0604030504040204" pitchFamily="34" charset="-120"/>
                <a:ea typeface="微軟正黑體" panose="020B0604030504040204" pitchFamily="34" charset="-120"/>
              </a:rPr>
              <a:t>提取特徵並恢復解析度</a:t>
            </a:r>
          </a:p>
          <a:p>
            <a:pPr marL="171450" indent="-171450" eaLnBrk="0" fontAlgn="base" hangingPunct="0">
              <a:spcBef>
                <a:spcPct val="0"/>
              </a:spcBef>
              <a:spcAft>
                <a:spcPct val="0"/>
              </a:spcAft>
              <a:buFont typeface="Arial" panose="020B0604020202020204" pitchFamily="34" charset="0"/>
              <a:buChar char="•"/>
            </a:pPr>
            <a:r>
              <a:rPr lang="zh-TW" altLang="zh-TW" sz="1400" b="1" dirty="0">
                <a:latin typeface="微軟正黑體" panose="020B0604030504040204" pitchFamily="34" charset="-120"/>
                <a:ea typeface="微軟正黑體" panose="020B0604030504040204" pitchFamily="34" charset="-120"/>
              </a:rPr>
              <a:t>跳躍連接 (Skip Connection)</a:t>
            </a:r>
            <a:r>
              <a:rPr lang="zh-TW" altLang="zh-TW"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400" dirty="0">
                <a:latin typeface="微軟正黑體" panose="020B0604030504040204" pitchFamily="34" charset="-120"/>
                <a:ea typeface="微軟正黑體" panose="020B0604030504040204" pitchFamily="34" charset="-120"/>
              </a:rPr>
              <a:t>    </a:t>
            </a:r>
            <a:r>
              <a:rPr lang="zh-TW" altLang="zh-TW" sz="1400" dirty="0">
                <a:latin typeface="微軟正黑體" panose="020B0604030504040204" pitchFamily="34" charset="-120"/>
                <a:ea typeface="微軟正黑體" panose="020B0604030504040204" pitchFamily="34" charset="-120"/>
              </a:rPr>
              <a:t>保留細節，提高分割精度</a:t>
            </a:r>
          </a:p>
          <a:p>
            <a:pPr marL="171450" indent="-171450" eaLnBrk="0" fontAlgn="base" hangingPunct="0">
              <a:spcBef>
                <a:spcPct val="0"/>
              </a:spcBef>
              <a:spcAft>
                <a:spcPct val="0"/>
              </a:spcAft>
              <a:buFont typeface="Arial" panose="020B0604020202020204" pitchFamily="34" charset="0"/>
              <a:buChar char="•"/>
            </a:pPr>
            <a:r>
              <a:rPr lang="zh-TW" altLang="zh-TW" sz="1400" b="1" dirty="0">
                <a:latin typeface="微軟正黑體" panose="020B0604030504040204" pitchFamily="34" charset="-120"/>
                <a:ea typeface="微軟正黑體" panose="020B0604030504040204" pitchFamily="34" charset="-120"/>
              </a:rPr>
              <a:t>小樣本友好</a:t>
            </a:r>
            <a:r>
              <a:rPr lang="zh-TW" altLang="zh-TW"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400" dirty="0">
                <a:latin typeface="微軟正黑體" panose="020B0604030504040204" pitchFamily="34" charset="-120"/>
                <a:ea typeface="微軟正黑體" panose="020B0604030504040204" pitchFamily="34" charset="-120"/>
              </a:rPr>
              <a:t>     </a:t>
            </a:r>
            <a:r>
              <a:rPr lang="zh-TW" altLang="zh-TW" sz="1400" dirty="0">
                <a:latin typeface="微軟正黑體" panose="020B0604030504040204" pitchFamily="34" charset="-120"/>
                <a:ea typeface="微軟正黑體" panose="020B0604030504040204" pitchFamily="34" charset="-120"/>
              </a:rPr>
              <a:t>少量資料也能訓練</a:t>
            </a:r>
          </a:p>
          <a:p>
            <a:pPr marL="171450" indent="-171450" eaLnBrk="0" fontAlgn="base" hangingPunct="0">
              <a:spcBef>
                <a:spcPct val="0"/>
              </a:spcBef>
              <a:spcAft>
                <a:spcPct val="0"/>
              </a:spcAft>
              <a:buFont typeface="Arial" panose="020B0604020202020204" pitchFamily="34" charset="0"/>
              <a:buChar char="•"/>
            </a:pPr>
            <a:r>
              <a:rPr lang="zh-TW" altLang="zh-TW" sz="1400" b="1" dirty="0">
                <a:latin typeface="微軟正黑體" panose="020B0604030504040204" pitchFamily="34" charset="-120"/>
                <a:ea typeface="微軟正黑體" panose="020B0604030504040204" pitchFamily="34" charset="-120"/>
              </a:rPr>
              <a:t>像素級輸出</a:t>
            </a:r>
            <a:r>
              <a:rPr lang="zh-TW" altLang="zh-TW"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400"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 </a:t>
            </a:r>
            <a:r>
              <a:rPr lang="zh-TW" altLang="zh-TW" sz="1400" dirty="0">
                <a:latin typeface="微軟正黑體" panose="020B0604030504040204" pitchFamily="34" charset="-120"/>
                <a:ea typeface="微軟正黑體" panose="020B0604030504040204" pitchFamily="34" charset="-120"/>
              </a:rPr>
              <a:t>每個像素都可分類</a:t>
            </a:r>
          </a:p>
          <a:p>
            <a:pPr marL="171450" indent="-171450" eaLnBrk="0" fontAlgn="base" hangingPunct="0">
              <a:spcBef>
                <a:spcPct val="0"/>
              </a:spcBef>
              <a:spcAft>
                <a:spcPct val="0"/>
              </a:spcAft>
              <a:buFont typeface="Arial" panose="020B0604020202020204" pitchFamily="34" charset="0"/>
              <a:buChar char="•"/>
            </a:pPr>
            <a:r>
              <a:rPr lang="zh-TW" altLang="zh-TW" sz="1400" b="1" dirty="0">
                <a:latin typeface="微軟正黑體" panose="020B0604030504040204" pitchFamily="34" charset="-120"/>
                <a:ea typeface="微軟正黑體" panose="020B0604030504040204" pitchFamily="34" charset="-120"/>
              </a:rPr>
              <a:t>高靈活性</a:t>
            </a:r>
            <a:r>
              <a:rPr lang="zh-TW" altLang="zh-TW"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400" dirty="0">
                <a:latin typeface="微軟正黑體" panose="020B0604030504040204" pitchFamily="34" charset="-120"/>
                <a:ea typeface="微軟正黑體" panose="020B0604030504040204" pitchFamily="34" charset="-120"/>
              </a:rPr>
              <a:t>     </a:t>
            </a:r>
            <a:r>
              <a:rPr lang="zh-TW" altLang="zh-TW" sz="1400" dirty="0">
                <a:latin typeface="微軟正黑體" panose="020B0604030504040204" pitchFamily="34" charset="-120"/>
                <a:ea typeface="微軟正黑體" panose="020B0604030504040204" pitchFamily="34" charset="-120"/>
              </a:rPr>
              <a:t>2D / 3D 醫學影像皆適用</a:t>
            </a:r>
          </a:p>
        </p:txBody>
      </p:sp>
    </p:spTree>
    <p:extLst>
      <p:ext uri="{BB962C8B-B14F-4D97-AF65-F5344CB8AC3E}">
        <p14:creationId xmlns:p14="http://schemas.microsoft.com/office/powerpoint/2010/main" val="5380195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C8DDE-D5E5-D835-DD91-D45568274B8C}"/>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A2B72528-6D58-E616-0F19-89AE07B57AC0}"/>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DCA380E7-2FCF-F0D2-5FDF-6198C2A2C05C}"/>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08568060-1E9A-ECE8-1CB9-17AE43F426D2}"/>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01FC6490-8460-8BBF-61C7-80E8711AB74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E9FD7E64-F80C-BFD2-673B-26F8F63470A7}"/>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852E0C2E-F7EE-EF91-7F64-004DC5DAFB1D}"/>
              </a:ext>
            </a:extLst>
          </p:cNvPr>
          <p:cNvCxnSpPr>
            <a:cxnSpLocks/>
          </p:cNvCxnSpPr>
          <p:nvPr/>
        </p:nvCxnSpPr>
        <p:spPr>
          <a:xfrm flipH="1">
            <a:off x="3612333" y="640758"/>
            <a:ext cx="8186951" cy="9048"/>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49D77AE-4B08-8F10-8955-674BFA9FF708}"/>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9650AA2C-60B7-08C6-F6EB-8C54C046F664}"/>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12</a:t>
            </a:fld>
            <a:endParaRPr lang="en-US" altLang="zh-CN" sz="1400" dirty="0">
              <a:solidFill>
                <a:schemeClr val="bg1"/>
              </a:solidFill>
              <a:latin typeface="微软雅黑" pitchFamily="34" charset="-122"/>
              <a:ea typeface="微软雅黑" pitchFamily="34" charset="-122"/>
            </a:endParaRPr>
          </a:p>
        </p:txBody>
      </p:sp>
      <p:sp>
        <p:nvSpPr>
          <p:cNvPr id="6" name="Rectangle 2">
            <a:extLst>
              <a:ext uri="{FF2B5EF4-FFF2-40B4-BE49-F238E27FC236}">
                <a16:creationId xmlns:a16="http://schemas.microsoft.com/office/drawing/2014/main" id="{A87622B1-3369-5DEE-F893-318789AB78D5}"/>
              </a:ext>
            </a:extLst>
          </p:cNvPr>
          <p:cNvSpPr>
            <a:spLocks noChangeArrowheads="1"/>
          </p:cNvSpPr>
          <p:nvPr/>
        </p:nvSpPr>
        <p:spPr bwMode="auto">
          <a:xfrm>
            <a:off x="312225" y="825323"/>
            <a:ext cx="11567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任務不同</a:t>
            </a:r>
            <a:endParaRPr kumimoji="0" lang="en-US" altLang="zh-TW"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表格 1">
            <a:extLst>
              <a:ext uri="{FF2B5EF4-FFF2-40B4-BE49-F238E27FC236}">
                <a16:creationId xmlns:a16="http://schemas.microsoft.com/office/drawing/2014/main" id="{D865AF04-D5D7-F175-6456-0C165C64657E}"/>
              </a:ext>
            </a:extLst>
          </p:cNvPr>
          <p:cNvGraphicFramePr>
            <a:graphicFrameLocks noGrp="1"/>
          </p:cNvGraphicFramePr>
          <p:nvPr>
            <p:extLst>
              <p:ext uri="{D42A27DB-BD31-4B8C-83A1-F6EECF244321}">
                <p14:modId xmlns:p14="http://schemas.microsoft.com/office/powerpoint/2010/main" val="4141927214"/>
              </p:ext>
            </p:extLst>
          </p:nvPr>
        </p:nvGraphicFramePr>
        <p:xfrm>
          <a:off x="1056275" y="1906609"/>
          <a:ext cx="9460873" cy="3044781"/>
        </p:xfrm>
        <a:graphic>
          <a:graphicData uri="http://schemas.openxmlformats.org/drawingml/2006/table">
            <a:tbl>
              <a:tblPr>
                <a:tableStyleId>{BDBED569-4797-4DF1-A0F4-6AAB3CD982D8}</a:tableStyleId>
              </a:tblPr>
              <a:tblGrid>
                <a:gridCol w="3108651">
                  <a:extLst>
                    <a:ext uri="{9D8B030D-6E8A-4147-A177-3AD203B41FA5}">
                      <a16:colId xmlns:a16="http://schemas.microsoft.com/office/drawing/2014/main" val="2959218728"/>
                    </a:ext>
                  </a:extLst>
                </a:gridCol>
                <a:gridCol w="2686011">
                  <a:extLst>
                    <a:ext uri="{9D8B030D-6E8A-4147-A177-3AD203B41FA5}">
                      <a16:colId xmlns:a16="http://schemas.microsoft.com/office/drawing/2014/main" val="2461285893"/>
                    </a:ext>
                  </a:extLst>
                </a:gridCol>
                <a:gridCol w="3666211">
                  <a:extLst>
                    <a:ext uri="{9D8B030D-6E8A-4147-A177-3AD203B41FA5}">
                      <a16:colId xmlns:a16="http://schemas.microsoft.com/office/drawing/2014/main" val="3242856742"/>
                    </a:ext>
                  </a:extLst>
                </a:gridCol>
              </a:tblGrid>
              <a:tr h="362541">
                <a:tc>
                  <a:txBody>
                    <a:bodyPr/>
                    <a:lstStyle/>
                    <a:p>
                      <a:pPr algn="ctr">
                        <a:buNone/>
                      </a:pPr>
                      <a:r>
                        <a:rPr lang="zh-TW" altLang="en-US" sz="1400" dirty="0">
                          <a:latin typeface="微軟正黑體" panose="020B0604030504040204" pitchFamily="34" charset="-120"/>
                          <a:ea typeface="微軟正黑體" panose="020B0604030504040204" pitchFamily="34" charset="-120"/>
                        </a:rPr>
                        <a:t>項目</a:t>
                      </a:r>
                    </a:p>
                  </a:txBody>
                  <a:tcPr anchor="ctr">
                    <a:solidFill>
                      <a:schemeClr val="bg2"/>
                    </a:solidFill>
                  </a:tcPr>
                </a:tc>
                <a:tc>
                  <a:txBody>
                    <a:bodyPr/>
                    <a:lstStyle/>
                    <a:p>
                      <a:pPr algn="ctr">
                        <a:buNone/>
                      </a:pPr>
                      <a:r>
                        <a:rPr lang="zh-TW" altLang="en-US" sz="1400">
                          <a:latin typeface="微軟正黑體" panose="020B0604030504040204" pitchFamily="34" charset="-120"/>
                          <a:ea typeface="微軟正黑體" panose="020B0604030504040204" pitchFamily="34" charset="-120"/>
                        </a:rPr>
                        <a:t>分類 </a:t>
                      </a:r>
                      <a:r>
                        <a:rPr lang="en-US" altLang="zh-TW" sz="1400">
                          <a:latin typeface="微軟正黑體" panose="020B0604030504040204" pitchFamily="34" charset="-120"/>
                          <a:ea typeface="微軟正黑體" panose="020B0604030504040204" pitchFamily="34" charset="-120"/>
                        </a:rPr>
                        <a:t>(</a:t>
                      </a:r>
                      <a:r>
                        <a:rPr lang="en-US" sz="1400">
                          <a:latin typeface="微軟正黑體" panose="020B0604030504040204" pitchFamily="34" charset="-120"/>
                          <a:ea typeface="微軟正黑體" panose="020B0604030504040204" pitchFamily="34" charset="-120"/>
                        </a:rPr>
                        <a:t>Classification)</a:t>
                      </a:r>
                    </a:p>
                  </a:txBody>
                  <a:tcPr anchor="ctr">
                    <a:solidFill>
                      <a:schemeClr val="bg2"/>
                    </a:solidFill>
                  </a:tcPr>
                </a:tc>
                <a:tc>
                  <a:txBody>
                    <a:bodyPr/>
                    <a:lstStyle/>
                    <a:p>
                      <a:pPr algn="ctr">
                        <a:buNone/>
                      </a:pPr>
                      <a:r>
                        <a:rPr lang="zh-TW" altLang="en-US" sz="1400">
                          <a:latin typeface="微軟正黑體" panose="020B0604030504040204" pitchFamily="34" charset="-120"/>
                          <a:ea typeface="微軟正黑體" panose="020B0604030504040204" pitchFamily="34" charset="-120"/>
                        </a:rPr>
                        <a:t>回歸 </a:t>
                      </a:r>
                      <a:r>
                        <a:rPr lang="en-US" altLang="zh-TW" sz="1400">
                          <a:latin typeface="微軟正黑體" panose="020B0604030504040204" pitchFamily="34" charset="-120"/>
                          <a:ea typeface="微軟正黑體" panose="020B0604030504040204" pitchFamily="34" charset="-120"/>
                        </a:rPr>
                        <a:t>(</a:t>
                      </a:r>
                      <a:r>
                        <a:rPr lang="en-US" sz="1400">
                          <a:latin typeface="微軟正黑體" panose="020B0604030504040204" pitchFamily="34" charset="-120"/>
                          <a:ea typeface="微軟正黑體" panose="020B0604030504040204" pitchFamily="34" charset="-120"/>
                        </a:rPr>
                        <a:t>Regression)</a:t>
                      </a:r>
                    </a:p>
                  </a:txBody>
                  <a:tcPr anchor="ctr">
                    <a:solidFill>
                      <a:schemeClr val="bg2"/>
                    </a:solidFill>
                  </a:tcPr>
                </a:tc>
                <a:extLst>
                  <a:ext uri="{0D108BD9-81ED-4DB2-BD59-A6C34878D82A}">
                    <a16:rowId xmlns:a16="http://schemas.microsoft.com/office/drawing/2014/main" val="827372913"/>
                  </a:ext>
                </a:extLst>
              </a:tr>
              <a:tr h="198120">
                <a:tc>
                  <a:txBody>
                    <a:bodyPr/>
                    <a:lstStyle/>
                    <a:p>
                      <a:pPr algn="ctr">
                        <a:buNone/>
                      </a:pPr>
                      <a:r>
                        <a:rPr lang="zh-TW" altLang="en-US" sz="1400" b="1" dirty="0">
                          <a:latin typeface="微軟正黑體" panose="020B0604030504040204" pitchFamily="34" charset="-120"/>
                          <a:ea typeface="微軟正黑體" panose="020B0604030504040204" pitchFamily="34" charset="-120"/>
                        </a:rPr>
                        <a:t>目標</a:t>
                      </a: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latin typeface="微軟正黑體" panose="020B0604030504040204" pitchFamily="34" charset="-120"/>
                          <a:ea typeface="微軟正黑體" panose="020B0604030504040204" pitchFamily="34" charset="-120"/>
                        </a:rPr>
                        <a:t>對整個 </a:t>
                      </a:r>
                      <a:r>
                        <a:rPr lang="en-US" altLang="zh-TW" sz="1400" dirty="0">
                          <a:latin typeface="微軟正黑體" panose="020B0604030504040204" pitchFamily="34" charset="-120"/>
                          <a:ea typeface="微軟正黑體" panose="020B0604030504040204" pitchFamily="34" charset="-120"/>
                        </a:rPr>
                        <a:t>3D </a:t>
                      </a:r>
                      <a:r>
                        <a:rPr lang="zh-TW" altLang="en-US" sz="1400" dirty="0">
                          <a:latin typeface="微軟正黑體" panose="020B0604030504040204" pitchFamily="34" charset="-120"/>
                          <a:ea typeface="微軟正黑體" panose="020B0604030504040204" pitchFamily="34" charset="-120"/>
                        </a:rPr>
                        <a:t>體積影像做整體判斷（如腫瘤分級、疾病有無）</a:t>
                      </a:r>
                    </a:p>
                    <a:p>
                      <a:pPr algn="ctr">
                        <a:buNone/>
                      </a:pPr>
                      <a:endParaRPr lang="zh-TW" altLang="en-US" sz="1400" dirty="0">
                        <a:latin typeface="微軟正黑體" panose="020B0604030504040204" pitchFamily="34" charset="-120"/>
                        <a:ea typeface="微軟正黑體" panose="020B0604030504040204" pitchFamily="34" charset="-120"/>
                      </a:endParaRP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對整個 </a:t>
                      </a:r>
                      <a:r>
                        <a:rPr lang="en-US" altLang="zh-TW" sz="1400" dirty="0">
                          <a:latin typeface="微軟正黑體" panose="020B0604030504040204" pitchFamily="34" charset="-120"/>
                          <a:ea typeface="微軟正黑體" panose="020B0604030504040204" pitchFamily="34" charset="-120"/>
                        </a:rPr>
                        <a:t>3D </a:t>
                      </a:r>
                      <a:r>
                        <a:rPr lang="zh-TW" altLang="en-US" sz="1400" dirty="0">
                          <a:latin typeface="微軟正黑體" panose="020B0604030504040204" pitchFamily="34" charset="-120"/>
                          <a:ea typeface="微軟正黑體" panose="020B0604030504040204" pitchFamily="34" charset="-120"/>
                        </a:rPr>
                        <a:t>體積影像預測連續數值（如生存天數、腫瘤體積）</a:t>
                      </a:r>
                    </a:p>
                  </a:txBody>
                  <a:tcPr anchor="ctr">
                    <a:solidFill>
                      <a:schemeClr val="bg2"/>
                    </a:solidFill>
                  </a:tcPr>
                </a:tc>
                <a:extLst>
                  <a:ext uri="{0D108BD9-81ED-4DB2-BD59-A6C34878D82A}">
                    <a16:rowId xmlns:a16="http://schemas.microsoft.com/office/drawing/2014/main" val="2597203419"/>
                  </a:ext>
                </a:extLst>
              </a:tr>
              <a:tr h="198120">
                <a:tc>
                  <a:txBody>
                    <a:bodyPr/>
                    <a:lstStyle/>
                    <a:p>
                      <a:pPr algn="ctr">
                        <a:buNone/>
                      </a:pPr>
                      <a:r>
                        <a:rPr lang="zh-TW" altLang="en-US" sz="1400" b="1" dirty="0">
                          <a:latin typeface="微軟正黑體" panose="020B0604030504040204" pitchFamily="34" charset="-120"/>
                          <a:ea typeface="微軟正黑體" panose="020B0604030504040204" pitchFamily="34" charset="-120"/>
                        </a:rPr>
                        <a:t>輸出層</a:t>
                      </a:r>
                      <a:endParaRPr lang="zh-TW" altLang="en-US" sz="1400" dirty="0">
                        <a:latin typeface="微軟正黑體" panose="020B0604030504040204" pitchFamily="34" charset="-120"/>
                        <a:ea typeface="微軟正黑體" panose="020B0604030504040204" pitchFamily="34" charset="-120"/>
                      </a:endParaRPr>
                    </a:p>
                  </a:txBody>
                  <a:tcPr anchor="ctr">
                    <a:solidFill>
                      <a:schemeClr val="bg2"/>
                    </a:solidFill>
                  </a:tcPr>
                </a:tc>
                <a:tc>
                  <a:txBody>
                    <a:bodyPr/>
                    <a:lstStyle/>
                    <a:p>
                      <a:pPr algn="ctr">
                        <a:buNone/>
                      </a:pPr>
                      <a:r>
                        <a:rPr lang="en-US" altLang="zh-TW" sz="1400" dirty="0" err="1">
                          <a:latin typeface="微軟正黑體" panose="020B0604030504040204" pitchFamily="34" charset="-120"/>
                          <a:ea typeface="微軟正黑體" panose="020B0604030504040204" pitchFamily="34" charset="-120"/>
                        </a:rPr>
                        <a:t>Softmax</a:t>
                      </a:r>
                      <a:r>
                        <a:rPr lang="en-US" altLang="zh-TW" sz="1400"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多分類</a:t>
                      </a:r>
                      <a:r>
                        <a:rPr lang="en-US" altLang="zh-TW" sz="1400" dirty="0">
                          <a:latin typeface="微軟正黑體" panose="020B0604030504040204" pitchFamily="34" charset="-120"/>
                          <a:ea typeface="微軟正黑體" panose="020B0604030504040204" pitchFamily="34" charset="-120"/>
                        </a:rPr>
                        <a:t>) </a:t>
                      </a:r>
                    </a:p>
                    <a:p>
                      <a:pPr algn="ctr">
                        <a:buNone/>
                      </a:pPr>
                      <a:r>
                        <a:rPr lang="zh-TW" altLang="en-US" sz="1400" dirty="0">
                          <a:latin typeface="微軟正黑體" panose="020B0604030504040204" pitchFamily="34" charset="-120"/>
                          <a:ea typeface="微軟正黑體" panose="020B0604030504040204" pitchFamily="34" charset="-120"/>
                        </a:rPr>
                        <a:t>輸出維度 </a:t>
                      </a:r>
                      <a:r>
                        <a:rPr lang="en-US" altLang="zh-TW" sz="1400"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類別數</a:t>
                      </a: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無激活 </a:t>
                      </a:r>
                      <a:r>
                        <a:rPr lang="en-US" altLang="zh-TW" sz="1400" dirty="0">
                          <a:latin typeface="微軟正黑體" panose="020B0604030504040204" pitchFamily="34" charset="-120"/>
                          <a:ea typeface="微軟正黑體" panose="020B0604030504040204" pitchFamily="34" charset="-120"/>
                        </a:rPr>
                        <a:t>(Linear)</a:t>
                      </a:r>
                    </a:p>
                    <a:p>
                      <a:pPr algn="ctr">
                        <a:buNone/>
                      </a:pPr>
                      <a:r>
                        <a:rPr lang="zh-TW" altLang="en-US" sz="1400" dirty="0">
                          <a:latin typeface="微軟正黑體" panose="020B0604030504040204" pitchFamily="34" charset="-120"/>
                          <a:ea typeface="微軟正黑體" panose="020B0604030504040204" pitchFamily="34" charset="-120"/>
                        </a:rPr>
                        <a:t>輸出維度 </a:t>
                      </a:r>
                      <a:r>
                        <a:rPr lang="en-US" altLang="zh-TW" sz="1400" dirty="0">
                          <a:latin typeface="微軟正黑體" panose="020B0604030504040204" pitchFamily="34" charset="-120"/>
                          <a:ea typeface="微軟正黑體" panose="020B0604030504040204" pitchFamily="34" charset="-120"/>
                        </a:rPr>
                        <a:t>= 1 (</a:t>
                      </a:r>
                      <a:r>
                        <a:rPr lang="zh-TW" altLang="en-US" sz="1400" dirty="0">
                          <a:latin typeface="微軟正黑體" panose="020B0604030504040204" pitchFamily="34" charset="-120"/>
                          <a:ea typeface="微軟正黑體" panose="020B0604030504040204" pitchFamily="34" charset="-120"/>
                        </a:rPr>
                        <a:t>或多連續值</a:t>
                      </a:r>
                      <a:r>
                        <a:rPr lang="en-US" altLang="zh-TW" sz="1400" dirty="0">
                          <a:latin typeface="微軟正黑體" panose="020B0604030504040204" pitchFamily="34" charset="-120"/>
                          <a:ea typeface="微軟正黑體" panose="020B0604030504040204" pitchFamily="34" charset="-120"/>
                        </a:rPr>
                        <a:t>)</a:t>
                      </a:r>
                    </a:p>
                  </a:txBody>
                  <a:tcPr anchor="ctr">
                    <a:solidFill>
                      <a:schemeClr val="bg2"/>
                    </a:solidFill>
                  </a:tcPr>
                </a:tc>
                <a:extLst>
                  <a:ext uri="{0D108BD9-81ED-4DB2-BD59-A6C34878D82A}">
                    <a16:rowId xmlns:a16="http://schemas.microsoft.com/office/drawing/2014/main" val="1386772325"/>
                  </a:ext>
                </a:extLst>
              </a:tr>
              <a:tr h="0">
                <a:tc>
                  <a:txBody>
                    <a:bodyPr/>
                    <a:lstStyle/>
                    <a:p>
                      <a:pPr algn="ctr">
                        <a:buNone/>
                      </a:pPr>
                      <a:r>
                        <a:rPr lang="en-US" sz="1400" b="1" dirty="0">
                          <a:latin typeface="微軟正黑體" panose="020B0604030504040204" pitchFamily="34" charset="-120"/>
                          <a:ea typeface="微軟正黑體" panose="020B0604030504040204" pitchFamily="34" charset="-120"/>
                        </a:rPr>
                        <a:t>Loss Function</a:t>
                      </a:r>
                      <a:endParaRPr lang="en-US" sz="1400" dirty="0">
                        <a:latin typeface="微軟正黑體" panose="020B0604030504040204" pitchFamily="34" charset="-120"/>
                        <a:ea typeface="微軟正黑體" panose="020B0604030504040204" pitchFamily="34" charset="-120"/>
                      </a:endParaRPr>
                    </a:p>
                  </a:txBody>
                  <a:tcPr anchor="ctr">
                    <a:solidFill>
                      <a:schemeClr val="bg2"/>
                    </a:solidFill>
                  </a:tcPr>
                </a:tc>
                <a:tc>
                  <a:txBody>
                    <a:bodyPr/>
                    <a:lstStyle/>
                    <a:p>
                      <a:pPr algn="ctr">
                        <a:buNone/>
                      </a:pPr>
                      <a:r>
                        <a:rPr lang="en-US" sz="1400" dirty="0" err="1">
                          <a:latin typeface="微軟正黑體" panose="020B0604030504040204" pitchFamily="34" charset="-120"/>
                          <a:ea typeface="微軟正黑體" panose="020B0604030504040204" pitchFamily="34" charset="-120"/>
                        </a:rPr>
                        <a:t>CrossEntropyLoss</a:t>
                      </a:r>
                      <a:r>
                        <a:rPr lang="en-US" sz="1400"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多分類</a:t>
                      </a:r>
                      <a:r>
                        <a:rPr lang="en-US" altLang="zh-TW" sz="1400" dirty="0">
                          <a:latin typeface="微軟正黑體" panose="020B0604030504040204" pitchFamily="34" charset="-120"/>
                          <a:ea typeface="微軟正黑體" panose="020B0604030504040204" pitchFamily="34" charset="-120"/>
                        </a:rPr>
                        <a:t>)</a:t>
                      </a:r>
                    </a:p>
                  </a:txBody>
                  <a:tcPr anchor="ctr">
                    <a:solidFill>
                      <a:schemeClr val="bg2"/>
                    </a:solidFill>
                  </a:tcPr>
                </a:tc>
                <a:tc>
                  <a:txBody>
                    <a:bodyPr/>
                    <a:lstStyle/>
                    <a:p>
                      <a:pPr algn="ctr">
                        <a:buNone/>
                      </a:pPr>
                      <a:r>
                        <a:rPr lang="en-US" sz="1400" dirty="0" err="1">
                          <a:latin typeface="微軟正黑體" panose="020B0604030504040204" pitchFamily="34" charset="-120"/>
                          <a:ea typeface="微軟正黑體" panose="020B0604030504040204" pitchFamily="34" charset="-120"/>
                        </a:rPr>
                        <a:t>MSELoss</a:t>
                      </a:r>
                      <a:r>
                        <a:rPr lang="en-US" sz="1400" dirty="0">
                          <a:latin typeface="微軟正黑體" panose="020B0604030504040204" pitchFamily="34" charset="-120"/>
                          <a:ea typeface="微軟正黑體" panose="020B0604030504040204" pitchFamily="34" charset="-120"/>
                        </a:rPr>
                        <a:t>, L1Loss</a:t>
                      </a:r>
                    </a:p>
                  </a:txBody>
                  <a:tcPr anchor="ctr">
                    <a:solidFill>
                      <a:schemeClr val="bg2"/>
                    </a:solidFill>
                  </a:tcPr>
                </a:tc>
                <a:extLst>
                  <a:ext uri="{0D108BD9-81ED-4DB2-BD59-A6C34878D82A}">
                    <a16:rowId xmlns:a16="http://schemas.microsoft.com/office/drawing/2014/main" val="2559150342"/>
                  </a:ext>
                </a:extLst>
              </a:tr>
              <a:tr h="0">
                <a:tc>
                  <a:txBody>
                    <a:bodyPr/>
                    <a:lstStyle/>
                    <a:p>
                      <a:pPr algn="ctr">
                        <a:buNone/>
                      </a:pPr>
                      <a:r>
                        <a:rPr lang="zh-TW" altLang="en-US" sz="1400" b="1" dirty="0">
                          <a:latin typeface="微軟正黑體" panose="020B0604030504040204" pitchFamily="34" charset="-120"/>
                          <a:ea typeface="微軟正黑體" panose="020B0604030504040204" pitchFamily="34" charset="-120"/>
                        </a:rPr>
                        <a:t>評估指標</a:t>
                      </a:r>
                      <a:endParaRPr lang="zh-TW" altLang="en-US" sz="1400" dirty="0">
                        <a:latin typeface="微軟正黑體" panose="020B0604030504040204" pitchFamily="34" charset="-120"/>
                        <a:ea typeface="微軟正黑體" panose="020B0604030504040204" pitchFamily="34" charset="-120"/>
                      </a:endParaRPr>
                    </a:p>
                  </a:txBody>
                  <a:tcPr anchor="ctr">
                    <a:solidFill>
                      <a:schemeClr val="bg2"/>
                    </a:solidFill>
                  </a:tcPr>
                </a:tc>
                <a:tc>
                  <a:txBody>
                    <a:bodyPr/>
                    <a:lstStyle/>
                    <a:p>
                      <a:pPr algn="ctr">
                        <a:buNone/>
                      </a:pPr>
                      <a:r>
                        <a:rPr lang="en-US" sz="1400">
                          <a:latin typeface="微軟正黑體" panose="020B0604030504040204" pitchFamily="34" charset="-120"/>
                          <a:ea typeface="微軟正黑體" panose="020B0604030504040204" pitchFamily="34" charset="-120"/>
                        </a:rPr>
                        <a:t>Accuracy, Precision, Recall, F1-score, AUC</a:t>
                      </a:r>
                    </a:p>
                  </a:txBody>
                  <a:tcPr anchor="ctr">
                    <a:solidFill>
                      <a:schemeClr val="bg2"/>
                    </a:solidFill>
                  </a:tcPr>
                </a:tc>
                <a:tc>
                  <a:txBody>
                    <a:bodyPr/>
                    <a:lstStyle/>
                    <a:p>
                      <a:pPr algn="ctr">
                        <a:buNone/>
                      </a:pPr>
                      <a:r>
                        <a:rPr lang="en-US" sz="1400" dirty="0">
                          <a:latin typeface="微軟正黑體" panose="020B0604030504040204" pitchFamily="34" charset="-120"/>
                          <a:ea typeface="微軟正黑體" panose="020B0604030504040204" pitchFamily="34" charset="-120"/>
                        </a:rPr>
                        <a:t>MSE, RMSE, MAE, R²</a:t>
                      </a:r>
                    </a:p>
                  </a:txBody>
                  <a:tcPr anchor="ctr">
                    <a:solidFill>
                      <a:schemeClr val="bg2"/>
                    </a:solidFill>
                  </a:tcPr>
                </a:tc>
                <a:extLst>
                  <a:ext uri="{0D108BD9-81ED-4DB2-BD59-A6C34878D82A}">
                    <a16:rowId xmlns:a16="http://schemas.microsoft.com/office/drawing/2014/main" val="463693044"/>
                  </a:ext>
                </a:extLst>
              </a:tr>
              <a:tr h="121920">
                <a:tc>
                  <a:txBody>
                    <a:bodyPr/>
                    <a:lstStyle/>
                    <a:p>
                      <a:pPr algn="ctr">
                        <a:buNone/>
                      </a:pPr>
                      <a:r>
                        <a:rPr lang="zh-TW" altLang="en-US" sz="1400" b="1" dirty="0">
                          <a:latin typeface="微軟正黑體" panose="020B0604030504040204" pitchFamily="34" charset="-120"/>
                          <a:ea typeface="微軟正黑體" panose="020B0604030504040204" pitchFamily="34" charset="-120"/>
                        </a:rPr>
                        <a:t>輸出結果</a:t>
                      </a:r>
                      <a:endParaRPr lang="zh-TW" altLang="en-US" sz="1400" dirty="0">
                        <a:latin typeface="微軟正黑體" panose="020B0604030504040204" pitchFamily="34" charset="-120"/>
                        <a:ea typeface="微軟正黑體" panose="020B0604030504040204" pitchFamily="34" charset="-120"/>
                      </a:endParaRP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機率分布 </a:t>
                      </a:r>
                      <a:r>
                        <a:rPr lang="en-US" altLang="zh-TW" sz="1400" dirty="0">
                          <a:latin typeface="微軟正黑體" panose="020B0604030504040204" pitchFamily="34" charset="-120"/>
                          <a:ea typeface="微軟正黑體" panose="020B0604030504040204" pitchFamily="34" charset="-120"/>
                        </a:rPr>
                        <a:t>(0~1) → </a:t>
                      </a:r>
                      <a:r>
                        <a:rPr lang="zh-TW" altLang="en-US" sz="1400" dirty="0">
                          <a:latin typeface="微軟正黑體" panose="020B0604030504040204" pitchFamily="34" charset="-120"/>
                          <a:ea typeface="微軟正黑體" panose="020B0604030504040204" pitchFamily="34" charset="-120"/>
                        </a:rPr>
                        <a:t>分類標籤</a:t>
                      </a: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連續數值 </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可正可負</a:t>
                      </a:r>
                      <a:r>
                        <a:rPr lang="en-US" altLang="zh-TW" sz="1400" dirty="0">
                          <a:latin typeface="微軟正黑體" panose="020B0604030504040204" pitchFamily="34" charset="-120"/>
                          <a:ea typeface="微軟正黑體" panose="020B0604030504040204" pitchFamily="34" charset="-120"/>
                        </a:rPr>
                        <a:t>)</a:t>
                      </a:r>
                    </a:p>
                  </a:txBody>
                  <a:tcPr anchor="ctr">
                    <a:solidFill>
                      <a:schemeClr val="bg2"/>
                    </a:solidFill>
                  </a:tcPr>
                </a:tc>
                <a:extLst>
                  <a:ext uri="{0D108BD9-81ED-4DB2-BD59-A6C34878D82A}">
                    <a16:rowId xmlns:a16="http://schemas.microsoft.com/office/drawing/2014/main" val="967521476"/>
                  </a:ext>
                </a:extLst>
              </a:tr>
              <a:tr h="121920">
                <a:tc>
                  <a:txBody>
                    <a:bodyPr/>
                    <a:lstStyle/>
                    <a:p>
                      <a:pPr algn="ctr">
                        <a:buNone/>
                      </a:pPr>
                      <a:r>
                        <a:rPr lang="zh-TW" altLang="en-US" sz="1400" b="1" dirty="0">
                          <a:latin typeface="微軟正黑體" panose="020B0604030504040204" pitchFamily="34" charset="-120"/>
                          <a:ea typeface="微軟正黑體" panose="020B0604030504040204" pitchFamily="34" charset="-120"/>
                        </a:rPr>
                        <a:t>應用場景</a:t>
                      </a: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腫瘤類型分類、疾病判斷</a:t>
                      </a:r>
                    </a:p>
                  </a:txBody>
                  <a:tcPr anchor="ctr">
                    <a:solidFill>
                      <a:schemeClr val="bg2"/>
                    </a:solidFill>
                  </a:tcPr>
                </a:tc>
                <a:tc>
                  <a:txBody>
                    <a:bodyPr/>
                    <a:lstStyle/>
                    <a:p>
                      <a:pPr algn="ctr">
                        <a:buNone/>
                      </a:pPr>
                      <a:r>
                        <a:rPr lang="zh-TW" altLang="en-US" sz="1400" dirty="0">
                          <a:latin typeface="微軟正黑體" panose="020B0604030504040204" pitchFamily="34" charset="-120"/>
                          <a:ea typeface="微軟正黑體" panose="020B0604030504040204" pitchFamily="34" charset="-120"/>
                        </a:rPr>
                        <a:t>預測腫瘤大小、生存天數、疾病進展指數</a:t>
                      </a:r>
                    </a:p>
                  </a:txBody>
                  <a:tcPr anchor="ctr">
                    <a:solidFill>
                      <a:schemeClr val="bg2"/>
                    </a:solidFill>
                  </a:tcPr>
                </a:tc>
                <a:extLst>
                  <a:ext uri="{0D108BD9-81ED-4DB2-BD59-A6C34878D82A}">
                    <a16:rowId xmlns:a16="http://schemas.microsoft.com/office/drawing/2014/main" val="3409775189"/>
                  </a:ext>
                </a:extLst>
              </a:tr>
            </a:tbl>
          </a:graphicData>
        </a:graphic>
      </p:graphicFrame>
      <p:sp>
        <p:nvSpPr>
          <p:cNvPr id="16" name="文字方塊 15">
            <a:extLst>
              <a:ext uri="{FF2B5EF4-FFF2-40B4-BE49-F238E27FC236}">
                <a16:creationId xmlns:a16="http://schemas.microsoft.com/office/drawing/2014/main" id="{838AB439-8BF9-CECE-F5B7-091AAEEBE3A2}"/>
              </a:ext>
            </a:extLst>
          </p:cNvPr>
          <p:cNvSpPr txBox="1"/>
          <p:nvPr/>
        </p:nvSpPr>
        <p:spPr>
          <a:xfrm>
            <a:off x="1434737" y="399353"/>
            <a:ext cx="1912999"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分類</a:t>
            </a:r>
            <a:r>
              <a:rPr lang="en-US" altLang="zh-TW" sz="2000" b="1" dirty="0">
                <a:latin typeface="微軟正黑體" panose="020B0604030504040204" pitchFamily="34" charset="-120"/>
                <a:ea typeface="微軟正黑體" panose="020B0604030504040204" pitchFamily="34" charset="-120"/>
              </a:rPr>
              <a:t>V.S</a:t>
            </a:r>
            <a:r>
              <a:rPr lang="zh-TW" altLang="en-US" sz="2000" b="1" dirty="0">
                <a:latin typeface="微軟正黑體" panose="020B0604030504040204" pitchFamily="34" charset="-120"/>
                <a:ea typeface="微軟正黑體" panose="020B0604030504040204" pitchFamily="34" charset="-120"/>
              </a:rPr>
              <a:t>回歸</a:t>
            </a:r>
          </a:p>
        </p:txBody>
      </p:sp>
    </p:spTree>
    <p:extLst>
      <p:ext uri="{BB962C8B-B14F-4D97-AF65-F5344CB8AC3E}">
        <p14:creationId xmlns:p14="http://schemas.microsoft.com/office/powerpoint/2010/main" val="21477637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1A5-082B-9666-5A51-F9563F0F8ACC}"/>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780795A-2C04-808A-6130-5A90543B7D84}"/>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4607DE24-58C8-1AB3-0A7A-A4731F825287}"/>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12E5B85B-6578-B961-774B-1A52B00B3905}"/>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ED0BAF36-F813-2E1D-9C9D-2708FADBE41D}"/>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4C0B5108-864C-91FF-232B-A0462611DA52}"/>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5B7CD8AB-4E37-1055-F354-F156473DD9B4}"/>
              </a:ext>
            </a:extLst>
          </p:cNvPr>
          <p:cNvCxnSpPr>
            <a:cxnSpLocks/>
          </p:cNvCxnSpPr>
          <p:nvPr/>
        </p:nvCxnSpPr>
        <p:spPr>
          <a:xfrm flipH="1">
            <a:off x="2537475" y="677042"/>
            <a:ext cx="9654525"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5DA6D86-41ED-FB36-6069-02C1D9E572F6}"/>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38B90E0C-2AA9-1D2F-2B57-D9973049A97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13</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94E5D3A4-0B8C-566B-5C14-2DF8C1F5C879}"/>
              </a:ext>
            </a:extLst>
          </p:cNvPr>
          <p:cNvSpPr txBox="1"/>
          <p:nvPr/>
        </p:nvSpPr>
        <p:spPr>
          <a:xfrm>
            <a:off x="1248902" y="444336"/>
            <a:ext cx="1291848"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結果分析</a:t>
            </a:r>
            <a:endParaRPr lang="en-US" altLang="zh-TW" sz="2000" b="1" dirty="0">
              <a:latin typeface="微軟正黑體" panose="020B0604030504040204" pitchFamily="34" charset="-120"/>
              <a:ea typeface="微軟正黑體" panose="020B0604030504040204" pitchFamily="34" charset="-120"/>
            </a:endParaRPr>
          </a:p>
        </p:txBody>
      </p:sp>
      <p:pic>
        <p:nvPicPr>
          <p:cNvPr id="17" name="圖片 16" descr="一張含有 文字, 繪圖, 行, 圖表 的圖片&#10;&#10;AI 產生的內容可能不正確。">
            <a:extLst>
              <a:ext uri="{FF2B5EF4-FFF2-40B4-BE49-F238E27FC236}">
                <a16:creationId xmlns:a16="http://schemas.microsoft.com/office/drawing/2014/main" id="{37C78C90-D9B4-5CFF-61E1-A90CB512004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021482" y="3684519"/>
            <a:ext cx="2477697" cy="2282738"/>
          </a:xfrm>
          <a:prstGeom prst="rect">
            <a:avLst/>
          </a:prstGeom>
        </p:spPr>
      </p:pic>
      <p:pic>
        <p:nvPicPr>
          <p:cNvPr id="18" name="圖片 17" descr="一張含有 文字, 行, 繪圖, 圖表 的圖片&#10;&#10;AI 產生的內容可能不正確。">
            <a:extLst>
              <a:ext uri="{FF2B5EF4-FFF2-40B4-BE49-F238E27FC236}">
                <a16:creationId xmlns:a16="http://schemas.microsoft.com/office/drawing/2014/main" id="{E05761AD-5733-742C-A897-18F283EFDB6E}"/>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946103" y="1569282"/>
            <a:ext cx="2477698" cy="2030520"/>
          </a:xfrm>
          <a:prstGeom prst="rect">
            <a:avLst/>
          </a:prstGeom>
        </p:spPr>
      </p:pic>
      <p:pic>
        <p:nvPicPr>
          <p:cNvPr id="19" name="圖片 18" descr="一張含有 文字, 圖表, 行, 繪圖 的圖片&#10;&#10;AI 產生的內容可能不正確。">
            <a:extLst>
              <a:ext uri="{FF2B5EF4-FFF2-40B4-BE49-F238E27FC236}">
                <a16:creationId xmlns:a16="http://schemas.microsoft.com/office/drawing/2014/main" id="{4F190F1B-C084-032F-630F-E12FF200DCA0}"/>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336218" y="3740175"/>
            <a:ext cx="2461768" cy="2227082"/>
          </a:xfrm>
          <a:prstGeom prst="rect">
            <a:avLst/>
          </a:prstGeom>
        </p:spPr>
      </p:pic>
      <p:pic>
        <p:nvPicPr>
          <p:cNvPr id="20" name="圖片 19">
            <a:extLst>
              <a:ext uri="{FF2B5EF4-FFF2-40B4-BE49-F238E27FC236}">
                <a16:creationId xmlns:a16="http://schemas.microsoft.com/office/drawing/2014/main" id="{240DCF45-F863-86C6-3DBA-97B62E899D1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4336218" y="1546856"/>
            <a:ext cx="2477697" cy="2033483"/>
          </a:xfrm>
          <a:prstGeom prst="rect">
            <a:avLst/>
          </a:prstGeom>
        </p:spPr>
      </p:pic>
      <p:pic>
        <p:nvPicPr>
          <p:cNvPr id="21" name="圖片 20" descr="一張含有 文字, 圖表, 繪圖, 行 的圖片&#10;&#10;AI 產生的內容可能不正確。">
            <a:extLst>
              <a:ext uri="{FF2B5EF4-FFF2-40B4-BE49-F238E27FC236}">
                <a16:creationId xmlns:a16="http://schemas.microsoft.com/office/drawing/2014/main" id="{3688559C-6E3A-5ADA-324F-C30A7DF2D54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36799" y="1549820"/>
            <a:ext cx="2461769" cy="2030519"/>
          </a:xfrm>
          <a:prstGeom prst="rect">
            <a:avLst/>
          </a:prstGeom>
        </p:spPr>
      </p:pic>
      <p:pic>
        <p:nvPicPr>
          <p:cNvPr id="22" name="圖片 21" descr="一張含有 文字, 行, 圖表, 繪圖 的圖片&#10;&#10;AI 產生的內容可能不正確。">
            <a:extLst>
              <a:ext uri="{FF2B5EF4-FFF2-40B4-BE49-F238E27FC236}">
                <a16:creationId xmlns:a16="http://schemas.microsoft.com/office/drawing/2014/main" id="{5BCA4E84-0370-6595-41DA-33E6BDC1E33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655318" y="3740175"/>
            <a:ext cx="2477697" cy="2227082"/>
          </a:xfrm>
          <a:prstGeom prst="rect">
            <a:avLst/>
          </a:prstGeom>
        </p:spPr>
      </p:pic>
      <p:pic>
        <p:nvPicPr>
          <p:cNvPr id="24" name="圖片 23" descr="一張含有 文字, 圖表, 繪圖, 行 的圖片&#10;&#10;AI 產生的內容可能不正確。">
            <a:extLst>
              <a:ext uri="{FF2B5EF4-FFF2-40B4-BE49-F238E27FC236}">
                <a16:creationId xmlns:a16="http://schemas.microsoft.com/office/drawing/2014/main" id="{5979E34A-1A9C-9621-4F69-0297F8251104}"/>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990349" y="1569282"/>
            <a:ext cx="2751644" cy="2048706"/>
          </a:xfrm>
          <a:prstGeom prst="rect">
            <a:avLst/>
          </a:prstGeom>
        </p:spPr>
      </p:pic>
      <p:pic>
        <p:nvPicPr>
          <p:cNvPr id="25" name="圖片 24" descr="一張含有 文字, 圖表, 行, 繪圖 的圖片&#10;&#10;AI 產生的內容可能不正確。">
            <a:extLst>
              <a:ext uri="{FF2B5EF4-FFF2-40B4-BE49-F238E27FC236}">
                <a16:creationId xmlns:a16="http://schemas.microsoft.com/office/drawing/2014/main" id="{F57F954E-5A69-4F88-CFB8-A688020864A5}"/>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990347" y="3740175"/>
            <a:ext cx="2751645" cy="2227082"/>
          </a:xfrm>
          <a:prstGeom prst="rect">
            <a:avLst/>
          </a:prstGeom>
        </p:spPr>
      </p:pic>
      <p:sp>
        <p:nvSpPr>
          <p:cNvPr id="26" name="文字方塊 25">
            <a:extLst>
              <a:ext uri="{FF2B5EF4-FFF2-40B4-BE49-F238E27FC236}">
                <a16:creationId xmlns:a16="http://schemas.microsoft.com/office/drawing/2014/main" id="{2B98C020-9E00-1BBB-43EC-E76B7D69FD90}"/>
              </a:ext>
            </a:extLst>
          </p:cNvPr>
          <p:cNvSpPr txBox="1"/>
          <p:nvPr/>
        </p:nvSpPr>
        <p:spPr>
          <a:xfrm>
            <a:off x="264599" y="2504460"/>
            <a:ext cx="1401161" cy="276999"/>
          </a:xfrm>
          <a:prstGeom prst="rect">
            <a:avLst/>
          </a:prstGeom>
          <a:solidFill>
            <a:sysClr val="window" lastClr="FFFFFF"/>
          </a:solidFill>
          <a:ln w="19050" cap="flat" cmpd="sng" algn="ctr">
            <a:solidFill>
              <a:srgbClr val="E97132"/>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1200" b="0" i="0" u="none" strike="noStrike" kern="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3D_DenseNet_121</a:t>
            </a:r>
            <a:endParaRPr kumimoji="0" lang="zh-TW" altLang="en-US" sz="1200" b="0" i="0" u="none" strike="noStrike" kern="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7" name="文字方塊 26">
            <a:extLst>
              <a:ext uri="{FF2B5EF4-FFF2-40B4-BE49-F238E27FC236}">
                <a16:creationId xmlns:a16="http://schemas.microsoft.com/office/drawing/2014/main" id="{4285CAA9-23CA-F1A3-8925-C34F836CD7A4}"/>
              </a:ext>
            </a:extLst>
          </p:cNvPr>
          <p:cNvSpPr txBox="1"/>
          <p:nvPr/>
        </p:nvSpPr>
        <p:spPr>
          <a:xfrm>
            <a:off x="264599" y="4820686"/>
            <a:ext cx="1093981" cy="276999"/>
          </a:xfrm>
          <a:prstGeom prst="rect">
            <a:avLst/>
          </a:prstGeom>
          <a:solidFill>
            <a:sysClr val="window" lastClr="FFFFFF"/>
          </a:solidFill>
          <a:ln w="19050" cap="flat" cmpd="sng" algn="ctr">
            <a:solidFill>
              <a:srgbClr val="E97132"/>
            </a:solidFill>
            <a:prstDash val="solid"/>
            <a:miter lim="800000"/>
          </a:ln>
          <a:effectLst/>
        </p:spPr>
        <p:txBody>
          <a:bodyPr wrap="square" rtlCol="0">
            <a:spAutoFit/>
          </a:bodyPr>
          <a:lstStyle>
            <a:defPPr>
              <a:defRPr lang="zh-TW"/>
            </a:defPPr>
            <a:lvl1pPr marR="0" lvl="0" indent="0" fontAlgn="auto">
              <a:lnSpc>
                <a:spcPct val="100000"/>
              </a:lnSpc>
              <a:spcBef>
                <a:spcPts val="0"/>
              </a:spcBef>
              <a:spcAft>
                <a:spcPts val="0"/>
              </a:spcAft>
              <a:buClrTx/>
              <a:buSzTx/>
              <a:buFontTx/>
              <a:buNone/>
              <a:tabLst/>
              <a:defRPr kumimoji="0" sz="1200" b="0" i="0" u="none" strike="noStrike" kern="0" cap="none" spc="0" normalizeH="0" baseline="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TW" dirty="0"/>
              <a:t>3D_Resnet_18</a:t>
            </a:r>
            <a:endParaRPr lang="zh-TW" altLang="en-US" dirty="0"/>
          </a:p>
        </p:txBody>
      </p:sp>
      <p:sp>
        <p:nvSpPr>
          <p:cNvPr id="2" name="文字方塊 1">
            <a:extLst>
              <a:ext uri="{FF2B5EF4-FFF2-40B4-BE49-F238E27FC236}">
                <a16:creationId xmlns:a16="http://schemas.microsoft.com/office/drawing/2014/main" id="{E6BFE790-F1CD-D567-30BB-1365B488B42D}"/>
              </a:ext>
            </a:extLst>
          </p:cNvPr>
          <p:cNvSpPr txBox="1"/>
          <p:nvPr/>
        </p:nvSpPr>
        <p:spPr>
          <a:xfrm>
            <a:off x="2180521" y="1136716"/>
            <a:ext cx="1310489" cy="307777"/>
          </a:xfrm>
          <a:prstGeom prst="rect">
            <a:avLst/>
          </a:prstGeom>
          <a:noFill/>
        </p:spPr>
        <p:txBody>
          <a:bodyPr wrap="square">
            <a:spAutoFit/>
          </a:bodyPr>
          <a:lstStyle/>
          <a:p>
            <a:pPr lvl="0" fontAlgn="ctr">
              <a:defRPr/>
            </a:pPr>
            <a:r>
              <a:rPr lang="en-US" altLang="zh-TW" sz="1400" b="1" dirty="0">
                <a:latin typeface="Times New Roman" panose="02020603050405020304" pitchFamily="18" charset="0"/>
                <a:ea typeface="Microsoft JhengHei Light" panose="020B0304030504040204" pitchFamily="34" charset="-120"/>
                <a:cs typeface="Times New Roman" panose="02020603050405020304" pitchFamily="18" charset="0"/>
              </a:rPr>
              <a:t>3D_model</a:t>
            </a:r>
            <a:endParaRPr lang="zh-TW" altLang="en-US" sz="1400" b="1" i="0" u="none" strike="noStrike" dirty="0">
              <a:effectLst/>
              <a:latin typeface="Microsoft JhengHei Light" panose="020B0304030504040204" pitchFamily="34" charset="-120"/>
              <a:ea typeface="Microsoft JhengHei Light" panose="020B03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2A08664A-CEA9-8AFA-236E-531385E714E6}"/>
              </a:ext>
            </a:extLst>
          </p:cNvPr>
          <p:cNvSpPr txBox="1"/>
          <p:nvPr/>
        </p:nvSpPr>
        <p:spPr>
          <a:xfrm>
            <a:off x="4499179" y="1154097"/>
            <a:ext cx="1931442" cy="307777"/>
          </a:xfrm>
          <a:prstGeom prst="rect">
            <a:avLst/>
          </a:prstGeom>
          <a:noFill/>
        </p:spPr>
        <p:txBody>
          <a:bodyPr wrap="square">
            <a:spAutoFit/>
          </a:bodyPr>
          <a:lstStyle/>
          <a:p>
            <a:pPr algn="l" rtl="0" fontAlgn="ctr"/>
            <a:r>
              <a:rPr lang="en-US" altLang="zh-TW" sz="1400" b="1" i="0" u="none" strike="noStrike" dirty="0">
                <a:effectLst/>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400" b="1" i="0" u="none" strike="noStrike" dirty="0">
                <a:effectLst/>
                <a:latin typeface="微軟正黑體" panose="020B0604030504040204" pitchFamily="34" charset="-120"/>
                <a:ea typeface="微軟正黑體" panose="020B0604030504040204" pitchFamily="34" charset="-120"/>
                <a:cs typeface="Times New Roman" panose="02020603050405020304" pitchFamily="18" charset="0"/>
              </a:rPr>
              <a:t>資料增強</a:t>
            </a:r>
          </a:p>
        </p:txBody>
      </p:sp>
      <p:sp>
        <p:nvSpPr>
          <p:cNvPr id="4" name="文字方塊 3">
            <a:extLst>
              <a:ext uri="{FF2B5EF4-FFF2-40B4-BE49-F238E27FC236}">
                <a16:creationId xmlns:a16="http://schemas.microsoft.com/office/drawing/2014/main" id="{31F00779-793A-A620-E439-7DB054F8CDDA}"/>
              </a:ext>
            </a:extLst>
          </p:cNvPr>
          <p:cNvSpPr txBox="1"/>
          <p:nvPr/>
        </p:nvSpPr>
        <p:spPr>
          <a:xfrm>
            <a:off x="6938381" y="1077152"/>
            <a:ext cx="1781795" cy="461665"/>
          </a:xfrm>
          <a:prstGeom prst="rect">
            <a:avLst/>
          </a:prstGeom>
          <a:noFill/>
        </p:spPr>
        <p:txBody>
          <a:bodyPr wrap="square">
            <a:spAutoFit/>
          </a:bodyPr>
          <a:lstStyle/>
          <a:p>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資料增強</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非區域性平均降噪</a:t>
            </a:r>
          </a:p>
        </p:txBody>
      </p:sp>
      <p:sp>
        <p:nvSpPr>
          <p:cNvPr id="5" name="文字方塊 4">
            <a:extLst>
              <a:ext uri="{FF2B5EF4-FFF2-40B4-BE49-F238E27FC236}">
                <a16:creationId xmlns:a16="http://schemas.microsoft.com/office/drawing/2014/main" id="{417C8C89-50A4-D5C9-CC71-F47D5C231FAF}"/>
              </a:ext>
            </a:extLst>
          </p:cNvPr>
          <p:cNvSpPr txBox="1"/>
          <p:nvPr/>
        </p:nvSpPr>
        <p:spPr>
          <a:xfrm>
            <a:off x="9326648" y="1085191"/>
            <a:ext cx="1781795" cy="461665"/>
          </a:xfrm>
          <a:prstGeom prst="rect">
            <a:avLst/>
          </a:prstGeom>
          <a:noFill/>
        </p:spPr>
        <p:txBody>
          <a:bodyPr wrap="square">
            <a:spAutoFit/>
          </a:bodyPr>
          <a:lstStyle/>
          <a:p>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資料增強</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非區域性平均降噪</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+csv</a:t>
            </a:r>
            <a:endPar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0630967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F667-24F1-43FC-C7C3-A5E2DE542E0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8C6320D6-1745-C12F-B96C-6D50E924AEA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721B5061-4729-3266-5A6A-3F74025498B7}"/>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648B70C-6763-B139-AD2D-6A5CA0048C4D}"/>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A56344B5-137A-CA79-A1D3-731CE508A511}"/>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F9F7E4F5-839B-25C1-1655-FDFA98179125}"/>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4" name="矩形 13">
            <a:extLst>
              <a:ext uri="{FF2B5EF4-FFF2-40B4-BE49-F238E27FC236}">
                <a16:creationId xmlns:a16="http://schemas.microsoft.com/office/drawing/2014/main" id="{F40C21FF-CA19-803B-45C4-812F0CADCFBD}"/>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1A5501A-1631-B0BE-DEB8-199F8391F5B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14</a:t>
            </a:fld>
            <a:endParaRPr lang="en-US" altLang="zh-CN" sz="1400" dirty="0">
              <a:solidFill>
                <a:schemeClr val="bg1"/>
              </a:solidFill>
              <a:latin typeface="微软雅黑" pitchFamily="34" charset="-122"/>
              <a:ea typeface="微软雅黑" pitchFamily="34" charset="-122"/>
            </a:endParaRPr>
          </a:p>
        </p:txBody>
      </p:sp>
      <p:sp>
        <p:nvSpPr>
          <p:cNvPr id="2" name="矩形 1">
            <a:extLst>
              <a:ext uri="{FF2B5EF4-FFF2-40B4-BE49-F238E27FC236}">
                <a16:creationId xmlns:a16="http://schemas.microsoft.com/office/drawing/2014/main" id="{3C8B2240-9122-F0A7-78E6-077708BE9359}"/>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3" name="矩形 2">
            <a:extLst>
              <a:ext uri="{FF2B5EF4-FFF2-40B4-BE49-F238E27FC236}">
                <a16:creationId xmlns:a16="http://schemas.microsoft.com/office/drawing/2014/main" id="{8FA6D329-DCA0-51FF-5ABC-C188A69F0359}"/>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4" name="矩形 3">
            <a:extLst>
              <a:ext uri="{FF2B5EF4-FFF2-40B4-BE49-F238E27FC236}">
                <a16:creationId xmlns:a16="http://schemas.microsoft.com/office/drawing/2014/main" id="{2216EE2D-29F4-CC72-BD3E-25C97273C993}"/>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5" name="矩形 4">
            <a:extLst>
              <a:ext uri="{FF2B5EF4-FFF2-40B4-BE49-F238E27FC236}">
                <a16:creationId xmlns:a16="http://schemas.microsoft.com/office/drawing/2014/main" id="{7A33B64B-30D7-9368-ACD5-0D2730E29623}"/>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6" name="直接连接符 51">
            <a:extLst>
              <a:ext uri="{FF2B5EF4-FFF2-40B4-BE49-F238E27FC236}">
                <a16:creationId xmlns:a16="http://schemas.microsoft.com/office/drawing/2014/main" id="{24E675E1-6C56-E96E-D183-74B47A9D7FE7}"/>
              </a:ext>
            </a:extLst>
          </p:cNvPr>
          <p:cNvCxnSpPr>
            <a:cxnSpLocks/>
          </p:cNvCxnSpPr>
          <p:nvPr/>
        </p:nvCxnSpPr>
        <p:spPr>
          <a:xfrm flipH="1">
            <a:off x="3006200" y="641363"/>
            <a:ext cx="8900494" cy="8443"/>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7DABFBCB-6C29-C122-00CC-0001D9A1E910}"/>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6" name="矩形 95">
            <a:extLst>
              <a:ext uri="{FF2B5EF4-FFF2-40B4-BE49-F238E27FC236}">
                <a16:creationId xmlns:a16="http://schemas.microsoft.com/office/drawing/2014/main" id="{AC4CBC76-D68F-9936-4E25-4E087E3FB1D9}"/>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14</a:t>
            </a:fld>
            <a:endParaRPr lang="en-US" altLang="zh-CN" sz="1400" dirty="0">
              <a:solidFill>
                <a:schemeClr val="bg1"/>
              </a:solidFill>
              <a:latin typeface="微软雅黑" pitchFamily="34" charset="-122"/>
              <a:ea typeface="微软雅黑" pitchFamily="34" charset="-122"/>
            </a:endParaRPr>
          </a:p>
        </p:txBody>
      </p:sp>
      <p:sp>
        <p:nvSpPr>
          <p:cNvPr id="23" name="AutoShape 2">
            <a:extLst>
              <a:ext uri="{FF2B5EF4-FFF2-40B4-BE49-F238E27FC236}">
                <a16:creationId xmlns:a16="http://schemas.microsoft.com/office/drawing/2014/main" id="{26CDD6B4-2B83-F487-3F41-ED7CC062A2A7}"/>
              </a:ext>
            </a:extLst>
          </p:cNvPr>
          <p:cNvSpPr>
            <a:spLocks noChangeAspect="1" noChangeArrowheads="1"/>
          </p:cNvSpPr>
          <p:nvPr/>
        </p:nvSpPr>
        <p:spPr bwMode="auto">
          <a:xfrm>
            <a:off x="6126621" y="334074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graphicFrame>
        <p:nvGraphicFramePr>
          <p:cNvPr id="29" name="表格 28">
            <a:extLst>
              <a:ext uri="{FF2B5EF4-FFF2-40B4-BE49-F238E27FC236}">
                <a16:creationId xmlns:a16="http://schemas.microsoft.com/office/drawing/2014/main" id="{CCD7CEDF-C8F0-096B-9EC1-57D0F89C3C49}"/>
              </a:ext>
            </a:extLst>
          </p:cNvPr>
          <p:cNvGraphicFramePr>
            <a:graphicFrameLocks noGrp="1"/>
          </p:cNvGraphicFramePr>
          <p:nvPr>
            <p:extLst>
              <p:ext uri="{D42A27DB-BD31-4B8C-83A1-F6EECF244321}">
                <p14:modId xmlns:p14="http://schemas.microsoft.com/office/powerpoint/2010/main" val="4111396639"/>
              </p:ext>
            </p:extLst>
          </p:nvPr>
        </p:nvGraphicFramePr>
        <p:xfrm>
          <a:off x="215622" y="1956857"/>
          <a:ext cx="5819774" cy="3147297"/>
        </p:xfrm>
        <a:graphic>
          <a:graphicData uri="http://schemas.openxmlformats.org/drawingml/2006/table">
            <a:tbl>
              <a:tblPr firstRow="1" bandRow="1">
                <a:tableStyleId>{5C22544A-7EE6-4342-B048-85BDC9FD1C3A}</a:tableStyleId>
              </a:tblPr>
              <a:tblGrid>
                <a:gridCol w="1859235">
                  <a:extLst>
                    <a:ext uri="{9D8B030D-6E8A-4147-A177-3AD203B41FA5}">
                      <a16:colId xmlns:a16="http://schemas.microsoft.com/office/drawing/2014/main" val="1409350112"/>
                    </a:ext>
                  </a:extLst>
                </a:gridCol>
                <a:gridCol w="1539089">
                  <a:extLst>
                    <a:ext uri="{9D8B030D-6E8A-4147-A177-3AD203B41FA5}">
                      <a16:colId xmlns:a16="http://schemas.microsoft.com/office/drawing/2014/main" val="1152940886"/>
                    </a:ext>
                  </a:extLst>
                </a:gridCol>
                <a:gridCol w="2421450">
                  <a:extLst>
                    <a:ext uri="{9D8B030D-6E8A-4147-A177-3AD203B41FA5}">
                      <a16:colId xmlns:a16="http://schemas.microsoft.com/office/drawing/2014/main" val="3291991946"/>
                    </a:ext>
                  </a:extLst>
                </a:gridCol>
              </a:tblGrid>
              <a:tr h="3536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空間變換（</a:t>
                      </a:r>
                      <a:r>
                        <a:rPr lang="en-US" altLang="zh-TW" sz="1200" b="1" dirty="0">
                          <a:latin typeface="微軟正黑體" panose="020B0604030504040204" pitchFamily="34" charset="-120"/>
                          <a:ea typeface="微軟正黑體" panose="020B0604030504040204" pitchFamily="34" charset="-120"/>
                        </a:rPr>
                        <a:t>Spatial Transforms</a:t>
                      </a:r>
                      <a:r>
                        <a:rPr lang="zh-TW" altLang="en-US" sz="1200" b="1" dirty="0">
                          <a:latin typeface="微軟正黑體" panose="020B0604030504040204" pitchFamily="34" charset="-120"/>
                          <a:ea typeface="微軟正黑體" panose="020B0604030504040204" pitchFamily="34" charset="-120"/>
                        </a:rPr>
                        <a:t>）</a:t>
                      </a:r>
                      <a:endParaRPr lang="en-US" altLang="zh-TW" sz="1200" b="1" dirty="0">
                        <a:latin typeface="微軟正黑體" panose="020B0604030504040204" pitchFamily="34" charset="-120"/>
                        <a:ea typeface="微軟正黑體" panose="020B0604030504040204" pitchFamily="34" charset="-120"/>
                      </a:endParaRPr>
                    </a:p>
                    <a:p>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zh-TW" altLang="en-US" sz="1200" dirty="0">
                          <a:latin typeface="微軟正黑體" panose="020B0604030504040204" pitchFamily="34" charset="-120"/>
                          <a:ea typeface="微軟正黑體" panose="020B0604030504040204" pitchFamily="34" charset="-120"/>
                        </a:rPr>
                        <a:t>功能</a:t>
                      </a:r>
                    </a:p>
                  </a:txBody>
                  <a:tcPr/>
                </a:tc>
                <a:tc>
                  <a:txBody>
                    <a:bodyPr/>
                    <a:lstStyle/>
                    <a:p>
                      <a:r>
                        <a:rPr lang="zh-TW" altLang="en-US" sz="1200" dirty="0">
                          <a:latin typeface="微軟正黑體" panose="020B0604030504040204" pitchFamily="34" charset="-120"/>
                          <a:ea typeface="微軟正黑體" panose="020B0604030504040204" pitchFamily="34" charset="-120"/>
                        </a:rPr>
                        <a:t>參數</a:t>
                      </a:r>
                    </a:p>
                  </a:txBody>
                  <a:tcPr/>
                </a:tc>
                <a:extLst>
                  <a:ext uri="{0D108BD9-81ED-4DB2-BD59-A6C34878D82A}">
                    <a16:rowId xmlns:a16="http://schemas.microsoft.com/office/drawing/2014/main" val="2235162907"/>
                  </a:ext>
                </a:extLst>
              </a:tr>
              <a:tr h="6470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微軟正黑體" panose="020B0604030504040204" pitchFamily="34" charset="-120"/>
                          <a:ea typeface="微軟正黑體" panose="020B0604030504040204" pitchFamily="34" charset="-120"/>
                        </a:rPr>
                        <a:t>RandRotate90d</a:t>
                      </a:r>
                      <a:endParaRPr lang="en-US" altLang="zh-TW" sz="1200" b="1" dirty="0">
                        <a:latin typeface="微軟正黑體" panose="020B0604030504040204" pitchFamily="34" charset="-120"/>
                        <a:ea typeface="微軟正黑體" panose="020B0604030504040204" pitchFamily="34" charset="-120"/>
                      </a:endParaRPr>
                    </a:p>
                  </a:txBody>
                  <a:tcPr/>
                </a:tc>
                <a:tc>
                  <a:txBody>
                    <a:bodyPr/>
                    <a:lstStyle/>
                    <a:p>
                      <a:r>
                        <a:rPr lang="zh-TW" altLang="en-US" sz="1200" dirty="0">
                          <a:latin typeface="微軟正黑體" panose="020B0604030504040204" pitchFamily="34" charset="-120"/>
                          <a:ea typeface="微軟正黑體" panose="020B0604030504040204" pitchFamily="34" charset="-120"/>
                        </a:rPr>
                        <a:t>隨機將影像旋轉</a:t>
                      </a:r>
                      <a:r>
                        <a:rPr lang="en-US" altLang="zh-TW" sz="1200" dirty="0">
                          <a:latin typeface="微軟正黑體" panose="020B0604030504040204" pitchFamily="34" charset="-120"/>
                          <a:ea typeface="微軟正黑體" panose="020B0604030504040204" pitchFamily="34" charset="-120"/>
                        </a:rPr>
                        <a:t>90</a:t>
                      </a:r>
                      <a:r>
                        <a:rPr lang="zh-TW" altLang="en-US" sz="1200" dirty="0">
                          <a:latin typeface="微軟正黑體" panose="020B0604030504040204" pitchFamily="34" charset="-120"/>
                          <a:ea typeface="微軟正黑體" panose="020B0604030504040204" pitchFamily="34" charset="-120"/>
                        </a:rPr>
                        <a:t>度的倍數</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FF0000"/>
                          </a:solidFill>
                          <a:latin typeface="微軟正黑體" panose="020B0604030504040204" pitchFamily="34" charset="-120"/>
                          <a:ea typeface="微軟正黑體" panose="020B0604030504040204" pitchFamily="34" charset="-120"/>
                        </a:rPr>
                        <a:t>prob=0.5</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50%</a:t>
                      </a:r>
                      <a:r>
                        <a:rPr lang="zh-TW" altLang="en-US" sz="1200" dirty="0">
                          <a:latin typeface="微軟正黑體" panose="020B0604030504040204" pitchFamily="34" charset="-120"/>
                          <a:ea typeface="微軟正黑體" panose="020B0604030504040204" pitchFamily="34" charset="-120"/>
                        </a:rPr>
                        <a:t>機率執行），在 </a:t>
                      </a:r>
                      <a:r>
                        <a:rPr lang="en-US" altLang="zh-TW" sz="1200" dirty="0">
                          <a:latin typeface="微軟正黑體" panose="020B0604030504040204" pitchFamily="34" charset="-120"/>
                          <a:ea typeface="微軟正黑體" panose="020B0604030504040204" pitchFamily="34" charset="-120"/>
                        </a:rPr>
                        <a:t>(0,1) </a:t>
                      </a:r>
                      <a:r>
                        <a:rPr lang="zh-TW" altLang="en-US" sz="1200" dirty="0">
                          <a:latin typeface="微軟正黑體" panose="020B0604030504040204" pitchFamily="34" charset="-120"/>
                          <a:ea typeface="微軟正黑體" panose="020B0604030504040204" pitchFamily="34" charset="-120"/>
                        </a:rPr>
                        <a:t>軸做旋轉</a:t>
                      </a:r>
                      <a:endParaRPr lang="en-US" altLang="zh-TW" sz="1200" dirty="0">
                        <a:latin typeface="微軟正黑體" panose="020B0604030504040204" pitchFamily="34" charset="-120"/>
                        <a:ea typeface="微軟正黑體" panose="020B0604030504040204" pitchFamily="34" charset="-120"/>
                      </a:endParaRPr>
                    </a:p>
                    <a:p>
                      <a:endParaRPr lang="zh-TW" altLang="en-US" sz="12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936488725"/>
                  </a:ext>
                </a:extLst>
              </a:tr>
              <a:tr h="647024">
                <a:tc>
                  <a:txBody>
                    <a:bodyPr/>
                    <a:lstStyle/>
                    <a:p>
                      <a:r>
                        <a:rPr lang="en-US" altLang="zh-TW" sz="1200" dirty="0" err="1">
                          <a:latin typeface="微軟正黑體" panose="020B0604030504040204" pitchFamily="34" charset="-120"/>
                          <a:ea typeface="微軟正黑體" panose="020B0604030504040204" pitchFamily="34" charset="-120"/>
                        </a:rPr>
                        <a:t>RandFlipd</a:t>
                      </a:r>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zh-TW" altLang="en-US" sz="1200" dirty="0">
                          <a:latin typeface="微軟正黑體" panose="020B0604030504040204" pitchFamily="34" charset="-120"/>
                          <a:ea typeface="微軟正黑體" panose="020B0604030504040204" pitchFamily="34" charset="-120"/>
                        </a:rPr>
                        <a:t>隨機在指定軸翻轉影像</a:t>
                      </a:r>
                    </a:p>
                  </a:txBody>
                  <a:tcPr/>
                </a:tc>
                <a:tc>
                  <a:txBody>
                    <a:bodyPr/>
                    <a:lstStyle/>
                    <a:p>
                      <a:r>
                        <a:rPr lang="en-US" altLang="zh-TW" sz="1200" dirty="0">
                          <a:solidFill>
                            <a:srgbClr val="FF0000"/>
                          </a:solidFill>
                          <a:latin typeface="微軟正黑體" panose="020B0604030504040204" pitchFamily="34" charset="-120"/>
                          <a:ea typeface="微軟正黑體" panose="020B0604030504040204" pitchFamily="34" charset="-120"/>
                        </a:rPr>
                        <a:t>prob=0.5</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50%</a:t>
                      </a:r>
                      <a:r>
                        <a:rPr lang="zh-TW" altLang="en-US" sz="1200" dirty="0">
                          <a:latin typeface="微軟正黑體" panose="020B0604030504040204" pitchFamily="34" charset="-120"/>
                          <a:ea typeface="微軟正黑體" panose="020B0604030504040204" pitchFamily="34" charset="-120"/>
                        </a:rPr>
                        <a:t>機率執行），在軸</a:t>
                      </a:r>
                      <a:r>
                        <a:rPr lang="en-US" altLang="zh-TW" sz="1200" dirty="0">
                          <a:latin typeface="微軟正黑體" panose="020B0604030504040204" pitchFamily="34" charset="-120"/>
                          <a:ea typeface="微軟正黑體" panose="020B0604030504040204" pitchFamily="34" charset="-120"/>
                        </a:rPr>
                        <a:t>0</a:t>
                      </a:r>
                      <a:r>
                        <a:rPr lang="zh-TW" altLang="en-US" sz="1200" dirty="0">
                          <a:latin typeface="微軟正黑體" panose="020B0604030504040204" pitchFamily="34" charset="-120"/>
                          <a:ea typeface="微軟正黑體" panose="020B0604030504040204" pitchFamily="34" charset="-120"/>
                        </a:rPr>
                        <a:t>與軸</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上翻轉（橫縱方向）</a:t>
                      </a:r>
                    </a:p>
                  </a:txBody>
                  <a:tcPr/>
                </a:tc>
                <a:extLst>
                  <a:ext uri="{0D108BD9-81ED-4DB2-BD59-A6C34878D82A}">
                    <a16:rowId xmlns:a16="http://schemas.microsoft.com/office/drawing/2014/main" val="1906350079"/>
                  </a:ext>
                </a:extLst>
              </a:tr>
              <a:tr h="1213169">
                <a:tc>
                  <a:txBody>
                    <a:bodyPr/>
                    <a:lstStyle/>
                    <a:p>
                      <a:r>
                        <a:rPr lang="en-US" altLang="zh-TW" sz="1200" dirty="0" err="1">
                          <a:latin typeface="微軟正黑體" panose="020B0604030504040204" pitchFamily="34" charset="-120"/>
                          <a:ea typeface="微軟正黑體" panose="020B0604030504040204" pitchFamily="34" charset="-120"/>
                        </a:rPr>
                        <a:t>RandAffined</a:t>
                      </a:r>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zh-TW" altLang="en-US" sz="1200" dirty="0">
                          <a:latin typeface="微軟正黑體" panose="020B0604030504040204" pitchFamily="34" charset="-120"/>
                          <a:ea typeface="微軟正黑體" panose="020B0604030504040204" pitchFamily="34" charset="-120"/>
                        </a:rPr>
                        <a:t>隨機仿射變換，包括旋轉、平移、縮放</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TW" sz="1200" dirty="0">
                          <a:solidFill>
                            <a:srgbClr val="FF0000"/>
                          </a:solidFill>
                          <a:latin typeface="微軟正黑體" panose="020B0604030504040204" pitchFamily="34" charset="-120"/>
                          <a:ea typeface="微軟正黑體" panose="020B0604030504040204" pitchFamily="34" charset="-120"/>
                        </a:rPr>
                        <a:t>prob=0.5</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50%</a:t>
                      </a:r>
                      <a:r>
                        <a:rPr lang="zh-TW" altLang="en-US" sz="1200" dirty="0">
                          <a:latin typeface="微軟正黑體" panose="020B0604030504040204" pitchFamily="34" charset="-120"/>
                          <a:ea typeface="微軟正黑體" panose="020B0604030504040204" pitchFamily="34" charset="-120"/>
                        </a:rPr>
                        <a:t>機率執行）</a:t>
                      </a:r>
                      <a:endParaRPr lang="en-US" altLang="zh-TW" sz="1200" dirty="0">
                        <a:latin typeface="微軟正黑體" panose="020B0604030504040204" pitchFamily="34" charset="-120"/>
                        <a:ea typeface="微軟正黑體" panose="020B0604030504040204" pitchFamily="34" charset="-120"/>
                      </a:endParaRPr>
                    </a:p>
                    <a:p>
                      <a:pPr marL="0" indent="0">
                        <a:buFont typeface="Arial" panose="020B0604020202020204" pitchFamily="34" charset="0"/>
                        <a:buNone/>
                      </a:pPr>
                      <a:r>
                        <a:rPr lang="zh-TW" altLang="en-US" sz="1200" dirty="0">
                          <a:latin typeface="微軟正黑體" panose="020B0604030504040204" pitchFamily="34" charset="-120"/>
                          <a:ea typeface="微軟正黑體" panose="020B0604030504040204" pitchFamily="34" charset="-120"/>
                        </a:rPr>
                        <a:t>旋轉範圍約 </a:t>
                      </a:r>
                      <a:r>
                        <a:rPr lang="en-US" altLang="zh-TW" sz="1200" dirty="0">
                          <a:solidFill>
                            <a:srgbClr val="FF0000"/>
                          </a:solidFill>
                          <a:latin typeface="微軟正黑體" panose="020B0604030504040204" pitchFamily="34" charset="-120"/>
                          <a:ea typeface="微軟正黑體" panose="020B0604030504040204" pitchFamily="34" charset="-120"/>
                        </a:rPr>
                        <a:t>±0.1</a:t>
                      </a:r>
                      <a:r>
                        <a:rPr lang="zh-TW" altLang="en-US" sz="1200" dirty="0">
                          <a:latin typeface="微軟正黑體" panose="020B0604030504040204" pitchFamily="34" charset="-120"/>
                          <a:ea typeface="微軟正黑體" panose="020B0604030504040204" pitchFamily="34" charset="-120"/>
                        </a:rPr>
                        <a:t>弧度</a:t>
                      </a:r>
                      <a:endParaRPr lang="en-US" altLang="zh-TW" sz="1200" dirty="0">
                        <a:latin typeface="微軟正黑體" panose="020B0604030504040204" pitchFamily="34" charset="-120"/>
                        <a:ea typeface="微軟正黑體" panose="020B0604030504040204" pitchFamily="34" charset="-120"/>
                      </a:endParaRPr>
                    </a:p>
                    <a:p>
                      <a:pPr marL="0" indent="0">
                        <a:buFont typeface="Arial" panose="020B0604020202020204" pitchFamily="34" charset="0"/>
                        <a:buNone/>
                      </a:pPr>
                      <a:r>
                        <a:rPr lang="zh-TW" altLang="en-US" sz="1200" dirty="0">
                          <a:latin typeface="微軟正黑體" panose="020B0604030504040204" pitchFamily="34" charset="-120"/>
                          <a:ea typeface="微軟正黑體" panose="020B0604030504040204" pitchFamily="34" charset="-120"/>
                        </a:rPr>
                        <a:t>平移範圍 </a:t>
                      </a:r>
                      <a:r>
                        <a:rPr lang="en-US" altLang="zh-TW" sz="1200" dirty="0">
                          <a:solidFill>
                            <a:srgbClr val="FF0000"/>
                          </a:solidFill>
                          <a:latin typeface="微軟正黑體" panose="020B0604030504040204" pitchFamily="34" charset="-120"/>
                          <a:ea typeface="微軟正黑體" panose="020B0604030504040204" pitchFamily="34" charset="-120"/>
                        </a:rPr>
                        <a:t>±10</a:t>
                      </a:r>
                      <a:r>
                        <a:rPr lang="zh-TW" altLang="en-US" sz="1200" dirty="0">
                          <a:latin typeface="微軟正黑體" panose="020B0604030504040204" pitchFamily="34" charset="-120"/>
                          <a:ea typeface="微軟正黑體" panose="020B0604030504040204" pitchFamily="34" charset="-120"/>
                        </a:rPr>
                        <a:t>像素</a:t>
                      </a:r>
                      <a:endParaRPr lang="en-US" altLang="zh-TW" sz="1200" dirty="0">
                        <a:latin typeface="微軟正黑體" panose="020B0604030504040204" pitchFamily="34" charset="-120"/>
                        <a:ea typeface="微軟正黑體" panose="020B0604030504040204" pitchFamily="34" charset="-120"/>
                      </a:endParaRPr>
                    </a:p>
                    <a:p>
                      <a:pPr marL="0" indent="0">
                        <a:buFont typeface="Arial" panose="020B0604020202020204" pitchFamily="34" charset="0"/>
                        <a:buNone/>
                      </a:pPr>
                      <a:r>
                        <a:rPr lang="zh-TW" altLang="en-US" sz="1200" dirty="0">
                          <a:latin typeface="微軟正黑體" panose="020B0604030504040204" pitchFamily="34" charset="-120"/>
                          <a:ea typeface="微軟正黑體" panose="020B0604030504040204" pitchFamily="34" charset="-120"/>
                        </a:rPr>
                        <a:t>縮放範圍 </a:t>
                      </a:r>
                      <a:r>
                        <a:rPr lang="en-US" altLang="zh-TW" sz="1200" dirty="0">
                          <a:solidFill>
                            <a:srgbClr val="FF0000"/>
                          </a:solidFill>
                          <a:latin typeface="微軟正黑體" panose="020B0604030504040204" pitchFamily="34" charset="-120"/>
                          <a:ea typeface="微軟正黑體" panose="020B0604030504040204" pitchFamily="34" charset="-120"/>
                        </a:rPr>
                        <a:t>±10%</a:t>
                      </a:r>
                    </a:p>
                    <a:p>
                      <a:pPr marL="0" indent="0">
                        <a:buFont typeface="Arial" panose="020B0604020202020204" pitchFamily="34" charset="0"/>
                        <a:buNone/>
                      </a:pPr>
                      <a:r>
                        <a:rPr lang="zh-TW" altLang="en-US" sz="1200" dirty="0">
                          <a:latin typeface="微軟正黑體" panose="020B0604030504040204" pitchFamily="34" charset="-120"/>
                          <a:ea typeface="微軟正黑體" panose="020B0604030504040204" pitchFamily="34" charset="-120"/>
                        </a:rPr>
                        <a:t>填充模式為零填充（</a:t>
                      </a:r>
                      <a:r>
                        <a:rPr lang="en-US" altLang="zh-TW" sz="1200" dirty="0" err="1">
                          <a:latin typeface="微軟正黑體" panose="020B0604030504040204" pitchFamily="34" charset="-120"/>
                          <a:ea typeface="微軟正黑體" panose="020B0604030504040204" pitchFamily="34" charset="-120"/>
                        </a:rPr>
                        <a:t>padding_mode</a:t>
                      </a:r>
                      <a:r>
                        <a:rPr lang="en-US" altLang="zh-TW" sz="1200" dirty="0">
                          <a:latin typeface="微軟正黑體" panose="020B0604030504040204" pitchFamily="34" charset="-120"/>
                          <a:ea typeface="微軟正黑體" panose="020B0604030504040204" pitchFamily="34" charset="-120"/>
                        </a:rPr>
                        <a:t>="zeros"</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227760522"/>
                  </a:ext>
                </a:extLst>
              </a:tr>
            </a:tbl>
          </a:graphicData>
        </a:graphic>
      </p:graphicFrame>
      <p:graphicFrame>
        <p:nvGraphicFramePr>
          <p:cNvPr id="30" name="表格 29">
            <a:extLst>
              <a:ext uri="{FF2B5EF4-FFF2-40B4-BE49-F238E27FC236}">
                <a16:creationId xmlns:a16="http://schemas.microsoft.com/office/drawing/2014/main" id="{4B965786-BEAC-298E-7C6D-5186B011F629}"/>
              </a:ext>
            </a:extLst>
          </p:cNvPr>
          <p:cNvGraphicFramePr>
            <a:graphicFrameLocks noGrp="1"/>
          </p:cNvGraphicFramePr>
          <p:nvPr>
            <p:extLst>
              <p:ext uri="{D42A27DB-BD31-4B8C-83A1-F6EECF244321}">
                <p14:modId xmlns:p14="http://schemas.microsoft.com/office/powerpoint/2010/main" val="2396078055"/>
              </p:ext>
            </p:extLst>
          </p:nvPr>
        </p:nvGraphicFramePr>
        <p:xfrm>
          <a:off x="6147001" y="1956203"/>
          <a:ext cx="5930898" cy="2468057"/>
        </p:xfrm>
        <a:graphic>
          <a:graphicData uri="http://schemas.openxmlformats.org/drawingml/2006/table">
            <a:tbl>
              <a:tblPr firstRow="1" bandRow="1">
                <a:tableStyleId>{5C22544A-7EE6-4342-B048-85BDC9FD1C3A}</a:tableStyleId>
              </a:tblPr>
              <a:tblGrid>
                <a:gridCol w="2227774">
                  <a:extLst>
                    <a:ext uri="{9D8B030D-6E8A-4147-A177-3AD203B41FA5}">
                      <a16:colId xmlns:a16="http://schemas.microsoft.com/office/drawing/2014/main" val="1670033353"/>
                    </a:ext>
                  </a:extLst>
                </a:gridCol>
                <a:gridCol w="1846813">
                  <a:extLst>
                    <a:ext uri="{9D8B030D-6E8A-4147-A177-3AD203B41FA5}">
                      <a16:colId xmlns:a16="http://schemas.microsoft.com/office/drawing/2014/main" val="2427541458"/>
                    </a:ext>
                  </a:extLst>
                </a:gridCol>
                <a:gridCol w="1856311">
                  <a:extLst>
                    <a:ext uri="{9D8B030D-6E8A-4147-A177-3AD203B41FA5}">
                      <a16:colId xmlns:a16="http://schemas.microsoft.com/office/drawing/2014/main" val="3758510777"/>
                    </a:ext>
                  </a:extLst>
                </a:gridCol>
              </a:tblGrid>
              <a:tr h="547817">
                <a:tc>
                  <a:txBody>
                    <a:bodyPr/>
                    <a:lstStyle/>
                    <a:p>
                      <a:r>
                        <a:rPr lang="zh-TW" altLang="en-US" sz="1200" dirty="0">
                          <a:latin typeface="微軟正黑體" panose="020B0604030504040204" pitchFamily="34" charset="-120"/>
                          <a:ea typeface="微軟正黑體" panose="020B0604030504040204" pitchFamily="34" charset="-120"/>
                        </a:rPr>
                        <a:t>強度變換（</a:t>
                      </a:r>
                      <a:r>
                        <a:rPr lang="en-US" altLang="zh-TW" sz="1200" dirty="0">
                          <a:latin typeface="微軟正黑體" panose="020B0604030504040204" pitchFamily="34" charset="-120"/>
                          <a:ea typeface="微軟正黑體" panose="020B0604030504040204" pitchFamily="34" charset="-120"/>
                        </a:rPr>
                        <a:t>Intensity Transforms</a:t>
                      </a:r>
                      <a:r>
                        <a:rPr lang="zh-TW" altLang="en-US" sz="1200" dirty="0">
                          <a:latin typeface="微軟正黑體" panose="020B0604030504040204" pitchFamily="34" charset="-120"/>
                          <a:ea typeface="微軟正黑體" panose="020B0604030504040204" pitchFamily="34" charset="-120"/>
                        </a:rPr>
                        <a:t>）</a:t>
                      </a:r>
                    </a:p>
                  </a:txBody>
                  <a:tcPr/>
                </a:tc>
                <a:tc>
                  <a:txBody>
                    <a:bodyPr/>
                    <a:lstStyle/>
                    <a:p>
                      <a:r>
                        <a:rPr lang="zh-TW" altLang="en-US" sz="1200" dirty="0">
                          <a:latin typeface="微軟正黑體" panose="020B0604030504040204" pitchFamily="34" charset="-120"/>
                          <a:ea typeface="微軟正黑體" panose="020B0604030504040204" pitchFamily="34" charset="-120"/>
                        </a:rPr>
                        <a:t>功能</a:t>
                      </a:r>
                    </a:p>
                  </a:txBody>
                  <a:tcPr/>
                </a:tc>
                <a:tc>
                  <a:txBody>
                    <a:bodyPr/>
                    <a:lstStyle/>
                    <a:p>
                      <a:r>
                        <a:rPr lang="zh-TW" altLang="en-US" sz="1200" dirty="0">
                          <a:latin typeface="微軟正黑體" panose="020B0604030504040204" pitchFamily="34" charset="-120"/>
                          <a:ea typeface="微軟正黑體" panose="020B0604030504040204" pitchFamily="34" charset="-120"/>
                        </a:rPr>
                        <a:t>參數</a:t>
                      </a:r>
                    </a:p>
                  </a:txBody>
                  <a:tcPr/>
                </a:tc>
                <a:extLst>
                  <a:ext uri="{0D108BD9-81ED-4DB2-BD59-A6C34878D82A}">
                    <a16:rowId xmlns:a16="http://schemas.microsoft.com/office/drawing/2014/main" val="4107773333"/>
                  </a:ext>
                </a:extLst>
              </a:tr>
              <a:tr h="631363">
                <a:tc>
                  <a:txBody>
                    <a:bodyPr/>
                    <a:lstStyle/>
                    <a:p>
                      <a:r>
                        <a:rPr lang="en-US" altLang="zh-TW" sz="1200" dirty="0" err="1">
                          <a:latin typeface="微軟正黑體" panose="020B0604030504040204" pitchFamily="34" charset="-120"/>
                          <a:ea typeface="微軟正黑體" panose="020B0604030504040204" pitchFamily="34" charset="-120"/>
                        </a:rPr>
                        <a:t>RandScaleIntensityd</a:t>
                      </a:r>
                      <a:endParaRPr lang="zh-TW" altLang="en-US" sz="1200" dirty="0">
                        <a:latin typeface="微軟正黑體" panose="020B0604030504040204" pitchFamily="34" charset="-120"/>
                        <a:ea typeface="微軟正黑體" panose="020B0604030504040204" pitchFamily="34" charset="-12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隨機縮放影像強度值（亮度）</a:t>
                      </a:r>
                      <a:endParaRPr lang="en-US" altLang="zh-TW" sz="1200" dirty="0">
                        <a:latin typeface="微軟正黑體" panose="020B0604030504040204" pitchFamily="34" charset="-120"/>
                        <a:ea typeface="微軟正黑體" panose="020B0604030504040204" pitchFamily="34" charset="-120"/>
                      </a:endParaRPr>
                    </a:p>
                    <a:p>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en-US" altLang="zh-TW" sz="1200" dirty="0">
                          <a:solidFill>
                            <a:srgbClr val="FF0000"/>
                          </a:solidFill>
                          <a:latin typeface="微軟正黑體" panose="020B0604030504040204" pitchFamily="34" charset="-120"/>
                          <a:ea typeface="微軟正黑體" panose="020B0604030504040204" pitchFamily="34" charset="-120"/>
                        </a:rPr>
                        <a:t>factors=0.3</a:t>
                      </a:r>
                      <a:r>
                        <a:rPr lang="zh-TW" altLang="en-US" sz="1200" dirty="0">
                          <a:latin typeface="微軟正黑體" panose="020B0604030504040204" pitchFamily="34" charset="-120"/>
                          <a:ea typeface="微軟正黑體" panose="020B0604030504040204" pitchFamily="34" charset="-120"/>
                        </a:rPr>
                        <a:t>（強度縮放因子最大幅度</a:t>
                      </a:r>
                      <a:r>
                        <a:rPr lang="en-US" altLang="zh-TW" sz="1200" dirty="0">
                          <a:latin typeface="微軟正黑體" panose="020B0604030504040204" pitchFamily="34" charset="-120"/>
                          <a:ea typeface="微軟正黑體" panose="020B0604030504040204" pitchFamily="34" charset="-120"/>
                        </a:rPr>
                        <a:t>30%</a:t>
                      </a:r>
                      <a:r>
                        <a:rPr lang="zh-TW" altLang="en-US" sz="1200" dirty="0">
                          <a:latin typeface="微軟正黑體" panose="020B0604030504040204" pitchFamily="34" charset="-120"/>
                          <a:ea typeface="微軟正黑體" panose="020B0604030504040204" pitchFamily="34" charset="-120"/>
                        </a:rPr>
                        <a:t>），</a:t>
                      </a:r>
                      <a:r>
                        <a:rPr lang="en-US" altLang="zh-TW" sz="1200" dirty="0">
                          <a:solidFill>
                            <a:srgbClr val="FF0000"/>
                          </a:solidFill>
                          <a:latin typeface="微軟正黑體" panose="020B0604030504040204" pitchFamily="34" charset="-120"/>
                          <a:ea typeface="微軟正黑體" panose="020B0604030504040204" pitchFamily="34" charset="-120"/>
                        </a:rPr>
                        <a:t>prob=0.5</a:t>
                      </a:r>
                      <a:endParaRPr lang="zh-TW" altLang="en-US" sz="120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251871102"/>
                  </a:ext>
                </a:extLst>
              </a:tr>
              <a:tr h="360535">
                <a:tc>
                  <a:txBody>
                    <a:bodyPr/>
                    <a:lstStyle/>
                    <a:p>
                      <a:r>
                        <a:rPr lang="en-US" altLang="zh-TW" sz="1200" dirty="0" err="1">
                          <a:latin typeface="微軟正黑體" panose="020B0604030504040204" pitchFamily="34" charset="-120"/>
                          <a:ea typeface="微軟正黑體" panose="020B0604030504040204" pitchFamily="34" charset="-120"/>
                        </a:rPr>
                        <a:t>RandShiftIntensityd</a:t>
                      </a:r>
                      <a:endParaRPr lang="zh-TW" altLang="en-US" sz="1200" dirty="0">
                        <a:latin typeface="微軟正黑體" panose="020B0604030504040204" pitchFamily="34" charset="-120"/>
                        <a:ea typeface="微軟正黑體" panose="020B0604030504040204" pitchFamily="34" charset="-12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隨機縮放影像強度值（亮度）</a:t>
                      </a:r>
                      <a:endParaRPr lang="en-US" altLang="zh-TW" sz="1200" dirty="0">
                        <a:latin typeface="微軟正黑體" panose="020B0604030504040204" pitchFamily="34" charset="-120"/>
                        <a:ea typeface="微軟正黑體" panose="020B0604030504040204" pitchFamily="34" charset="-120"/>
                      </a:endParaRPr>
                    </a:p>
                    <a:p>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en-US" altLang="zh-TW" sz="1200" dirty="0">
                          <a:solidFill>
                            <a:srgbClr val="FF0000"/>
                          </a:solidFill>
                          <a:latin typeface="微軟正黑體" panose="020B0604030504040204" pitchFamily="34" charset="-120"/>
                          <a:ea typeface="微軟正黑體" panose="020B0604030504040204" pitchFamily="34" charset="-120"/>
                        </a:rPr>
                        <a:t>offsets=0.1</a:t>
                      </a:r>
                      <a:r>
                        <a:rPr lang="zh-TW" altLang="en-US" sz="1200" dirty="0">
                          <a:latin typeface="微軟正黑體" panose="020B0604030504040204" pitchFamily="34" charset="-120"/>
                          <a:ea typeface="微軟正黑體" panose="020B0604030504040204" pitchFamily="34" charset="-120"/>
                        </a:rPr>
                        <a:t>（最大偏移</a:t>
                      </a:r>
                      <a:r>
                        <a:rPr lang="en-US" altLang="zh-TW" sz="1200" dirty="0">
                          <a:latin typeface="微軟正黑體" panose="020B0604030504040204" pitchFamily="34" charset="-120"/>
                          <a:ea typeface="微軟正黑體" panose="020B0604030504040204" pitchFamily="34" charset="-120"/>
                        </a:rPr>
                        <a:t>0.1</a:t>
                      </a:r>
                      <a:r>
                        <a:rPr lang="zh-TW" altLang="en-US" sz="1200" dirty="0">
                          <a:latin typeface="微軟正黑體" panose="020B0604030504040204" pitchFamily="34" charset="-120"/>
                          <a:ea typeface="微軟正黑體" panose="020B0604030504040204" pitchFamily="34" charset="-120"/>
                        </a:rPr>
                        <a:t>），</a:t>
                      </a:r>
                      <a:r>
                        <a:rPr lang="en-US" altLang="zh-TW" sz="1200" dirty="0">
                          <a:solidFill>
                            <a:srgbClr val="FF0000"/>
                          </a:solidFill>
                          <a:latin typeface="微軟正黑體" panose="020B0604030504040204" pitchFamily="34" charset="-120"/>
                          <a:ea typeface="微軟正黑體" panose="020B0604030504040204" pitchFamily="34" charset="-120"/>
                        </a:rPr>
                        <a:t>prob=0.5</a:t>
                      </a:r>
                      <a:endParaRPr lang="zh-TW" altLang="en-US" sz="120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411792659"/>
                  </a:ext>
                </a:extLst>
              </a:tr>
              <a:tr h="609634">
                <a:tc>
                  <a:txBody>
                    <a:bodyPr/>
                    <a:lstStyle/>
                    <a:p>
                      <a:r>
                        <a:rPr lang="en-US" altLang="zh-TW" sz="1200" dirty="0" err="1">
                          <a:latin typeface="微軟正黑體" panose="020B0604030504040204" pitchFamily="34" charset="-120"/>
                          <a:ea typeface="微軟正黑體" panose="020B0604030504040204" pitchFamily="34" charset="-120"/>
                        </a:rPr>
                        <a:t>RandGaussianNoised</a:t>
                      </a:r>
                      <a:endParaRPr lang="zh-TW" altLang="en-US" sz="1200" dirty="0">
                        <a:latin typeface="微軟正黑體" panose="020B0604030504040204" pitchFamily="34" charset="-120"/>
                        <a:ea typeface="微軟正黑體" panose="020B0604030504040204" pitchFamily="34" charset="-120"/>
                      </a:endParaRPr>
                    </a:p>
                  </a:txBody>
                  <a:tcPr/>
                </a:tc>
                <a:tc>
                  <a:txBody>
                    <a:bodyPr/>
                    <a:lstStyle/>
                    <a:p>
                      <a:r>
                        <a:rPr lang="zh-TW" altLang="en-US" sz="1200" dirty="0">
                          <a:latin typeface="微軟正黑體" panose="020B0604030504040204" pitchFamily="34" charset="-120"/>
                          <a:ea typeface="微軟正黑體" panose="020B0604030504040204" pitchFamily="34" charset="-120"/>
                        </a:rPr>
                        <a:t>隨機添加高斯噪聲</a:t>
                      </a:r>
                    </a:p>
                  </a:txBody>
                  <a:tcPr/>
                </a:tc>
                <a:tc>
                  <a:txBody>
                    <a:bodyPr/>
                    <a:lstStyle/>
                    <a:p>
                      <a:r>
                        <a:rPr lang="en-US" altLang="zh-TW" sz="1200" dirty="0">
                          <a:solidFill>
                            <a:srgbClr val="FF0000"/>
                          </a:solidFill>
                          <a:latin typeface="微軟正黑體" panose="020B0604030504040204" pitchFamily="34" charset="-120"/>
                          <a:ea typeface="微軟正黑體" panose="020B0604030504040204" pitchFamily="34" charset="-120"/>
                        </a:rPr>
                        <a:t>std=0.01</a:t>
                      </a:r>
                      <a:r>
                        <a:rPr lang="zh-TW" altLang="en-US" sz="1200" dirty="0">
                          <a:latin typeface="微軟正黑體" panose="020B0604030504040204" pitchFamily="34" charset="-120"/>
                          <a:ea typeface="微軟正黑體" panose="020B0604030504040204" pitchFamily="34" charset="-120"/>
                        </a:rPr>
                        <a:t>（標準差），</a:t>
                      </a:r>
                      <a:r>
                        <a:rPr lang="en-US" altLang="zh-TW" sz="1200" dirty="0">
                          <a:solidFill>
                            <a:srgbClr val="FF0000"/>
                          </a:solidFill>
                          <a:latin typeface="微軟正黑體" panose="020B0604030504040204" pitchFamily="34" charset="-120"/>
                          <a:ea typeface="微軟正黑體" panose="020B0604030504040204" pitchFamily="34" charset="-120"/>
                        </a:rPr>
                        <a:t>prob=0.2</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20%</a:t>
                      </a:r>
                      <a:r>
                        <a:rPr lang="zh-TW" altLang="en-US" sz="1200" dirty="0">
                          <a:latin typeface="微軟正黑體" panose="020B0604030504040204" pitchFamily="34" charset="-120"/>
                          <a:ea typeface="微軟正黑體" panose="020B0604030504040204" pitchFamily="34" charset="-120"/>
                        </a:rPr>
                        <a:t>機率執行）</a:t>
                      </a:r>
                    </a:p>
                  </a:txBody>
                  <a:tcPr/>
                </a:tc>
                <a:extLst>
                  <a:ext uri="{0D108BD9-81ED-4DB2-BD59-A6C34878D82A}">
                    <a16:rowId xmlns:a16="http://schemas.microsoft.com/office/drawing/2014/main" val="2704029922"/>
                  </a:ext>
                </a:extLst>
              </a:tr>
            </a:tbl>
          </a:graphicData>
        </a:graphic>
      </p:graphicFrame>
      <p:sp>
        <p:nvSpPr>
          <p:cNvPr id="31" name="文字方塊 30">
            <a:extLst>
              <a:ext uri="{FF2B5EF4-FFF2-40B4-BE49-F238E27FC236}">
                <a16:creationId xmlns:a16="http://schemas.microsoft.com/office/drawing/2014/main" id="{D641C368-D49C-6F1B-E381-C726D90BA7E9}"/>
              </a:ext>
            </a:extLst>
          </p:cNvPr>
          <p:cNvSpPr txBox="1"/>
          <p:nvPr/>
        </p:nvSpPr>
        <p:spPr>
          <a:xfrm>
            <a:off x="215622" y="1344191"/>
            <a:ext cx="5796781" cy="584775"/>
          </a:xfrm>
          <a:prstGeom prst="rect">
            <a:avLst/>
          </a:prstGeom>
          <a:solidFill>
            <a:schemeClr val="tx2">
              <a:lumMod val="20000"/>
              <a:lumOff val="80000"/>
            </a:schemeClr>
          </a:solidFill>
        </p:spPr>
        <p:txBody>
          <a:bodyPr wrap="square" rtlCol="0">
            <a:spAutoFit/>
          </a:bodyPr>
          <a:lstStyle/>
          <a:p>
            <a:r>
              <a:rPr lang="zh-TW" altLang="en-US" sz="1600" dirty="0">
                <a:latin typeface="微軟正黑體" panose="020B0604030504040204" pitchFamily="34" charset="-120"/>
                <a:ea typeface="微軟正黑體" panose="020B0604030504040204" pitchFamily="34" charset="-120"/>
              </a:rPr>
              <a:t>空間轉換</a:t>
            </a:r>
            <a:br>
              <a:rPr lang="en-US" altLang="zh-TW" sz="1600" dirty="0">
                <a:latin typeface="微軟正黑體" panose="020B0604030504040204" pitchFamily="34" charset="-120"/>
                <a:ea typeface="微軟正黑體" panose="020B0604030504040204" pitchFamily="34" charset="-120"/>
              </a:rPr>
            </a:br>
            <a:r>
              <a:rPr lang="en-US" altLang="zh-TW" sz="1600" b="1" dirty="0">
                <a:latin typeface="微軟正黑體" panose="020B0604030504040204" pitchFamily="34" charset="-120"/>
                <a:ea typeface="微軟正黑體" panose="020B0604030504040204" pitchFamily="34" charset="-120"/>
              </a:rPr>
              <a:t>Spatial Transforms</a:t>
            </a:r>
            <a:endParaRPr lang="zh-TW" altLang="en-US" sz="1600" dirty="0">
              <a:latin typeface="微軟正黑體" panose="020B0604030504040204" pitchFamily="34" charset="-120"/>
              <a:ea typeface="微軟正黑體" panose="020B0604030504040204" pitchFamily="34" charset="-120"/>
            </a:endParaRPr>
          </a:p>
        </p:txBody>
      </p:sp>
      <p:sp>
        <p:nvSpPr>
          <p:cNvPr id="32" name="文字方塊 31">
            <a:extLst>
              <a:ext uri="{FF2B5EF4-FFF2-40B4-BE49-F238E27FC236}">
                <a16:creationId xmlns:a16="http://schemas.microsoft.com/office/drawing/2014/main" id="{41BCF825-8367-E2C4-31D6-DDFDAE5E63BC}"/>
              </a:ext>
            </a:extLst>
          </p:cNvPr>
          <p:cNvSpPr txBox="1"/>
          <p:nvPr/>
        </p:nvSpPr>
        <p:spPr>
          <a:xfrm>
            <a:off x="6147001" y="1344192"/>
            <a:ext cx="5895325" cy="584775"/>
          </a:xfrm>
          <a:prstGeom prst="rect">
            <a:avLst/>
          </a:prstGeom>
          <a:solidFill>
            <a:schemeClr val="tx2">
              <a:lumMod val="20000"/>
              <a:lumOff val="80000"/>
            </a:schemeClr>
          </a:solidFill>
        </p:spPr>
        <p:txBody>
          <a:bodyPr wrap="square" rtlCol="0">
            <a:spAutoFit/>
          </a:bodyPr>
          <a:lstStyle/>
          <a:p>
            <a:r>
              <a:rPr lang="zh-TW" altLang="en-US" sz="1600" dirty="0">
                <a:latin typeface="微軟正黑體" panose="020B0604030504040204" pitchFamily="34" charset="-120"/>
                <a:ea typeface="微軟正黑體" panose="020B0604030504040204" pitchFamily="34" charset="-120"/>
              </a:rPr>
              <a:t>強度轉換</a:t>
            </a:r>
            <a:endParaRPr lang="en-US" altLang="zh-TW" sz="1600" dirty="0">
              <a:latin typeface="微軟正黑體" panose="020B0604030504040204" pitchFamily="34" charset="-120"/>
              <a:ea typeface="微軟正黑體" panose="020B0604030504040204" pitchFamily="34" charset="-120"/>
            </a:endParaRPr>
          </a:p>
          <a:p>
            <a:r>
              <a:rPr lang="en-US" altLang="zh-TW" sz="1600" b="1" dirty="0">
                <a:latin typeface="微軟正黑體" panose="020B0604030504040204" pitchFamily="34" charset="-120"/>
                <a:ea typeface="微軟正黑體" panose="020B0604030504040204" pitchFamily="34" charset="-120"/>
              </a:rPr>
              <a:t>Intensity Transforms</a:t>
            </a:r>
            <a:endParaRPr lang="zh-TW" altLang="en-US" sz="1600" b="1" dirty="0">
              <a:latin typeface="微軟正黑體" panose="020B0604030504040204" pitchFamily="34" charset="-120"/>
              <a:ea typeface="微軟正黑體" panose="020B0604030504040204" pitchFamily="34" charset="-120"/>
            </a:endParaRPr>
          </a:p>
        </p:txBody>
      </p:sp>
      <p:sp>
        <p:nvSpPr>
          <p:cNvPr id="33" name="文字方塊 32">
            <a:extLst>
              <a:ext uri="{FF2B5EF4-FFF2-40B4-BE49-F238E27FC236}">
                <a16:creationId xmlns:a16="http://schemas.microsoft.com/office/drawing/2014/main" id="{B2ABAA31-A062-827E-4416-85A23C64DB39}"/>
              </a:ext>
            </a:extLst>
          </p:cNvPr>
          <p:cNvSpPr txBox="1"/>
          <p:nvPr/>
        </p:nvSpPr>
        <p:spPr>
          <a:xfrm>
            <a:off x="1152588" y="211565"/>
            <a:ext cx="1853612" cy="615553"/>
          </a:xfrm>
          <a:prstGeom prst="rect">
            <a:avLst/>
          </a:prstGeom>
          <a:noFill/>
        </p:spPr>
        <p:txBody>
          <a:bodyPr wrap="square" rtlCol="0">
            <a:spAutoFit/>
          </a:bodyPr>
          <a:lstStyle/>
          <a:p>
            <a:pPr algn="ctr"/>
            <a:r>
              <a:rPr lang="zh-TW" altLang="en-US" sz="2000" b="1" dirty="0">
                <a:latin typeface="微軟正黑體" panose="020B0604030504040204" pitchFamily="34" charset="-120"/>
                <a:ea typeface="微軟正黑體" panose="020B0604030504040204" pitchFamily="34" charset="-120"/>
              </a:rPr>
              <a:t>資料增強</a:t>
            </a:r>
            <a:br>
              <a:rPr lang="en-US" altLang="zh-TW" sz="2000" b="1" dirty="0">
                <a:latin typeface="微軟正黑體" panose="020B0604030504040204" pitchFamily="34" charset="-120"/>
                <a:ea typeface="微軟正黑體" panose="020B0604030504040204" pitchFamily="34" charset="-120"/>
              </a:rPr>
            </a:br>
            <a:r>
              <a:rPr lang="en-US" altLang="zh-TW" sz="1400" b="1" dirty="0">
                <a:latin typeface="Times New Roman" panose="02020603050405020304" pitchFamily="18" charset="0"/>
                <a:ea typeface="微軟正黑體" panose="020B0604030504040204" pitchFamily="34" charset="-120"/>
                <a:cs typeface="Times New Roman" panose="02020603050405020304" pitchFamily="18" charset="0"/>
              </a:rPr>
              <a:t>Data Enhancement</a:t>
            </a:r>
          </a:p>
        </p:txBody>
      </p:sp>
    </p:spTree>
    <p:extLst>
      <p:ext uri="{BB962C8B-B14F-4D97-AF65-F5344CB8AC3E}">
        <p14:creationId xmlns:p14="http://schemas.microsoft.com/office/powerpoint/2010/main" val="386484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54E4-0C43-9175-1540-E8E29331F51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9DB8A70-8ADC-610B-FAD7-B971120A425D}"/>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BC411946-A94E-67BE-7895-C67678722D7F}"/>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6ACD0D1-2647-FF84-7A78-F1F30A8FE3AF}"/>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D7D9007-21F6-22D1-C071-AB18E778D58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B47E85D0-B6A5-88A8-85AB-454E5C65C965}"/>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4" name="矩形 13">
            <a:extLst>
              <a:ext uri="{FF2B5EF4-FFF2-40B4-BE49-F238E27FC236}">
                <a16:creationId xmlns:a16="http://schemas.microsoft.com/office/drawing/2014/main" id="{9872DC09-648C-B5B4-481D-9F43D5239C0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1F04536F-C0B1-52BE-4F76-8175643D023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15</a:t>
            </a:fld>
            <a:endParaRPr lang="en-US" altLang="zh-CN" sz="1400" dirty="0">
              <a:solidFill>
                <a:schemeClr val="bg1"/>
              </a:solidFill>
              <a:latin typeface="微软雅黑" pitchFamily="34" charset="-122"/>
              <a:ea typeface="微软雅黑" pitchFamily="34" charset="-122"/>
            </a:endParaRPr>
          </a:p>
        </p:txBody>
      </p:sp>
      <p:sp>
        <p:nvSpPr>
          <p:cNvPr id="2" name="矩形 1">
            <a:extLst>
              <a:ext uri="{FF2B5EF4-FFF2-40B4-BE49-F238E27FC236}">
                <a16:creationId xmlns:a16="http://schemas.microsoft.com/office/drawing/2014/main" id="{C4EECE5F-0D0C-202D-BF81-B26346E3949F}"/>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3" name="矩形 2">
            <a:extLst>
              <a:ext uri="{FF2B5EF4-FFF2-40B4-BE49-F238E27FC236}">
                <a16:creationId xmlns:a16="http://schemas.microsoft.com/office/drawing/2014/main" id="{2122C2D6-7AE9-7029-E6F6-4F83B63284A8}"/>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4" name="矩形 3">
            <a:extLst>
              <a:ext uri="{FF2B5EF4-FFF2-40B4-BE49-F238E27FC236}">
                <a16:creationId xmlns:a16="http://schemas.microsoft.com/office/drawing/2014/main" id="{C8BD7995-B3D5-EA00-234D-F52B9D0AA32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5" name="矩形 4">
            <a:extLst>
              <a:ext uri="{FF2B5EF4-FFF2-40B4-BE49-F238E27FC236}">
                <a16:creationId xmlns:a16="http://schemas.microsoft.com/office/drawing/2014/main" id="{C4D61E9B-4223-D3F0-75A7-6CCBD1FFC252}"/>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6" name="直接连接符 51">
            <a:extLst>
              <a:ext uri="{FF2B5EF4-FFF2-40B4-BE49-F238E27FC236}">
                <a16:creationId xmlns:a16="http://schemas.microsoft.com/office/drawing/2014/main" id="{092EF04B-279A-BD79-AB07-013E3564603B}"/>
              </a:ext>
            </a:extLst>
          </p:cNvPr>
          <p:cNvCxnSpPr>
            <a:cxnSpLocks/>
          </p:cNvCxnSpPr>
          <p:nvPr/>
        </p:nvCxnSpPr>
        <p:spPr>
          <a:xfrm flipH="1">
            <a:off x="3006200" y="641363"/>
            <a:ext cx="8900494" cy="8443"/>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84C2A698-B82B-21C1-1C56-8593DFBBBB67}"/>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6" name="矩形 95">
            <a:extLst>
              <a:ext uri="{FF2B5EF4-FFF2-40B4-BE49-F238E27FC236}">
                <a16:creationId xmlns:a16="http://schemas.microsoft.com/office/drawing/2014/main" id="{FECE5781-1D79-81B7-63EF-85123271947C}"/>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15</a:t>
            </a:fld>
            <a:endParaRPr lang="en-US" altLang="zh-CN" sz="1400" dirty="0">
              <a:solidFill>
                <a:schemeClr val="bg1"/>
              </a:solidFill>
              <a:latin typeface="微软雅黑" pitchFamily="34" charset="-122"/>
              <a:ea typeface="微软雅黑" pitchFamily="34" charset="-122"/>
            </a:endParaRPr>
          </a:p>
        </p:txBody>
      </p:sp>
      <p:sp>
        <p:nvSpPr>
          <p:cNvPr id="33" name="文字方塊 32">
            <a:extLst>
              <a:ext uri="{FF2B5EF4-FFF2-40B4-BE49-F238E27FC236}">
                <a16:creationId xmlns:a16="http://schemas.microsoft.com/office/drawing/2014/main" id="{8BECA0F1-B335-6B5B-7D1B-A3393D9D7FA9}"/>
              </a:ext>
            </a:extLst>
          </p:cNvPr>
          <p:cNvSpPr txBox="1"/>
          <p:nvPr/>
        </p:nvSpPr>
        <p:spPr>
          <a:xfrm>
            <a:off x="1152588" y="300038"/>
            <a:ext cx="1853612" cy="615553"/>
          </a:xfrm>
          <a:prstGeom prst="rect">
            <a:avLst/>
          </a:prstGeom>
          <a:noFill/>
        </p:spPr>
        <p:txBody>
          <a:bodyPr wrap="square" rtlCol="0">
            <a:spAutoFit/>
          </a:bodyPr>
          <a:lstStyle/>
          <a:p>
            <a:pPr algn="ctr"/>
            <a:r>
              <a:rPr lang="zh-TW" altLang="en-US" sz="2000" b="1" dirty="0">
                <a:latin typeface="微軟正黑體" panose="020B0604030504040204" pitchFamily="34" charset="-120"/>
                <a:ea typeface="微軟正黑體" panose="020B0604030504040204" pitchFamily="34" charset="-120"/>
              </a:rPr>
              <a:t>進階</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前處理</a:t>
            </a:r>
            <a:br>
              <a:rPr lang="en-US" altLang="zh-TW" sz="2000" b="1" dirty="0">
                <a:latin typeface="微軟正黑體" panose="020B0604030504040204" pitchFamily="34" charset="-120"/>
                <a:ea typeface="微軟正黑體" panose="020B0604030504040204" pitchFamily="34" charset="-120"/>
              </a:rPr>
            </a:br>
            <a:endParaRPr lang="en-US" altLang="zh-TW" sz="1400" b="1"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13" name="文字方塊 12">
            <a:extLst>
              <a:ext uri="{FF2B5EF4-FFF2-40B4-BE49-F238E27FC236}">
                <a16:creationId xmlns:a16="http://schemas.microsoft.com/office/drawing/2014/main" id="{D05F0955-5461-8E84-3B76-A8D599722B2B}"/>
              </a:ext>
            </a:extLst>
          </p:cNvPr>
          <p:cNvSpPr txBox="1"/>
          <p:nvPr/>
        </p:nvSpPr>
        <p:spPr>
          <a:xfrm>
            <a:off x="550633" y="1143936"/>
            <a:ext cx="11090733" cy="1323439"/>
          </a:xfrm>
          <a:prstGeom prst="rect">
            <a:avLst/>
          </a:prstGeom>
          <a:noFill/>
          <a:ln w="9525">
            <a:solidFill>
              <a:schemeClr val="accent1"/>
            </a:solidFill>
          </a:ln>
        </p:spPr>
        <p:txBody>
          <a:bodyPr wrap="square">
            <a:spAutoFit/>
          </a:bodyPr>
          <a:lstStyle/>
          <a:p>
            <a:r>
              <a:rPr lang="zh-TW" altLang="en-US" sz="1600" dirty="0">
                <a:latin typeface="微軟正黑體" panose="020B0604030504040204" pitchFamily="34" charset="-120"/>
                <a:ea typeface="微軟正黑體" panose="020B0604030504040204" pitchFamily="34" charset="-120"/>
              </a:rPr>
              <a:t>非區域性平均演算法（</a:t>
            </a:r>
            <a:r>
              <a:rPr lang="en-US" altLang="zh-TW" sz="1600" dirty="0">
                <a:latin typeface="微軟正黑體" panose="020B0604030504040204" pitchFamily="34" charset="-120"/>
                <a:ea typeface="微軟正黑體" panose="020B0604030504040204" pitchFamily="34" charset="-120"/>
              </a:rPr>
              <a:t>Non-Local Means, NLM</a:t>
            </a:r>
            <a:r>
              <a:rPr lang="zh-TW" altLang="en-US" sz="1600" dirty="0">
                <a:latin typeface="微軟正黑體" panose="020B0604030504040204" pitchFamily="34" charset="-120"/>
                <a:ea typeface="微軟正黑體" panose="020B0604030504040204" pitchFamily="34" charset="-120"/>
              </a:rPr>
              <a:t>）原理說明：</a:t>
            </a:r>
            <a:endParaRPr lang="en-US" altLang="zh-TW" sz="1600" dirty="0">
              <a:latin typeface="微軟正黑體" panose="020B0604030504040204" pitchFamily="34" charset="-120"/>
              <a:ea typeface="微軟正黑體" panose="020B0604030504040204" pitchFamily="34" charset="-120"/>
            </a:endParaRPr>
          </a:p>
          <a:p>
            <a:r>
              <a:rPr lang="zh-TW" altLang="en-US" sz="1600" dirty="0">
                <a:latin typeface="微軟正黑體" panose="020B0604030504040204" pitchFamily="34" charset="-120"/>
                <a:ea typeface="微軟正黑體" panose="020B0604030504040204" pitchFamily="34" charset="-120"/>
              </a:rPr>
              <a:t>非區域性平均（</a:t>
            </a:r>
            <a:r>
              <a:rPr lang="en-US" altLang="zh-TW" sz="1600" dirty="0">
                <a:latin typeface="微軟正黑體" panose="020B0604030504040204" pitchFamily="34" charset="-120"/>
                <a:ea typeface="微軟正黑體" panose="020B0604030504040204" pitchFamily="34" charset="-120"/>
              </a:rPr>
              <a:t>Non-Local Means, NLM</a:t>
            </a:r>
            <a:r>
              <a:rPr lang="zh-TW" altLang="en-US" sz="1600" dirty="0">
                <a:latin typeface="微軟正黑體" panose="020B0604030504040204" pitchFamily="34" charset="-120"/>
                <a:ea typeface="微軟正黑體" panose="020B0604030504040204" pitchFamily="34" charset="-120"/>
              </a:rPr>
              <a:t>）是一種影像降噪方法，其核心思想是：影像中的某個像素值，可透過整張影像中與該像素區域（</a:t>
            </a:r>
            <a:r>
              <a:rPr lang="en-US" altLang="zh-TW" sz="1600" dirty="0">
                <a:latin typeface="微軟正黑體" panose="020B0604030504040204" pitchFamily="34" charset="-120"/>
                <a:ea typeface="微軟正黑體" panose="020B0604030504040204" pitchFamily="34" charset="-120"/>
              </a:rPr>
              <a:t>patch</a:t>
            </a:r>
            <a:r>
              <a:rPr lang="zh-TW" altLang="en-US" sz="1600" dirty="0">
                <a:latin typeface="微軟正黑體" panose="020B0604030504040204" pitchFamily="34" charset="-120"/>
                <a:ea typeface="微軟正黑體" panose="020B0604030504040204" pitchFamily="34" charset="-120"/>
              </a:rPr>
              <a:t>）相似的其他區域進行加權平均來重建。</a:t>
            </a:r>
            <a:endParaRPr lang="en-US" altLang="zh-TW" sz="1600" dirty="0">
              <a:latin typeface="微軟正黑體" panose="020B0604030504040204" pitchFamily="34" charset="-120"/>
              <a:ea typeface="微軟正黑體" panose="020B0604030504040204" pitchFamily="34" charset="-120"/>
            </a:endParaRPr>
          </a:p>
          <a:p>
            <a:r>
              <a:rPr lang="zh-TW" altLang="en-US" sz="1600" dirty="0">
                <a:latin typeface="微軟正黑體" panose="020B0604030504040204" pitchFamily="34" charset="-120"/>
                <a:ea typeface="微軟正黑體" panose="020B0604030504040204" pitchFamily="34" charset="-120"/>
              </a:rPr>
              <a:t>這與傳統的局部濾波（如</a:t>
            </a:r>
            <a:r>
              <a:rPr lang="en-US" altLang="zh-TW" sz="1600" dirty="0">
                <a:latin typeface="微軟正黑體" panose="020B0604030504040204" pitchFamily="34" charset="-120"/>
                <a:ea typeface="微軟正黑體" panose="020B0604030504040204" pitchFamily="34" charset="-120"/>
              </a:rPr>
              <a:t>Gaussian blur</a:t>
            </a:r>
            <a:r>
              <a:rPr lang="zh-TW" altLang="en-US" sz="1600" dirty="0">
                <a:latin typeface="微軟正黑體" panose="020B0604030504040204" pitchFamily="34" charset="-120"/>
                <a:ea typeface="微軟正黑體" panose="020B0604030504040204" pitchFamily="34" charset="-120"/>
              </a:rPr>
              <a:t>、均值濾波）不同，</a:t>
            </a:r>
            <a:r>
              <a:rPr lang="en-US" altLang="zh-TW" sz="1600" dirty="0">
                <a:solidFill>
                  <a:srgbClr val="FF0000"/>
                </a:solidFill>
                <a:latin typeface="微軟正黑體" panose="020B0604030504040204" pitchFamily="34" charset="-120"/>
                <a:ea typeface="微軟正黑體" panose="020B0604030504040204" pitchFamily="34" charset="-120"/>
              </a:rPr>
              <a:t>NLM</a:t>
            </a:r>
            <a:r>
              <a:rPr lang="zh-TW" altLang="en-US" sz="1600" dirty="0">
                <a:solidFill>
                  <a:srgbClr val="FF0000"/>
                </a:solidFill>
                <a:latin typeface="微軟正黑體" panose="020B0604030504040204" pitchFamily="34" charset="-120"/>
                <a:ea typeface="微軟正黑體" panose="020B0604030504040204" pitchFamily="34" charset="-120"/>
              </a:rPr>
              <a:t>演算法不只考慮鄰近像素，而是比較整張影像中所有位置的小區塊（</a:t>
            </a:r>
            <a:r>
              <a:rPr lang="en-US" altLang="zh-TW" sz="1600" dirty="0">
                <a:solidFill>
                  <a:srgbClr val="FF0000"/>
                </a:solidFill>
                <a:latin typeface="微軟正黑體" panose="020B0604030504040204" pitchFamily="34" charset="-120"/>
                <a:ea typeface="微軟正黑體" panose="020B0604030504040204" pitchFamily="34" charset="-120"/>
              </a:rPr>
              <a:t>patch</a:t>
            </a:r>
            <a:r>
              <a:rPr lang="zh-TW" altLang="en-US" sz="1600" dirty="0">
                <a:solidFill>
                  <a:srgbClr val="FF0000"/>
                </a:solidFill>
                <a:latin typeface="微軟正黑體" panose="020B0604030504040204" pitchFamily="34" charset="-120"/>
                <a:ea typeface="微軟正黑體" panose="020B0604030504040204" pitchFamily="34" charset="-120"/>
              </a:rPr>
              <a:t>），尋找相似結構並進行加權平均</a:t>
            </a:r>
            <a:r>
              <a:rPr lang="zh-TW" altLang="en-US" sz="1600" dirty="0">
                <a:latin typeface="微軟正黑體" panose="020B0604030504040204" pitchFamily="34" charset="-120"/>
                <a:ea typeface="微軟正黑體" panose="020B0604030504040204" pitchFamily="34" charset="-120"/>
              </a:rPr>
              <a:t>，</a:t>
            </a:r>
            <a:r>
              <a:rPr lang="zh-TW" altLang="en-US" sz="1600" b="1" u="sng" dirty="0">
                <a:latin typeface="微軟正黑體" panose="020B0604030504040204" pitchFamily="34" charset="-120"/>
                <a:ea typeface="微軟正黑體" panose="020B0604030504040204" pitchFamily="34" charset="-120"/>
              </a:rPr>
              <a:t>以達到保留邊界細節、去除雜訊的目的。</a:t>
            </a:r>
          </a:p>
        </p:txBody>
      </p:sp>
      <p:cxnSp>
        <p:nvCxnSpPr>
          <p:cNvPr id="25" name="直線單箭頭接點 24">
            <a:extLst>
              <a:ext uri="{FF2B5EF4-FFF2-40B4-BE49-F238E27FC236}">
                <a16:creationId xmlns:a16="http://schemas.microsoft.com/office/drawing/2014/main" id="{40EB5EE4-2728-86EE-86F8-9601E203CF90}"/>
              </a:ext>
            </a:extLst>
          </p:cNvPr>
          <p:cNvCxnSpPr>
            <a:cxnSpLocks/>
          </p:cNvCxnSpPr>
          <p:nvPr/>
        </p:nvCxnSpPr>
        <p:spPr>
          <a:xfrm>
            <a:off x="5385620" y="4926049"/>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文字方塊 25">
            <a:extLst>
              <a:ext uri="{FF2B5EF4-FFF2-40B4-BE49-F238E27FC236}">
                <a16:creationId xmlns:a16="http://schemas.microsoft.com/office/drawing/2014/main" id="{B9FF0422-9C3E-700A-CC12-B2DFFB019525}"/>
              </a:ext>
            </a:extLst>
          </p:cNvPr>
          <p:cNvSpPr txBox="1"/>
          <p:nvPr/>
        </p:nvSpPr>
        <p:spPr>
          <a:xfrm>
            <a:off x="5211301" y="3683434"/>
            <a:ext cx="1326412" cy="923330"/>
          </a:xfrm>
          <a:prstGeom prst="rect">
            <a:avLst/>
          </a:prstGeom>
          <a:noFill/>
        </p:spPr>
        <p:txBody>
          <a:bodyPr wrap="square" rtlCol="0">
            <a:spAutoFit/>
          </a:bodyPr>
          <a:lstStyle/>
          <a:p>
            <a:r>
              <a:rPr lang="en-US" altLang="zh-TW" dirty="0"/>
              <a:t>Non-Local Means Denoising</a:t>
            </a:r>
            <a:endParaRPr lang="zh-TW" altLang="en-US" dirty="0">
              <a:latin typeface="微軟正黑體" panose="020B0604030504040204" pitchFamily="34" charset="-120"/>
              <a:ea typeface="微軟正黑體" panose="020B0604030504040204" pitchFamily="34" charset="-120"/>
            </a:endParaRPr>
          </a:p>
        </p:txBody>
      </p:sp>
      <p:pic>
        <p:nvPicPr>
          <p:cNvPr id="35" name="圖片 34">
            <a:extLst>
              <a:ext uri="{FF2B5EF4-FFF2-40B4-BE49-F238E27FC236}">
                <a16:creationId xmlns:a16="http://schemas.microsoft.com/office/drawing/2014/main" id="{21A2B9A7-9F2F-709F-545F-8AE0960D0AE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104372" y="3519309"/>
            <a:ext cx="2833102" cy="2452885"/>
          </a:xfrm>
          <a:prstGeom prst="rect">
            <a:avLst/>
          </a:prstGeom>
        </p:spPr>
      </p:pic>
      <p:pic>
        <p:nvPicPr>
          <p:cNvPr id="36" name="圖片 35">
            <a:extLst>
              <a:ext uri="{FF2B5EF4-FFF2-40B4-BE49-F238E27FC236}">
                <a16:creationId xmlns:a16="http://schemas.microsoft.com/office/drawing/2014/main" id="{4F39C600-A4AF-FF8E-082D-29083E6B649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811540" y="3505695"/>
            <a:ext cx="2833102" cy="2452885"/>
          </a:xfrm>
          <a:prstGeom prst="rect">
            <a:avLst/>
          </a:prstGeom>
        </p:spPr>
      </p:pic>
    </p:spTree>
    <p:extLst>
      <p:ext uri="{BB962C8B-B14F-4D97-AF65-F5344CB8AC3E}">
        <p14:creationId xmlns:p14="http://schemas.microsoft.com/office/powerpoint/2010/main" val="34506094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37653-BA19-3DB7-6B68-25285E3685D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716FDC8-ACBF-9621-BF69-B16370094ABE}"/>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27D09EEF-8B70-22D1-5A5B-235D9B331680}"/>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980752A-8E2C-D69F-2836-0FD3EA2DE551}"/>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9290143B-C2F1-72F6-2BC1-4C205DEEE51A}"/>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AC784529-3F34-C60A-36F9-61BB488B5FDC}"/>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7C1E57F5-16C1-8289-29ED-EFD04636BD8E}"/>
              </a:ext>
            </a:extLst>
          </p:cNvPr>
          <p:cNvCxnSpPr>
            <a:cxnSpLocks/>
          </p:cNvCxnSpPr>
          <p:nvPr/>
        </p:nvCxnSpPr>
        <p:spPr>
          <a:xfrm flipH="1" flipV="1">
            <a:off x="2777067" y="649806"/>
            <a:ext cx="9414933" cy="27236"/>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D3EB6F33-D445-5D3D-5F68-393EFFDBF51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62AF01C5-15A9-EC39-36C2-B514B9E552F7}"/>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16</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F73DCEDF-BD36-EE58-5B18-FBA42214F4C0}"/>
              </a:ext>
            </a:extLst>
          </p:cNvPr>
          <p:cNvSpPr txBox="1"/>
          <p:nvPr/>
        </p:nvSpPr>
        <p:spPr>
          <a:xfrm>
            <a:off x="1385501" y="449751"/>
            <a:ext cx="1254966"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混淆矩陣</a:t>
            </a:r>
            <a:endParaRPr lang="en-US" altLang="zh-TW" sz="2000" b="1" dirty="0">
              <a:latin typeface="微軟正黑體" panose="020B0604030504040204" pitchFamily="34" charset="-120"/>
              <a:ea typeface="微軟正黑體" panose="020B0604030504040204" pitchFamily="34" charset="-120"/>
            </a:endParaRPr>
          </a:p>
        </p:txBody>
      </p:sp>
      <p:pic>
        <p:nvPicPr>
          <p:cNvPr id="2050" name="Picture 2">
            <a:extLst>
              <a:ext uri="{FF2B5EF4-FFF2-40B4-BE49-F238E27FC236}">
                <a16:creationId xmlns:a16="http://schemas.microsoft.com/office/drawing/2014/main" id="{B248945E-8DB2-307A-E677-C117D02983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13559" y="1913817"/>
            <a:ext cx="6462347" cy="34637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3005086-1A77-51F0-283F-C6188677043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91677" y="2283240"/>
            <a:ext cx="4348186" cy="2686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6094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B20B-B364-8ED9-DB2A-23D5203E462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CEB50E5-BE16-1F92-8461-891B5268A5A6}"/>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156D2458-7B76-F77D-A122-9F634670D496}"/>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6E0BE54E-DD1F-82E0-93F5-3B042F671908}"/>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F7C3000E-DF78-6D84-17E9-C472515390FA}"/>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A29E39D5-84AA-13BC-39E6-58871BD77DC1}"/>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E4D35A75-E325-7180-C9A3-AEA7B2E3EB63}"/>
              </a:ext>
            </a:extLst>
          </p:cNvPr>
          <p:cNvCxnSpPr>
            <a:cxnSpLocks/>
          </p:cNvCxnSpPr>
          <p:nvPr/>
        </p:nvCxnSpPr>
        <p:spPr>
          <a:xfrm flipH="1" flipV="1">
            <a:off x="2799644" y="669269"/>
            <a:ext cx="9392356" cy="7773"/>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5CBF9F7-57FB-A510-4D36-BAB500CB60AB}"/>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8799EA87-F236-F6EC-CCBF-5047CD9BF295}"/>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17</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0AF3F8D2-2124-5974-CC72-9763B50ADA3C}"/>
              </a:ext>
            </a:extLst>
          </p:cNvPr>
          <p:cNvSpPr txBox="1"/>
          <p:nvPr/>
        </p:nvSpPr>
        <p:spPr>
          <a:xfrm>
            <a:off x="1420286" y="449751"/>
            <a:ext cx="1310489"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混淆矩陣</a:t>
            </a:r>
            <a:endParaRPr lang="en-US" altLang="zh-TW" sz="2000" b="1" dirty="0">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id="{215DF0BD-908F-0886-A76B-37532362C1E8}"/>
              </a:ext>
            </a:extLst>
          </p:cNvPr>
          <p:cNvSpPr txBox="1"/>
          <p:nvPr/>
        </p:nvSpPr>
        <p:spPr>
          <a:xfrm>
            <a:off x="19125" y="2571686"/>
            <a:ext cx="1401161" cy="276999"/>
          </a:xfrm>
          <a:prstGeom prst="rect">
            <a:avLst/>
          </a:prstGeom>
          <a:solidFill>
            <a:sysClr val="window" lastClr="FFFFFF"/>
          </a:solidFill>
          <a:ln w="19050" cap="flat" cmpd="sng" algn="ctr">
            <a:solidFill>
              <a:srgbClr val="E97132"/>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1200" b="0" i="0" u="none" strike="noStrike" kern="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3D_DenseNet_121</a:t>
            </a:r>
            <a:endParaRPr kumimoji="0" lang="zh-TW" altLang="en-US" sz="1200" b="0" i="0" u="none" strike="noStrike" kern="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7" name="文字方塊 26">
            <a:extLst>
              <a:ext uri="{FF2B5EF4-FFF2-40B4-BE49-F238E27FC236}">
                <a16:creationId xmlns:a16="http://schemas.microsoft.com/office/drawing/2014/main" id="{B629245A-9070-5462-0227-9855859F2C09}"/>
              </a:ext>
            </a:extLst>
          </p:cNvPr>
          <p:cNvSpPr txBox="1"/>
          <p:nvPr/>
        </p:nvSpPr>
        <p:spPr>
          <a:xfrm>
            <a:off x="0" y="4715504"/>
            <a:ext cx="1093981" cy="276999"/>
          </a:xfrm>
          <a:prstGeom prst="rect">
            <a:avLst/>
          </a:prstGeom>
          <a:solidFill>
            <a:sysClr val="window" lastClr="FFFFFF"/>
          </a:solidFill>
          <a:ln w="19050" cap="flat" cmpd="sng" algn="ctr">
            <a:solidFill>
              <a:srgbClr val="E97132"/>
            </a:solidFill>
            <a:prstDash val="solid"/>
            <a:miter lim="800000"/>
          </a:ln>
          <a:effectLst/>
        </p:spPr>
        <p:txBody>
          <a:bodyPr wrap="square" rtlCol="0">
            <a:spAutoFit/>
          </a:bodyPr>
          <a:lstStyle>
            <a:defPPr>
              <a:defRPr lang="zh-TW"/>
            </a:defPPr>
            <a:lvl1pPr marR="0" lvl="0" indent="0" fontAlgn="auto">
              <a:lnSpc>
                <a:spcPct val="100000"/>
              </a:lnSpc>
              <a:spcBef>
                <a:spcPts val="0"/>
              </a:spcBef>
              <a:spcAft>
                <a:spcPts val="0"/>
              </a:spcAft>
              <a:buClrTx/>
              <a:buSzTx/>
              <a:buFontTx/>
              <a:buNone/>
              <a:tabLst/>
              <a:defRPr kumimoji="0" sz="1200" b="0" i="0" u="none" strike="noStrike" kern="0" cap="none" spc="0" normalizeH="0" baseline="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TW" dirty="0"/>
              <a:t>3D_Resnet_18</a:t>
            </a:r>
            <a:endParaRPr lang="zh-TW" altLang="en-US" dirty="0"/>
          </a:p>
        </p:txBody>
      </p:sp>
      <p:pic>
        <p:nvPicPr>
          <p:cNvPr id="2" name="圖片 1" descr="一張含有 文字, 螢幕擷取畫面, Rectangle, 圖表 的圖片&#10;&#10;AI 產生的內容可能不正確。">
            <a:extLst>
              <a:ext uri="{FF2B5EF4-FFF2-40B4-BE49-F238E27FC236}">
                <a16:creationId xmlns:a16="http://schemas.microsoft.com/office/drawing/2014/main" id="{F7BAE363-53B5-8038-3F3B-CF66AA4C684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703450" y="1848734"/>
            <a:ext cx="2458489" cy="1999901"/>
          </a:xfrm>
          <a:prstGeom prst="rect">
            <a:avLst/>
          </a:prstGeom>
        </p:spPr>
      </p:pic>
      <p:pic>
        <p:nvPicPr>
          <p:cNvPr id="3" name="圖片 2" descr="一張含有 文字, 螢幕擷取畫面, Rectangle, 圖表 的圖片&#10;&#10;AI 產生的內容可能不正確。">
            <a:extLst>
              <a:ext uri="{FF2B5EF4-FFF2-40B4-BE49-F238E27FC236}">
                <a16:creationId xmlns:a16="http://schemas.microsoft.com/office/drawing/2014/main" id="{960DEC8B-E08A-EDF9-4F96-85B376A69214}"/>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704654" y="4222433"/>
            <a:ext cx="2458490" cy="1934830"/>
          </a:xfrm>
          <a:prstGeom prst="rect">
            <a:avLst/>
          </a:prstGeom>
        </p:spPr>
      </p:pic>
      <p:pic>
        <p:nvPicPr>
          <p:cNvPr id="4" name="圖片 3" descr="一張含有 文字, 螢幕擷取畫面, 圖表, Rectangle 的圖片&#10;&#10;AI 產生的內容可能不正確。">
            <a:extLst>
              <a:ext uri="{FF2B5EF4-FFF2-40B4-BE49-F238E27FC236}">
                <a16:creationId xmlns:a16="http://schemas.microsoft.com/office/drawing/2014/main" id="{648E923A-00E6-EFD4-23B8-27BC7903537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161939" y="1829181"/>
            <a:ext cx="2458489" cy="1966298"/>
          </a:xfrm>
          <a:prstGeom prst="rect">
            <a:avLst/>
          </a:prstGeom>
        </p:spPr>
      </p:pic>
      <p:pic>
        <p:nvPicPr>
          <p:cNvPr id="5" name="圖片 4" descr="一張含有 文字, 螢幕擷取畫面, 圖表, Rectangle 的圖片&#10;&#10;AI 產生的內容可能不正確。">
            <a:extLst>
              <a:ext uri="{FF2B5EF4-FFF2-40B4-BE49-F238E27FC236}">
                <a16:creationId xmlns:a16="http://schemas.microsoft.com/office/drawing/2014/main" id="{3E5DE3C0-41FF-6DB7-696C-D22C51D73BCA}"/>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4090513" y="4222432"/>
            <a:ext cx="2463308" cy="2013218"/>
          </a:xfrm>
          <a:prstGeom prst="rect">
            <a:avLst/>
          </a:prstGeom>
        </p:spPr>
      </p:pic>
      <p:pic>
        <p:nvPicPr>
          <p:cNvPr id="6" name="圖片 5" descr="一張含有 文字, 螢幕擷取畫面, 圖表, Rectangle 的圖片&#10;&#10;AI 產生的內容可能不正確。">
            <a:extLst>
              <a:ext uri="{FF2B5EF4-FFF2-40B4-BE49-F238E27FC236}">
                <a16:creationId xmlns:a16="http://schemas.microsoft.com/office/drawing/2014/main" id="{29DF3AE9-A29C-120B-51FC-4AE9CD1A761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620427" y="1848734"/>
            <a:ext cx="2458490" cy="1982229"/>
          </a:xfrm>
          <a:prstGeom prst="rect">
            <a:avLst/>
          </a:prstGeom>
        </p:spPr>
      </p:pic>
      <p:pic>
        <p:nvPicPr>
          <p:cNvPr id="12" name="圖片 11">
            <a:extLst>
              <a:ext uri="{FF2B5EF4-FFF2-40B4-BE49-F238E27FC236}">
                <a16:creationId xmlns:a16="http://schemas.microsoft.com/office/drawing/2014/main" id="{39D28033-BF3C-82FE-8DCC-DE0CDCDE089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620428" y="4270233"/>
            <a:ext cx="2458490" cy="1965417"/>
          </a:xfrm>
          <a:prstGeom prst="rect">
            <a:avLst/>
          </a:prstGeom>
        </p:spPr>
      </p:pic>
      <p:pic>
        <p:nvPicPr>
          <p:cNvPr id="16" name="圖片 15" descr="一張含有 文字, 螢幕擷取畫面, 圖表, Rectangle 的圖片&#10;&#10;AI 產生的內容可能不正確。">
            <a:extLst>
              <a:ext uri="{FF2B5EF4-FFF2-40B4-BE49-F238E27FC236}">
                <a16:creationId xmlns:a16="http://schemas.microsoft.com/office/drawing/2014/main" id="{F456473C-7E5E-9F3D-6735-FA178B663DE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040855" y="1829181"/>
            <a:ext cx="2496550" cy="1982229"/>
          </a:xfrm>
          <a:prstGeom prst="rect">
            <a:avLst/>
          </a:prstGeom>
        </p:spPr>
      </p:pic>
      <p:pic>
        <p:nvPicPr>
          <p:cNvPr id="23" name="圖片 22" descr="一張含有 文字, 螢幕擷取畫面, 圖表, Rectangle 的圖片&#10;&#10;AI 產生的內容可能不正確。">
            <a:extLst>
              <a:ext uri="{FF2B5EF4-FFF2-40B4-BE49-F238E27FC236}">
                <a16:creationId xmlns:a16="http://schemas.microsoft.com/office/drawing/2014/main" id="{6F7DEAD9-6504-158F-01D0-A370ED053E6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9040855" y="4222432"/>
            <a:ext cx="2458490" cy="1934830"/>
          </a:xfrm>
          <a:prstGeom prst="rect">
            <a:avLst/>
          </a:prstGeom>
        </p:spPr>
      </p:pic>
      <p:sp>
        <p:nvSpPr>
          <p:cNvPr id="30" name="文字方塊 29">
            <a:extLst>
              <a:ext uri="{FF2B5EF4-FFF2-40B4-BE49-F238E27FC236}">
                <a16:creationId xmlns:a16="http://schemas.microsoft.com/office/drawing/2014/main" id="{85748B5F-822A-7809-0A8D-FC8F47055679}"/>
              </a:ext>
            </a:extLst>
          </p:cNvPr>
          <p:cNvSpPr txBox="1"/>
          <p:nvPr/>
        </p:nvSpPr>
        <p:spPr>
          <a:xfrm>
            <a:off x="2387474" y="1307649"/>
            <a:ext cx="1090440" cy="307777"/>
          </a:xfrm>
          <a:prstGeom prst="rect">
            <a:avLst/>
          </a:prstGeom>
          <a:noFill/>
        </p:spPr>
        <p:txBody>
          <a:bodyPr wrap="square">
            <a:spAutoFit/>
          </a:bodyPr>
          <a:lstStyle/>
          <a:p>
            <a:pPr lvl="0" fontAlgn="ctr">
              <a:defRPr/>
            </a:pPr>
            <a:r>
              <a:rPr lang="en-US" altLang="zh-TW" sz="1400" b="1" dirty="0">
                <a:latin typeface="微軟正黑體" panose="020B0604030504040204" pitchFamily="34" charset="-120"/>
                <a:ea typeface="微軟正黑體" panose="020B0604030504040204" pitchFamily="34" charset="-120"/>
                <a:cs typeface="Times New Roman" panose="02020603050405020304" pitchFamily="18" charset="0"/>
              </a:rPr>
              <a:t>3D_model</a:t>
            </a:r>
            <a:endParaRPr lang="zh-TW" altLang="en-US" sz="1400" b="1" i="0" u="none" strike="noStrike" dirty="0">
              <a:effectLst/>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2" name="文字方塊 31">
            <a:extLst>
              <a:ext uri="{FF2B5EF4-FFF2-40B4-BE49-F238E27FC236}">
                <a16:creationId xmlns:a16="http://schemas.microsoft.com/office/drawing/2014/main" id="{E533ED4A-1A44-2872-C89A-6D572A65005D}"/>
              </a:ext>
            </a:extLst>
          </p:cNvPr>
          <p:cNvSpPr txBox="1"/>
          <p:nvPr/>
        </p:nvSpPr>
        <p:spPr>
          <a:xfrm>
            <a:off x="4596107" y="1307651"/>
            <a:ext cx="1931442" cy="307777"/>
          </a:xfrm>
          <a:prstGeom prst="rect">
            <a:avLst/>
          </a:prstGeom>
          <a:noFill/>
        </p:spPr>
        <p:txBody>
          <a:bodyPr wrap="square">
            <a:spAutoFit/>
          </a:bodyPr>
          <a:lstStyle/>
          <a:p>
            <a:pPr algn="l" rtl="0" fontAlgn="ctr"/>
            <a:r>
              <a:rPr lang="en-US" altLang="zh-TW" sz="1400" b="1" i="0" u="none" strike="noStrike" dirty="0">
                <a:effectLst/>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400" b="1" i="0" u="none" strike="noStrike" dirty="0">
                <a:effectLst/>
                <a:latin typeface="微軟正黑體" panose="020B0604030504040204" pitchFamily="34" charset="-120"/>
                <a:ea typeface="微軟正黑體" panose="020B0604030504040204" pitchFamily="34" charset="-120"/>
                <a:cs typeface="Times New Roman" panose="02020603050405020304" pitchFamily="18" charset="0"/>
              </a:rPr>
              <a:t>資料增強</a:t>
            </a:r>
          </a:p>
        </p:txBody>
      </p:sp>
      <p:sp>
        <p:nvSpPr>
          <p:cNvPr id="34" name="文字方塊 33">
            <a:extLst>
              <a:ext uri="{FF2B5EF4-FFF2-40B4-BE49-F238E27FC236}">
                <a16:creationId xmlns:a16="http://schemas.microsoft.com/office/drawing/2014/main" id="{2BA177D1-D193-8A73-1666-76833123D69E}"/>
              </a:ext>
            </a:extLst>
          </p:cNvPr>
          <p:cNvSpPr txBox="1"/>
          <p:nvPr/>
        </p:nvSpPr>
        <p:spPr>
          <a:xfrm>
            <a:off x="7035309" y="1230706"/>
            <a:ext cx="1781795" cy="461665"/>
          </a:xfrm>
          <a:prstGeom prst="rect">
            <a:avLst/>
          </a:prstGeom>
          <a:noFill/>
        </p:spPr>
        <p:txBody>
          <a:bodyPr wrap="square">
            <a:spAutoFit/>
          </a:bodyPr>
          <a:lstStyle/>
          <a:p>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資料增強</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非區域性平均降噪</a:t>
            </a:r>
          </a:p>
        </p:txBody>
      </p:sp>
      <p:sp>
        <p:nvSpPr>
          <p:cNvPr id="35" name="文字方塊 34">
            <a:extLst>
              <a:ext uri="{FF2B5EF4-FFF2-40B4-BE49-F238E27FC236}">
                <a16:creationId xmlns:a16="http://schemas.microsoft.com/office/drawing/2014/main" id="{CD90BB5E-652F-7295-153C-5D85B0E66502}"/>
              </a:ext>
            </a:extLst>
          </p:cNvPr>
          <p:cNvSpPr txBox="1"/>
          <p:nvPr/>
        </p:nvSpPr>
        <p:spPr>
          <a:xfrm>
            <a:off x="9423576" y="1238745"/>
            <a:ext cx="1781795" cy="461665"/>
          </a:xfrm>
          <a:prstGeom prst="rect">
            <a:avLst/>
          </a:prstGeom>
          <a:noFill/>
        </p:spPr>
        <p:txBody>
          <a:bodyPr wrap="square">
            <a:spAutoFit/>
          </a:bodyPr>
          <a:lstStyle/>
          <a:p>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3D_model+</a:t>
            </a:r>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資料增強</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rPr>
              <a:t>非區域性平均降噪</a:t>
            </a:r>
            <a:r>
              <a:rPr lang="en-US" altLang="zh-TW" sz="1200" b="1" dirty="0">
                <a:latin typeface="微軟正黑體" panose="020B0604030504040204" pitchFamily="34" charset="-120"/>
                <a:ea typeface="微軟正黑體" panose="020B0604030504040204" pitchFamily="34" charset="-120"/>
                <a:cs typeface="Times New Roman" panose="02020603050405020304" pitchFamily="18" charset="0"/>
              </a:rPr>
              <a:t>+csv</a:t>
            </a:r>
            <a:endParaRPr lang="zh-TW" altLang="en-US" sz="1200" b="1"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6677489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40892-94D2-AED9-E231-684E556FC58C}"/>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DD25A3D6-AD3E-F846-426A-952517DAE3DE}"/>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1712283E-24C8-012E-2FE2-1F800103BB4E}"/>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D2F0183-FEEB-E29D-642E-08B0B3B3C1E0}"/>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39BCE586-F0C0-67E8-E978-A8554B6860A1}"/>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55E4F337-8C0B-23F8-B8FD-BF5D110185EA}"/>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619DAB4B-FDE9-DE1A-0278-8C7A68BA8CA3}"/>
              </a:ext>
            </a:extLst>
          </p:cNvPr>
          <p:cNvCxnSpPr>
            <a:cxnSpLocks/>
          </p:cNvCxnSpPr>
          <p:nvPr/>
        </p:nvCxnSpPr>
        <p:spPr>
          <a:xfrm flipH="1" flipV="1">
            <a:off x="2186027" y="580847"/>
            <a:ext cx="9613257" cy="59911"/>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5C95C11B-1669-48CF-6243-683E53463C01}"/>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4C2E969-FD11-A749-FF8C-918942DD3388}"/>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18</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EF01CDD3-B507-3820-3FF9-7C160EB1524C}"/>
              </a:ext>
            </a:extLst>
          </p:cNvPr>
          <p:cNvSpPr txBox="1"/>
          <p:nvPr/>
        </p:nvSpPr>
        <p:spPr>
          <a:xfrm>
            <a:off x="1394351" y="410747"/>
            <a:ext cx="757693"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結論</a:t>
            </a:r>
            <a:endParaRPr lang="en-US" altLang="zh-TW" sz="2000" b="1" dirty="0">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6E2AC71E-EFCD-CC12-CC44-A6F858E056BC}"/>
              </a:ext>
            </a:extLst>
          </p:cNvPr>
          <p:cNvGraphicFramePr>
            <a:graphicFrameLocks noGrp="1"/>
          </p:cNvGraphicFramePr>
          <p:nvPr>
            <p:extLst>
              <p:ext uri="{D42A27DB-BD31-4B8C-83A1-F6EECF244321}">
                <p14:modId xmlns:p14="http://schemas.microsoft.com/office/powerpoint/2010/main" val="3076744970"/>
              </p:ext>
            </p:extLst>
          </p:nvPr>
        </p:nvGraphicFramePr>
        <p:xfrm>
          <a:off x="192628" y="1779143"/>
          <a:ext cx="3986799" cy="3517983"/>
        </p:xfrm>
        <a:graphic>
          <a:graphicData uri="http://schemas.openxmlformats.org/drawingml/2006/table">
            <a:tbl>
              <a:tblPr/>
              <a:tblGrid>
                <a:gridCol w="1506149">
                  <a:extLst>
                    <a:ext uri="{9D8B030D-6E8A-4147-A177-3AD203B41FA5}">
                      <a16:colId xmlns:a16="http://schemas.microsoft.com/office/drawing/2014/main" val="2473031526"/>
                    </a:ext>
                  </a:extLst>
                </a:gridCol>
                <a:gridCol w="660903">
                  <a:extLst>
                    <a:ext uri="{9D8B030D-6E8A-4147-A177-3AD203B41FA5}">
                      <a16:colId xmlns:a16="http://schemas.microsoft.com/office/drawing/2014/main" val="1763912213"/>
                    </a:ext>
                  </a:extLst>
                </a:gridCol>
                <a:gridCol w="579422">
                  <a:extLst>
                    <a:ext uri="{9D8B030D-6E8A-4147-A177-3AD203B41FA5}">
                      <a16:colId xmlns:a16="http://schemas.microsoft.com/office/drawing/2014/main" val="4244744"/>
                    </a:ext>
                  </a:extLst>
                </a:gridCol>
                <a:gridCol w="606582">
                  <a:extLst>
                    <a:ext uri="{9D8B030D-6E8A-4147-A177-3AD203B41FA5}">
                      <a16:colId xmlns:a16="http://schemas.microsoft.com/office/drawing/2014/main" val="1926597318"/>
                    </a:ext>
                  </a:extLst>
                </a:gridCol>
                <a:gridCol w="633743">
                  <a:extLst>
                    <a:ext uri="{9D8B030D-6E8A-4147-A177-3AD203B41FA5}">
                      <a16:colId xmlns:a16="http://schemas.microsoft.com/office/drawing/2014/main" val="377149326"/>
                    </a:ext>
                  </a:extLst>
                </a:gridCol>
              </a:tblGrid>
              <a:tr h="189025">
                <a:tc>
                  <a:txBody>
                    <a:bodyPr/>
                    <a:lstStyle/>
                    <a:p>
                      <a:pPr algn="l" fontAlgn="ctr"/>
                      <a:endParaRPr lang="zh-TW" altLang="en-US" sz="1050" b="0"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Accuracy</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F1 Score</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Recall</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Precision</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1849189959"/>
                  </a:ext>
                </a:extLst>
              </a:tr>
              <a:tr h="27918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3D_DenseNet-121</a:t>
                      </a:r>
                      <a:endPar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0.9420</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0.8670</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0.8551</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0.8870</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1242512042"/>
                  </a:ext>
                </a:extLst>
              </a:tr>
              <a:tr h="293788">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3D_Resnet-18</a:t>
                      </a:r>
                      <a:endPar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0.9275</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0.9077</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0.9058</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0.9275</a:t>
                      </a:r>
                      <a:endParaRPr lang="zh-TW" altLang="en-US" sz="1050" b="1" i="0" u="none" strike="noStrike" kern="1200"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290035842"/>
                  </a:ext>
                </a:extLst>
              </a:tr>
              <a:tr h="308094">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3D_DenseNet-121+</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0.942</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0.8243</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0.8243</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0.8435</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2101764805"/>
                  </a:ext>
                </a:extLst>
              </a:tr>
              <a:tr h="389368">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3D_Resnet-18+</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0.9275</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0.8404</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0.8261</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rgbClr val="000000"/>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0.8652</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1790058777"/>
                  </a:ext>
                </a:extLst>
              </a:tr>
              <a:tr h="528162">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3D_DenseNet-121+</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非區域性平均降噪</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0.942</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0.8477</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0.837</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0.8623</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2460388548"/>
                  </a:ext>
                </a:extLst>
              </a:tr>
              <a:tr h="459298">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3D_Resnet-18+</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非區域性平均降噪</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0.9638</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0.8975</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0.8913</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0.9058</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2347780327"/>
                  </a:ext>
                </a:extLst>
              </a:tr>
              <a:tr h="593801">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3D_DenseNet-121+</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非區域性平均降噪</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+csv</a:t>
                      </a:r>
                      <a:endPar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0.971</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0.9212</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0.9167</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0.9275</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2893267852"/>
                  </a:ext>
                </a:extLst>
              </a:tr>
              <a:tr h="459298">
                <a:tc>
                  <a:txBody>
                    <a:bodyPr/>
                    <a:lstStyle/>
                    <a:p>
                      <a:pPr algn="l" rtl="0" fontAlgn="ct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3D_Resnet-18+</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資料增強</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a:t>
                      </a:r>
                      <a:r>
                        <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非區域性平均降噪</a:t>
                      </a:r>
                      <a:r>
                        <a:rPr lang="en-US" altLang="zh-TW"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rPr>
                        <a:t>+csv</a:t>
                      </a:r>
                      <a:endParaRPr lang="zh-TW" altLang="en-US" sz="1050" b="1" i="0" u="none" strike="noStrike" dirty="0">
                        <a:solidFill>
                          <a:srgbClr val="FFFFFF"/>
                        </a:solidFill>
                        <a:effectLst/>
                        <a:latin typeface="Microsoft JhengHei Light" panose="020B0304030504040204" pitchFamily="34" charset="-120"/>
                        <a:ea typeface="Microsoft JhengHei Light" panose="020B0304030504040204" pitchFamily="34" charset="-120"/>
                        <a:cs typeface="Times New Roman" panose="02020603050405020304" pitchFamily="18" charset="0"/>
                      </a:endParaRP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0.9638</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0.9241</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0.9167</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2DEEF"/>
                    </a:solidFill>
                  </a:tcPr>
                </a:tc>
                <a:tc>
                  <a:txBody>
                    <a:bodyPr/>
                    <a:lstStyle/>
                    <a:p>
                      <a:pPr algn="ctr" rtl="0" fontAlgn="ctr"/>
                      <a:r>
                        <a:rPr lang="en-US" altLang="zh-TW" sz="1050" b="1" i="0" u="none" strike="noStrike" dirty="0">
                          <a:solidFill>
                            <a:schemeClr val="tx1"/>
                          </a:solidFill>
                          <a:effectLst/>
                          <a:latin typeface="Times New Roman" panose="02020603050405020304" pitchFamily="18" charset="0"/>
                          <a:ea typeface="Microsoft JhengHei Light" panose="020B0304030504040204" pitchFamily="34" charset="-120"/>
                          <a:cs typeface="Times New Roman" panose="02020603050405020304" pitchFamily="18" charset="0"/>
                        </a:rPr>
                        <a:t>0.9348</a:t>
                      </a:r>
                    </a:p>
                  </a:txBody>
                  <a:tcPr marL="6018" marR="6018" marT="60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FF7"/>
                    </a:solidFill>
                  </a:tcPr>
                </a:tc>
                <a:extLst>
                  <a:ext uri="{0D108BD9-81ED-4DB2-BD59-A6C34878D82A}">
                    <a16:rowId xmlns:a16="http://schemas.microsoft.com/office/drawing/2014/main" val="4240226696"/>
                  </a:ext>
                </a:extLst>
              </a:tr>
            </a:tbl>
          </a:graphicData>
        </a:graphic>
      </p:graphicFrame>
      <p:graphicFrame>
        <p:nvGraphicFramePr>
          <p:cNvPr id="4" name="圖表 3">
            <a:extLst>
              <a:ext uri="{FF2B5EF4-FFF2-40B4-BE49-F238E27FC236}">
                <a16:creationId xmlns:a16="http://schemas.microsoft.com/office/drawing/2014/main" id="{E66FC066-D4A1-8A2E-3902-54025BE5E2D3}"/>
              </a:ext>
            </a:extLst>
          </p:cNvPr>
          <p:cNvGraphicFramePr/>
          <p:nvPr>
            <p:extLst>
              <p:ext uri="{D42A27DB-BD31-4B8C-83A1-F6EECF244321}">
                <p14:modId xmlns:p14="http://schemas.microsoft.com/office/powerpoint/2010/main" val="102987069"/>
              </p:ext>
            </p:extLst>
          </p:nvPr>
        </p:nvGraphicFramePr>
        <p:xfrm>
          <a:off x="4427659" y="1857899"/>
          <a:ext cx="7571713" cy="3215410"/>
        </p:xfrm>
        <a:graphic>
          <a:graphicData uri="http://schemas.openxmlformats.org/drawingml/2006/chart">
            <c:chart xmlns:c="http://schemas.openxmlformats.org/drawingml/2006/chart" xmlns:r="http://schemas.openxmlformats.org/officeDocument/2006/relationships" r:id="rId3"/>
          </a:graphicData>
        </a:graphic>
      </p:graphicFrame>
      <p:sp>
        <p:nvSpPr>
          <p:cNvPr id="6" name="文字方塊 5">
            <a:extLst>
              <a:ext uri="{FF2B5EF4-FFF2-40B4-BE49-F238E27FC236}">
                <a16:creationId xmlns:a16="http://schemas.microsoft.com/office/drawing/2014/main" id="{FACA7960-0B38-B133-B50F-DB05E7F0486E}"/>
              </a:ext>
            </a:extLst>
          </p:cNvPr>
          <p:cNvSpPr txBox="1"/>
          <p:nvPr/>
        </p:nvSpPr>
        <p:spPr>
          <a:xfrm>
            <a:off x="3536425" y="5780900"/>
            <a:ext cx="8247705" cy="369332"/>
          </a:xfrm>
          <a:prstGeom prst="rect">
            <a:avLst/>
          </a:prstGeom>
          <a:noFill/>
        </p:spPr>
        <p:txBody>
          <a:bodyPr wrap="square">
            <a:spAutoFit/>
          </a:bodyPr>
          <a:lstStyle/>
          <a:p>
            <a:r>
              <a:rPr lang="zh-TW" altLang="en-US" b="1" dirty="0">
                <a:latin typeface="Microsoft JhengHei Light" panose="020B0304030504040204" pitchFamily="34" charset="-120"/>
                <a:ea typeface="Microsoft JhengHei Light" panose="020B0304030504040204" pitchFamily="34" charset="-120"/>
              </a:rPr>
              <a:t>結合非均勻濾波 </a:t>
            </a:r>
            <a:r>
              <a:rPr lang="en-US" altLang="zh-TW" b="1" dirty="0">
                <a:latin typeface="Microsoft JhengHei Light" panose="020B0304030504040204" pitchFamily="34" charset="-120"/>
                <a:ea typeface="Microsoft JhengHei Light" panose="020B0304030504040204" pitchFamily="34" charset="-120"/>
              </a:rPr>
              <a:t>+ </a:t>
            </a:r>
            <a:r>
              <a:rPr lang="zh-TW" altLang="en-US" b="1" dirty="0">
                <a:latin typeface="Microsoft JhengHei Light" panose="020B0304030504040204" pitchFamily="34" charset="-120"/>
                <a:ea typeface="Microsoft JhengHei Light" panose="020B0304030504040204" pitchFamily="34" charset="-120"/>
              </a:rPr>
              <a:t>結構化特徵（如 </a:t>
            </a:r>
            <a:r>
              <a:rPr lang="en-US" altLang="zh-TW" b="1" dirty="0">
                <a:latin typeface="Microsoft JhengHei Light" panose="020B0304030504040204" pitchFamily="34" charset="-120"/>
                <a:ea typeface="Microsoft JhengHei Light" panose="020B0304030504040204" pitchFamily="34" charset="-120"/>
              </a:rPr>
              <a:t>CSV</a:t>
            </a:r>
            <a:r>
              <a:rPr lang="zh-TW" altLang="en-US" b="1" dirty="0">
                <a:latin typeface="Microsoft JhengHei Light" panose="020B0304030504040204" pitchFamily="34" charset="-120"/>
                <a:ea typeface="Microsoft JhengHei Light" panose="020B0304030504040204" pitchFamily="34" charset="-120"/>
              </a:rPr>
              <a:t>） 是提升 </a:t>
            </a:r>
            <a:r>
              <a:rPr lang="en-US" altLang="zh-TW" b="1" dirty="0">
                <a:latin typeface="Microsoft JhengHei Light" panose="020B0304030504040204" pitchFamily="34" charset="-120"/>
                <a:ea typeface="Microsoft JhengHei Light" panose="020B0304030504040204" pitchFamily="34" charset="-120"/>
              </a:rPr>
              <a:t>3D </a:t>
            </a:r>
            <a:r>
              <a:rPr lang="zh-TW" altLang="en-US" b="1" dirty="0">
                <a:latin typeface="Microsoft JhengHei Light" panose="020B0304030504040204" pitchFamily="34" charset="-120"/>
                <a:ea typeface="Microsoft JhengHei Light" panose="020B0304030504040204" pitchFamily="34" charset="-120"/>
              </a:rPr>
              <a:t>模型分類效能的關鍵策略</a:t>
            </a:r>
            <a:endParaRPr lang="zh-TW" altLang="en-US" b="1" dirty="0"/>
          </a:p>
        </p:txBody>
      </p:sp>
    </p:spTree>
    <p:extLst>
      <p:ext uri="{BB962C8B-B14F-4D97-AF65-F5344CB8AC3E}">
        <p14:creationId xmlns:p14="http://schemas.microsoft.com/office/powerpoint/2010/main" val="42926359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B082-3095-9614-9F69-037E30591FA6}"/>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E8CD1CB-2FB2-0837-2220-749900448124}"/>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064228B3-25BC-6A22-8C23-9998D87A3599}"/>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A0BE97A-A0B2-0E90-67B0-4A637B66D3B6}"/>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973D7B0-9BD4-0075-FA1C-2D2BB32019C6}"/>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F209A426-6C2B-50A6-0D57-FEF8E6A87F9F}"/>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7D6E514F-F0D1-C9EE-5653-9504A832BCC6}"/>
              </a:ext>
            </a:extLst>
          </p:cNvPr>
          <p:cNvCxnSpPr>
            <a:cxnSpLocks/>
          </p:cNvCxnSpPr>
          <p:nvPr/>
        </p:nvCxnSpPr>
        <p:spPr>
          <a:xfrm flipH="1">
            <a:off x="2842788" y="640758"/>
            <a:ext cx="8956496"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62F6E14-B190-D8B9-5351-3A0AEE6BFD3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64F69B3-534A-D08D-6D7E-E7A36A5F2E19}"/>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19</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48ABB0D4-FB45-531B-16B9-AE80520DACC4}"/>
              </a:ext>
            </a:extLst>
          </p:cNvPr>
          <p:cNvSpPr txBox="1"/>
          <p:nvPr/>
        </p:nvSpPr>
        <p:spPr>
          <a:xfrm>
            <a:off x="1151691" y="399353"/>
            <a:ext cx="1798842" cy="400110"/>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Future Work</a:t>
            </a:r>
          </a:p>
        </p:txBody>
      </p:sp>
      <p:pic>
        <p:nvPicPr>
          <p:cNvPr id="17" name="圖片 16" descr="一張含有 文字, 螢幕擷取畫面, 字型 的圖片&#10;&#10;AI 產生的內容可能不正確。">
            <a:extLst>
              <a:ext uri="{FF2B5EF4-FFF2-40B4-BE49-F238E27FC236}">
                <a16:creationId xmlns:a16="http://schemas.microsoft.com/office/drawing/2014/main" id="{BAC05331-B134-60E6-8EFE-BC7E7BBDA52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199992" y="1683944"/>
            <a:ext cx="1023042" cy="3675707"/>
          </a:xfrm>
          <a:prstGeom prst="rect">
            <a:avLst/>
          </a:prstGeom>
        </p:spPr>
      </p:pic>
      <p:sp>
        <p:nvSpPr>
          <p:cNvPr id="19" name="文字方塊 18">
            <a:extLst>
              <a:ext uri="{FF2B5EF4-FFF2-40B4-BE49-F238E27FC236}">
                <a16:creationId xmlns:a16="http://schemas.microsoft.com/office/drawing/2014/main" id="{23BF41B3-DB85-4FFC-32A7-C8362DF13501}"/>
              </a:ext>
            </a:extLst>
          </p:cNvPr>
          <p:cNvSpPr txBox="1"/>
          <p:nvPr/>
        </p:nvSpPr>
        <p:spPr>
          <a:xfrm>
            <a:off x="3349782" y="2004553"/>
            <a:ext cx="5311366" cy="369332"/>
          </a:xfrm>
          <a:prstGeom prst="rect">
            <a:avLst/>
          </a:prstGeom>
          <a:noFill/>
        </p:spPr>
        <p:txBody>
          <a:bodyPr wrap="square">
            <a:spAutoFit/>
          </a:bodyPr>
          <a:lstStyle/>
          <a:p>
            <a:r>
              <a:rPr lang="zh-TW" altLang="en-US" b="1" dirty="0">
                <a:latin typeface="微軟正黑體" panose="020B0604030504040204" pitchFamily="34" charset="-120"/>
                <a:ea typeface="微軟正黑體" panose="020B0604030504040204" pitchFamily="34" charset="-120"/>
              </a:rPr>
              <a:t>擴充資料</a:t>
            </a:r>
            <a:r>
              <a:rPr lang="zh-TW" altLang="en-US" dirty="0">
                <a:latin typeface="微軟正黑體" panose="020B0604030504040204" pitchFamily="34" charset="-120"/>
                <a:ea typeface="微軟正黑體" panose="020B0604030504040204" pitchFamily="34" charset="-120"/>
              </a:rPr>
              <a:t>：蒐集更多臨床數據，提升模型泛化能力</a:t>
            </a:r>
          </a:p>
        </p:txBody>
      </p:sp>
      <p:sp>
        <p:nvSpPr>
          <p:cNvPr id="21" name="文字方塊 20">
            <a:extLst>
              <a:ext uri="{FF2B5EF4-FFF2-40B4-BE49-F238E27FC236}">
                <a16:creationId xmlns:a16="http://schemas.microsoft.com/office/drawing/2014/main" id="{E47D89EE-DAAD-84A3-CAFB-ADC599044AB2}"/>
              </a:ext>
            </a:extLst>
          </p:cNvPr>
          <p:cNvSpPr txBox="1"/>
          <p:nvPr/>
        </p:nvSpPr>
        <p:spPr>
          <a:xfrm>
            <a:off x="3349782" y="2784024"/>
            <a:ext cx="4590107" cy="369332"/>
          </a:xfrm>
          <a:prstGeom prst="rect">
            <a:avLst/>
          </a:prstGeom>
          <a:noFill/>
        </p:spPr>
        <p:txBody>
          <a:bodyPr wrap="square">
            <a:spAutoFit/>
          </a:bodyPr>
          <a:lstStyle/>
          <a:p>
            <a:r>
              <a:rPr lang="zh-TW" altLang="en-US" b="1" dirty="0">
                <a:latin typeface="微軟正黑體" panose="020B0604030504040204" pitchFamily="34" charset="-120"/>
                <a:ea typeface="微軟正黑體" panose="020B0604030504040204" pitchFamily="34" charset="-120"/>
              </a:rPr>
              <a:t>自監督學習</a:t>
            </a:r>
            <a:r>
              <a:rPr lang="zh-TW" altLang="en-US" dirty="0">
                <a:latin typeface="微軟正黑體" panose="020B0604030504040204" pitchFamily="34" charset="-120"/>
                <a:ea typeface="微軟正黑體" panose="020B0604030504040204" pitchFamily="34" charset="-120"/>
              </a:rPr>
              <a:t>：減少標註需求，強化特徵表徵</a:t>
            </a:r>
          </a:p>
        </p:txBody>
      </p:sp>
      <p:sp>
        <p:nvSpPr>
          <p:cNvPr id="23" name="文字方塊 22">
            <a:extLst>
              <a:ext uri="{FF2B5EF4-FFF2-40B4-BE49-F238E27FC236}">
                <a16:creationId xmlns:a16="http://schemas.microsoft.com/office/drawing/2014/main" id="{EEC01228-7F7C-EC1D-8E97-266FFD8CB5EE}"/>
              </a:ext>
            </a:extLst>
          </p:cNvPr>
          <p:cNvSpPr txBox="1"/>
          <p:nvPr/>
        </p:nvSpPr>
        <p:spPr>
          <a:xfrm>
            <a:off x="3349782" y="4783197"/>
            <a:ext cx="5311366" cy="338554"/>
          </a:xfrm>
          <a:prstGeom prst="rect">
            <a:avLst/>
          </a:prstGeom>
          <a:noFill/>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模型可解釋性</a:t>
            </a:r>
            <a:r>
              <a:rPr lang="zh-TW" altLang="en-US" sz="1600" dirty="0">
                <a:latin typeface="微軟正黑體" panose="020B0604030504040204" pitchFamily="34" charset="-120"/>
                <a:ea typeface="微軟正黑體" panose="020B0604030504040204" pitchFamily="34" charset="-120"/>
              </a:rPr>
              <a:t>：使用 </a:t>
            </a:r>
            <a:r>
              <a:rPr lang="en-US" altLang="zh-TW" sz="1600" dirty="0">
                <a:latin typeface="微軟正黑體" panose="020B0604030504040204" pitchFamily="34" charset="-120"/>
                <a:ea typeface="微軟正黑體" panose="020B0604030504040204" pitchFamily="34" charset="-120"/>
              </a:rPr>
              <a:t>Grad-CAM</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SHAP </a:t>
            </a:r>
            <a:r>
              <a:rPr lang="zh-TW" altLang="en-US" sz="1600" dirty="0">
                <a:latin typeface="微軟正黑體" panose="020B0604030504040204" pitchFamily="34" charset="-120"/>
                <a:ea typeface="微軟正黑體" panose="020B0604030504040204" pitchFamily="34" charset="-120"/>
              </a:rPr>
              <a:t>增加臨床信任度</a:t>
            </a:r>
          </a:p>
        </p:txBody>
      </p:sp>
      <p:sp>
        <p:nvSpPr>
          <p:cNvPr id="27" name="文字方塊 26">
            <a:extLst>
              <a:ext uri="{FF2B5EF4-FFF2-40B4-BE49-F238E27FC236}">
                <a16:creationId xmlns:a16="http://schemas.microsoft.com/office/drawing/2014/main" id="{1714767A-316F-1887-6341-633450D70A2D}"/>
              </a:ext>
            </a:extLst>
          </p:cNvPr>
          <p:cNvSpPr txBox="1"/>
          <p:nvPr/>
        </p:nvSpPr>
        <p:spPr>
          <a:xfrm>
            <a:off x="3349782" y="3609629"/>
            <a:ext cx="5311366" cy="584775"/>
          </a:xfrm>
          <a:prstGeom prst="rect">
            <a:avLst/>
          </a:prstGeom>
          <a:noFill/>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模態缺失處理</a:t>
            </a:r>
            <a:r>
              <a:rPr lang="zh-TW" altLang="en-US" sz="1600" dirty="0">
                <a:latin typeface="微軟正黑體" panose="020B0604030504040204" pitchFamily="34" charset="-120"/>
                <a:ea typeface="微軟正黑體" panose="020B0604030504040204" pitchFamily="34" charset="-120"/>
              </a:rPr>
              <a:t>：利用生成模型 </a:t>
            </a:r>
            <a:r>
              <a:rPr lang="en-US" altLang="zh-TW" sz="1600" dirty="0">
                <a:latin typeface="微軟正黑體" panose="020B0604030504040204" pitchFamily="34" charset="-120"/>
                <a:ea typeface="微軟正黑體" panose="020B0604030504040204" pitchFamily="34" charset="-120"/>
              </a:rPr>
              <a:t>(GAN / Diffusion)</a:t>
            </a:r>
            <a:r>
              <a:rPr lang="zh-TW" altLang="en-US" sz="1600" dirty="0">
                <a:latin typeface="微軟正黑體" panose="020B0604030504040204" pitchFamily="34" charset="-120"/>
                <a:ea typeface="微軟正黑體" panose="020B0604030504040204" pitchFamily="34" charset="-120"/>
              </a:rPr>
              <a:t>、模態 </a:t>
            </a:r>
            <a:r>
              <a:rPr lang="en-US" altLang="zh-TW" sz="1600" dirty="0">
                <a:latin typeface="微軟正黑體" panose="020B0604030504040204" pitchFamily="34" charset="-120"/>
                <a:ea typeface="微軟正黑體" panose="020B0604030504040204" pitchFamily="34" charset="-120"/>
              </a:rPr>
              <a:t>Dropout </a:t>
            </a:r>
            <a:r>
              <a:rPr lang="zh-TW" altLang="en-US" sz="1600" dirty="0">
                <a:latin typeface="微軟正黑體" panose="020B0604030504040204" pitchFamily="34" charset="-120"/>
                <a:ea typeface="微軟正黑體" panose="020B0604030504040204" pitchFamily="34" charset="-120"/>
              </a:rPr>
              <a:t>或注意力機制，讓缺失模態下仍可推論</a:t>
            </a:r>
          </a:p>
        </p:txBody>
      </p:sp>
    </p:spTree>
    <p:extLst>
      <p:ext uri="{BB962C8B-B14F-4D97-AF65-F5344CB8AC3E}">
        <p14:creationId xmlns:p14="http://schemas.microsoft.com/office/powerpoint/2010/main" val="37062877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12C7-4707-F75A-C710-82FCFE6BA8C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35D44FE3-198F-9FAD-2F24-FA9D29FC8D79}"/>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21553D5B-607C-9650-E203-02FDBF023396}"/>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B3CA5452-149A-0BF7-D301-0EDEA3556E81}"/>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E7F4E480-CEAA-7944-D30A-0488558A485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B582001F-7F31-A686-924C-7BAF8DC78FDE}"/>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FB479E04-2A7F-3D81-EDF5-FB849A133154}"/>
              </a:ext>
            </a:extLst>
          </p:cNvPr>
          <p:cNvCxnSpPr>
            <a:cxnSpLocks/>
          </p:cNvCxnSpPr>
          <p:nvPr/>
        </p:nvCxnSpPr>
        <p:spPr>
          <a:xfrm flipH="1" flipV="1">
            <a:off x="2794000" y="616061"/>
            <a:ext cx="9112694"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6CE3DA7-3A87-7F65-4D7A-4A23D4E58230}"/>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12B688E7-7D16-3391-0011-95EC0F534FB2}"/>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20</a:t>
            </a:fld>
            <a:endParaRPr lang="en-US" altLang="zh-CN" sz="1400" dirty="0">
              <a:solidFill>
                <a:schemeClr val="bg1"/>
              </a:solidFill>
              <a:latin typeface="微软雅黑" pitchFamily="34" charset="-122"/>
              <a:ea typeface="微软雅黑" pitchFamily="34" charset="-122"/>
            </a:endParaRPr>
          </a:p>
        </p:txBody>
      </p:sp>
      <p:sp>
        <p:nvSpPr>
          <p:cNvPr id="4" name="文字方塊 3">
            <a:extLst>
              <a:ext uri="{FF2B5EF4-FFF2-40B4-BE49-F238E27FC236}">
                <a16:creationId xmlns:a16="http://schemas.microsoft.com/office/drawing/2014/main" id="{23F6C31B-E052-E200-FD18-F8313E5DC3D4}"/>
              </a:ext>
            </a:extLst>
          </p:cNvPr>
          <p:cNvSpPr txBox="1"/>
          <p:nvPr/>
        </p:nvSpPr>
        <p:spPr>
          <a:xfrm>
            <a:off x="2518008" y="2788101"/>
            <a:ext cx="6094674" cy="1292662"/>
          </a:xfrm>
          <a:prstGeom prst="rect">
            <a:avLst/>
          </a:prstGeom>
          <a:noFill/>
        </p:spPr>
        <p:txBody>
          <a:bodyPr wrap="square">
            <a:spAutoFit/>
          </a:bodyPr>
          <a:lstStyle/>
          <a:p>
            <a:pPr algn="ctr"/>
            <a:r>
              <a:rPr lang="en-US" altLang="zh-TW" sz="5400" b="1" dirty="0">
                <a:latin typeface="Microsoft JhengHei Light" panose="020B0304030504040204" pitchFamily="34" charset="-120"/>
                <a:ea typeface="Microsoft JhengHei Light" panose="020B0304030504040204" pitchFamily="34" charset="-120"/>
              </a:rPr>
              <a:t>END</a:t>
            </a:r>
          </a:p>
          <a:p>
            <a:pPr algn="ctr"/>
            <a:r>
              <a:rPr lang="en-US" altLang="zh-TW" sz="2400" b="1" dirty="0">
                <a:latin typeface="Magic R" panose="02030504000101010101" pitchFamily="18" charset="-127"/>
                <a:ea typeface="Magic R" panose="02030504000101010101" pitchFamily="18" charset="-127"/>
              </a:rPr>
              <a:t>Thanks</a:t>
            </a:r>
            <a:endParaRPr lang="zh-TW" altLang="en-US" sz="2400" b="1" dirty="0">
              <a:latin typeface="Magic R" panose="02030504000101010101" pitchFamily="18" charset="-127"/>
              <a:ea typeface="Microsoft JhengHei Light" panose="020B0304030504040204" pitchFamily="34" charset="-120"/>
            </a:endParaRPr>
          </a:p>
        </p:txBody>
      </p:sp>
    </p:spTree>
    <p:extLst>
      <p:ext uri="{BB962C8B-B14F-4D97-AF65-F5344CB8AC3E}">
        <p14:creationId xmlns:p14="http://schemas.microsoft.com/office/powerpoint/2010/main" val="7681509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FFBC-650B-C045-5476-D82BAC3BA34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F4B21D5-D802-3582-5ED1-70A117BCAE23}"/>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4B71BB87-65CC-FB4D-9DDB-33147652B37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64A1C495-85CF-AD4A-5B87-05C5C11C1B42}"/>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0A65468-00FE-9EE8-32B7-B41198F53C4D}"/>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7664830B-C214-D302-D6E4-9C4A6585CA32}"/>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cxnSp>
        <p:nvCxnSpPr>
          <p:cNvPr id="13" name="直接连接符 51">
            <a:extLst>
              <a:ext uri="{FF2B5EF4-FFF2-40B4-BE49-F238E27FC236}">
                <a16:creationId xmlns:a16="http://schemas.microsoft.com/office/drawing/2014/main" id="{03EFCA3F-3B55-61DF-EB58-56538553DAB5}"/>
              </a:ext>
            </a:extLst>
          </p:cNvPr>
          <p:cNvCxnSpPr>
            <a:cxnSpLocks/>
          </p:cNvCxnSpPr>
          <p:nvPr/>
        </p:nvCxnSpPr>
        <p:spPr>
          <a:xfrm flipH="1">
            <a:off x="2480650" y="640758"/>
            <a:ext cx="9318634" cy="0"/>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555012C8-679A-18A4-653C-5C0169798A6D}"/>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33FF84AE-6582-B3C9-F777-09555F197BA9}"/>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21</a:t>
            </a:fld>
            <a:endParaRPr lang="en-US" altLang="zh-CN" sz="1400" dirty="0">
              <a:solidFill>
                <a:schemeClr val="bg1"/>
              </a:solidFill>
              <a:latin typeface="微软雅黑" pitchFamily="34" charset="-122"/>
              <a:ea typeface="微软雅黑" pitchFamily="34" charset="-122"/>
            </a:endParaRPr>
          </a:p>
        </p:txBody>
      </p:sp>
      <p:sp>
        <p:nvSpPr>
          <p:cNvPr id="28" name="文字方塊 27">
            <a:extLst>
              <a:ext uri="{FF2B5EF4-FFF2-40B4-BE49-F238E27FC236}">
                <a16:creationId xmlns:a16="http://schemas.microsoft.com/office/drawing/2014/main" id="{AAE0F13E-B2C0-311B-FDF7-6A09765A59E9}"/>
              </a:ext>
            </a:extLst>
          </p:cNvPr>
          <p:cNvSpPr txBox="1"/>
          <p:nvPr/>
        </p:nvSpPr>
        <p:spPr>
          <a:xfrm>
            <a:off x="1152588" y="353876"/>
            <a:ext cx="1328062" cy="400110"/>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CNN</a:t>
            </a:r>
            <a:r>
              <a:rPr lang="zh-TW" altLang="en-US" sz="2000" b="1" dirty="0">
                <a:latin typeface="微軟正黑體" panose="020B0604030504040204" pitchFamily="34" charset="-120"/>
                <a:ea typeface="微軟正黑體" panose="020B0604030504040204" pitchFamily="34" charset="-120"/>
              </a:rPr>
              <a:t>種類</a:t>
            </a:r>
            <a:endParaRPr lang="en-US" altLang="zh-TW" sz="2000" b="1" dirty="0">
              <a:latin typeface="微軟正黑體" panose="020B0604030504040204" pitchFamily="34" charset="-120"/>
              <a:ea typeface="微軟正黑體" panose="020B0604030504040204" pitchFamily="34" charset="-120"/>
            </a:endParaRPr>
          </a:p>
        </p:txBody>
      </p:sp>
      <p:sp>
        <p:nvSpPr>
          <p:cNvPr id="6" name="Rectangle 2">
            <a:extLst>
              <a:ext uri="{FF2B5EF4-FFF2-40B4-BE49-F238E27FC236}">
                <a16:creationId xmlns:a16="http://schemas.microsoft.com/office/drawing/2014/main" id="{10017575-684A-CE4F-C6B8-9829EBEAAC68}"/>
              </a:ext>
            </a:extLst>
          </p:cNvPr>
          <p:cNvSpPr>
            <a:spLocks noChangeArrowheads="1"/>
          </p:cNvSpPr>
          <p:nvPr/>
        </p:nvSpPr>
        <p:spPr bwMode="auto">
          <a:xfrm>
            <a:off x="360912" y="851972"/>
            <a:ext cx="115675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每個任務不同</a:t>
            </a:r>
            <a:r>
              <a:rPr kumimoji="0" lang="zh-TW" altLang="zh-TW" sz="1800" b="0" i="0" u="none" strike="noStrike" cap="none" normalizeH="0" baseline="0" dirty="0">
                <a:ln>
                  <a:noFill/>
                </a:ln>
                <a:solidFill>
                  <a:schemeClr val="tx1"/>
                </a:solidFill>
                <a:effectLst/>
                <a:latin typeface="Arial" panose="020B0604020202020204" pitchFamily="34" charset="0"/>
              </a:rPr>
              <a:t>：分類、分割用的模型不同。</a:t>
            </a:r>
            <a:endParaRPr kumimoji="0" lang="en-US"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20" name="圖片 19" descr="一張含有 文字, 字型, 圖表, 螢幕擷取畫面 的圖片&#10;&#10;AI 產生的內容可能不正確。">
            <a:extLst>
              <a:ext uri="{FF2B5EF4-FFF2-40B4-BE49-F238E27FC236}">
                <a16:creationId xmlns:a16="http://schemas.microsoft.com/office/drawing/2014/main" id="{3913EA4A-0FC2-9366-4B41-6668F36F459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451" y="1781116"/>
            <a:ext cx="2993719" cy="1729975"/>
          </a:xfrm>
          <a:prstGeom prst="rect">
            <a:avLst/>
          </a:prstGeom>
        </p:spPr>
      </p:pic>
      <p:pic>
        <p:nvPicPr>
          <p:cNvPr id="21" name="圖片 20" descr="一張含有 寫生, 圖畫, 圖表, 房子 的圖片&#10;&#10;AI 產生的內容可能不正確。">
            <a:hlinkClick r:id="rId4"/>
            <a:extLst>
              <a:ext uri="{FF2B5EF4-FFF2-40B4-BE49-F238E27FC236}">
                <a16:creationId xmlns:a16="http://schemas.microsoft.com/office/drawing/2014/main" id="{C7955CDB-DB69-C313-AF9F-85645C2EA45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54806" y="1498303"/>
            <a:ext cx="3379760" cy="2123658"/>
          </a:xfrm>
          <a:prstGeom prst="rect">
            <a:avLst/>
          </a:prstGeom>
        </p:spPr>
      </p:pic>
      <p:pic>
        <p:nvPicPr>
          <p:cNvPr id="1028" name="Picture 4">
            <a:extLst>
              <a:ext uri="{FF2B5EF4-FFF2-40B4-BE49-F238E27FC236}">
                <a16:creationId xmlns:a16="http://schemas.microsoft.com/office/drawing/2014/main" id="{49B8ACD1-E054-A476-BC20-7E3C5E40274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508587" y="1498303"/>
            <a:ext cx="3058961" cy="2123658"/>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1">
            <a:extLst>
              <a:ext uri="{FF2B5EF4-FFF2-40B4-BE49-F238E27FC236}">
                <a16:creationId xmlns:a16="http://schemas.microsoft.com/office/drawing/2014/main" id="{6A634562-AF61-2355-8CE3-65AB4D3ABF21}"/>
              </a:ext>
            </a:extLst>
          </p:cNvPr>
          <p:cNvSpPr txBox="1"/>
          <p:nvPr/>
        </p:nvSpPr>
        <p:spPr>
          <a:xfrm>
            <a:off x="9358556" y="1223224"/>
            <a:ext cx="860079" cy="369332"/>
          </a:xfrm>
          <a:prstGeom prst="rect">
            <a:avLst/>
          </a:prstGeom>
          <a:noFill/>
        </p:spPr>
        <p:txBody>
          <a:bodyPr wrap="square" rtlCol="0">
            <a:spAutoFit/>
          </a:bodyPr>
          <a:lstStyle/>
          <a:p>
            <a:r>
              <a:rPr lang="en-US" altLang="zh-TW" dirty="0"/>
              <a:t>U-Net</a:t>
            </a:r>
            <a:endParaRPr lang="zh-TW" altLang="en-US" dirty="0"/>
          </a:p>
        </p:txBody>
      </p:sp>
      <p:sp>
        <p:nvSpPr>
          <p:cNvPr id="3" name="文字方塊 2">
            <a:extLst>
              <a:ext uri="{FF2B5EF4-FFF2-40B4-BE49-F238E27FC236}">
                <a16:creationId xmlns:a16="http://schemas.microsoft.com/office/drawing/2014/main" id="{3892928F-A923-DE06-8E24-39D00A5A62C2}"/>
              </a:ext>
            </a:extLst>
          </p:cNvPr>
          <p:cNvSpPr txBox="1"/>
          <p:nvPr/>
        </p:nvSpPr>
        <p:spPr>
          <a:xfrm>
            <a:off x="5445184" y="1191030"/>
            <a:ext cx="1176951" cy="369332"/>
          </a:xfrm>
          <a:prstGeom prst="rect">
            <a:avLst/>
          </a:prstGeom>
          <a:noFill/>
        </p:spPr>
        <p:txBody>
          <a:bodyPr wrap="square" rtlCol="0">
            <a:spAutoFit/>
          </a:bodyPr>
          <a:lstStyle/>
          <a:p>
            <a:r>
              <a:rPr lang="en-US" altLang="zh-TW" dirty="0"/>
              <a:t>3D </a:t>
            </a:r>
            <a:r>
              <a:rPr lang="en-US" altLang="zh-TW" dirty="0" err="1"/>
              <a:t>ResNet</a:t>
            </a:r>
            <a:endParaRPr lang="zh-TW" altLang="en-US" dirty="0"/>
          </a:p>
        </p:txBody>
      </p:sp>
      <p:sp>
        <p:nvSpPr>
          <p:cNvPr id="4" name="文字方塊 3">
            <a:extLst>
              <a:ext uri="{FF2B5EF4-FFF2-40B4-BE49-F238E27FC236}">
                <a16:creationId xmlns:a16="http://schemas.microsoft.com/office/drawing/2014/main" id="{6604471D-0D7D-7464-E4A5-FC611EC517CB}"/>
              </a:ext>
            </a:extLst>
          </p:cNvPr>
          <p:cNvSpPr txBox="1"/>
          <p:nvPr/>
        </p:nvSpPr>
        <p:spPr>
          <a:xfrm>
            <a:off x="1115353" y="1226957"/>
            <a:ext cx="1593410" cy="369332"/>
          </a:xfrm>
          <a:prstGeom prst="rect">
            <a:avLst/>
          </a:prstGeom>
          <a:noFill/>
        </p:spPr>
        <p:txBody>
          <a:bodyPr wrap="square" rtlCol="0">
            <a:spAutoFit/>
          </a:bodyPr>
          <a:lstStyle/>
          <a:p>
            <a:r>
              <a:rPr lang="en-US" altLang="zh-TW" dirty="0"/>
              <a:t>3D </a:t>
            </a:r>
            <a:r>
              <a:rPr lang="en-US" altLang="zh-TW" dirty="0" err="1"/>
              <a:t>DenseNet</a:t>
            </a:r>
            <a:endParaRPr lang="zh-TW" altLang="en-US" dirty="0"/>
          </a:p>
        </p:txBody>
      </p:sp>
      <p:sp>
        <p:nvSpPr>
          <p:cNvPr id="16" name="Rectangle 3">
            <a:extLst>
              <a:ext uri="{FF2B5EF4-FFF2-40B4-BE49-F238E27FC236}">
                <a16:creationId xmlns:a16="http://schemas.microsoft.com/office/drawing/2014/main" id="{7787F797-39EB-D653-3471-49C5356E5F31}"/>
              </a:ext>
            </a:extLst>
          </p:cNvPr>
          <p:cNvSpPr>
            <a:spLocks noChangeArrowheads="1"/>
          </p:cNvSpPr>
          <p:nvPr/>
        </p:nvSpPr>
        <p:spPr bwMode="auto">
          <a:xfrm>
            <a:off x="295954" y="4340125"/>
            <a:ext cx="3786390" cy="2123658"/>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zh-TW" sz="1200" b="1" dirty="0" err="1">
                <a:latin typeface="微軟正黑體" panose="020B0604030504040204" pitchFamily="34" charset="-120"/>
                <a:ea typeface="微軟正黑體" panose="020B0604030504040204" pitchFamily="34" charset="-120"/>
              </a:rPr>
              <a:t>ResNet</a:t>
            </a:r>
            <a:r>
              <a:rPr lang="en-US" altLang="zh-TW" sz="1200" b="1" dirty="0">
                <a:latin typeface="微軟正黑體" panose="020B0604030504040204" pitchFamily="34" charset="-120"/>
                <a:ea typeface="微軟正黑體" panose="020B0604030504040204" pitchFamily="34" charset="-120"/>
              </a:rPr>
              <a:t> </a:t>
            </a:r>
            <a:r>
              <a:rPr lang="zh-TW" altLang="en-US" sz="1200" b="1" dirty="0">
                <a:latin typeface="微軟正黑體" panose="020B0604030504040204" pitchFamily="34" charset="-120"/>
                <a:ea typeface="微軟正黑體" panose="020B0604030504040204" pitchFamily="34" charset="-120"/>
              </a:rPr>
              <a:t>的特色</a:t>
            </a:r>
            <a:endPar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捷徑連接 (Skip Connection)</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輸入可直接相加到輸出，提升訓練效率</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避免梯度消失</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訊號與梯度能順暢傳遞，深層網路更穩定</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支援更深層設計</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可構建 50、101、152 層等大型網路</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殘差學習 (Residual Learning)</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學習殘差F(x)，輸出公式 H(x)=F(x)+x</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TW" altLang="en-US" sz="1200" b="1" dirty="0">
                <a:latin typeface="微軟正黑體" panose="020B0604030504040204" pitchFamily="34" charset="-120"/>
                <a:ea typeface="微軟正黑體" panose="020B0604030504040204" pitchFamily="34" charset="-120"/>
              </a:rPr>
              <a:t>廣泛應用</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tabLst/>
            </a:pPr>
            <a:r>
              <a:rPr lang="en-US" altLang="zh-TW" sz="1200"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常用於分類、檢測、分割與醫學影像分析</a:t>
            </a:r>
            <a:endParaRPr kumimoji="0" lang="zh-TW"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2" name="文字方塊 21">
            <a:extLst>
              <a:ext uri="{FF2B5EF4-FFF2-40B4-BE49-F238E27FC236}">
                <a16:creationId xmlns:a16="http://schemas.microsoft.com/office/drawing/2014/main" id="{146C9279-7B91-2CF4-EA55-C5606AE8DF41}"/>
              </a:ext>
            </a:extLst>
          </p:cNvPr>
          <p:cNvSpPr txBox="1"/>
          <p:nvPr/>
        </p:nvSpPr>
        <p:spPr>
          <a:xfrm>
            <a:off x="4596534" y="4340125"/>
            <a:ext cx="3639503" cy="2123658"/>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defPPr>
              <a:defRPr lang="zh-TW"/>
            </a:defPPr>
            <a:lvl1pPr lvl="0" eaLnBrk="0" fontAlgn="base" hangingPunct="0">
              <a:spcBef>
                <a:spcPct val="0"/>
              </a:spcBef>
              <a:spcAft>
                <a:spcPct val="0"/>
              </a:spcAft>
              <a:defRPr sz="1200" b="1">
                <a:latin typeface="微軟正黑體" panose="020B0604030504040204" pitchFamily="34" charset="-120"/>
                <a:ea typeface="微軟正黑體" panose="020B0604030504040204" pitchFamily="34" charset="-120"/>
              </a:defRPr>
            </a:lvl1pPr>
          </a:lstStyle>
          <a:p>
            <a:r>
              <a:rPr lang="en-US" altLang="zh-TW" dirty="0" err="1"/>
              <a:t>DenseNet</a:t>
            </a:r>
            <a:r>
              <a:rPr lang="en-US" altLang="zh-TW" dirty="0"/>
              <a:t> </a:t>
            </a:r>
            <a:r>
              <a:rPr lang="zh-TW" altLang="en-US" dirty="0"/>
              <a:t>的特色</a:t>
            </a:r>
          </a:p>
          <a:p>
            <a:pPr marL="171450" indent="-171450">
              <a:buFont typeface="Arial" panose="020B0604020202020204" pitchFamily="34" charset="0"/>
              <a:buChar char="•"/>
            </a:pPr>
            <a:r>
              <a:rPr lang="zh-TW" altLang="en-US" dirty="0"/>
              <a:t>密集連接 </a:t>
            </a:r>
            <a:r>
              <a:rPr lang="en-US" altLang="zh-TW" dirty="0"/>
              <a:t>(Dense Connectivity)</a:t>
            </a:r>
            <a:r>
              <a:rPr lang="zh-TW" altLang="en-US" b="0" dirty="0"/>
              <a:t>：</a:t>
            </a:r>
            <a:endParaRPr lang="en-US" altLang="zh-TW" b="0" dirty="0"/>
          </a:p>
          <a:p>
            <a:r>
              <a:rPr lang="zh-TW" altLang="en-US" b="0" dirty="0"/>
              <a:t>     每層都接收前面所有層的輸出，強化特徵傳遞</a:t>
            </a:r>
          </a:p>
          <a:p>
            <a:pPr marL="171450" indent="-171450">
              <a:buFont typeface="Arial" panose="020B0604020202020204" pitchFamily="34" charset="0"/>
              <a:buChar char="•"/>
            </a:pPr>
            <a:r>
              <a:rPr lang="zh-TW" altLang="en-US" dirty="0"/>
              <a:t>特徵重用</a:t>
            </a:r>
            <a:r>
              <a:rPr lang="zh-TW" altLang="en-US" b="0" dirty="0"/>
              <a:t>：</a:t>
            </a:r>
            <a:endParaRPr lang="en-US" altLang="zh-TW" b="0" dirty="0"/>
          </a:p>
          <a:p>
            <a:r>
              <a:rPr lang="en-US" altLang="zh-TW" b="0" dirty="0"/>
              <a:t>    </a:t>
            </a:r>
            <a:r>
              <a:rPr lang="zh-TW" altLang="en-US" b="0" dirty="0"/>
              <a:t>低層細節特徵可直接傳到高層，提高資訊利用率</a:t>
            </a:r>
          </a:p>
          <a:p>
            <a:pPr marL="171450" indent="-171450">
              <a:buFont typeface="Arial" panose="020B0604020202020204" pitchFamily="34" charset="0"/>
              <a:buChar char="•"/>
            </a:pPr>
            <a:r>
              <a:rPr lang="zh-TW" altLang="en-US" dirty="0"/>
              <a:t>減少參數量</a:t>
            </a:r>
            <a:r>
              <a:rPr lang="zh-TW" altLang="en-US" b="0" dirty="0"/>
              <a:t>：</a:t>
            </a:r>
            <a:endParaRPr lang="en-US" altLang="zh-TW" b="0" dirty="0"/>
          </a:p>
          <a:p>
            <a:r>
              <a:rPr lang="en-US" altLang="zh-TW" b="0" dirty="0"/>
              <a:t>     </a:t>
            </a:r>
            <a:r>
              <a:rPr lang="zh-TW" altLang="en-US" b="0" dirty="0"/>
              <a:t>避免重複學習冗餘特徵，比 </a:t>
            </a:r>
            <a:r>
              <a:rPr lang="en-US" altLang="zh-TW" b="0" dirty="0" err="1"/>
              <a:t>ResNet</a:t>
            </a:r>
            <a:r>
              <a:rPr lang="en-US" altLang="zh-TW" b="0" dirty="0"/>
              <a:t> </a:t>
            </a:r>
            <a:r>
              <a:rPr lang="zh-TW" altLang="en-US" b="0" dirty="0"/>
              <a:t>更省參數</a:t>
            </a:r>
          </a:p>
          <a:p>
            <a:pPr marL="171450" indent="-171450">
              <a:buFont typeface="Arial" panose="020B0604020202020204" pitchFamily="34" charset="0"/>
              <a:buChar char="•"/>
            </a:pPr>
            <a:r>
              <a:rPr lang="zh-TW" altLang="en-US" dirty="0"/>
              <a:t>緩解梯度消失</a:t>
            </a:r>
            <a:r>
              <a:rPr lang="zh-TW" altLang="en-US" b="0" dirty="0"/>
              <a:t>：</a:t>
            </a:r>
            <a:endParaRPr lang="en-US" altLang="zh-TW" b="0" dirty="0"/>
          </a:p>
          <a:p>
            <a:r>
              <a:rPr lang="en-US" altLang="zh-TW" b="0" dirty="0"/>
              <a:t>     </a:t>
            </a:r>
            <a:r>
              <a:rPr lang="zh-TW" altLang="en-US" b="0" dirty="0"/>
              <a:t>多條梯度傳遞路徑，深層網路也能順利訓練</a:t>
            </a:r>
          </a:p>
          <a:p>
            <a:pPr marL="171450" indent="-171450">
              <a:buFont typeface="Arial" panose="020B0604020202020204" pitchFamily="34" charset="0"/>
              <a:buChar char="•"/>
            </a:pPr>
            <a:r>
              <a:rPr lang="zh-TW" altLang="en-US" dirty="0"/>
              <a:t>高效能</a:t>
            </a:r>
            <a:r>
              <a:rPr lang="zh-TW" altLang="en-US" b="0" dirty="0"/>
              <a:t>：</a:t>
            </a:r>
            <a:endParaRPr lang="en-US" altLang="zh-TW" b="0" dirty="0"/>
          </a:p>
          <a:p>
            <a:r>
              <a:rPr lang="en-US" altLang="zh-TW" b="0" dirty="0"/>
              <a:t>     </a:t>
            </a:r>
            <a:r>
              <a:rPr lang="zh-TW" altLang="en-US" b="0" dirty="0"/>
              <a:t>在影像分類與醫學影像分析中表現優秀</a:t>
            </a:r>
            <a:endParaRPr lang="en-US" altLang="zh-TW" b="0" dirty="0"/>
          </a:p>
        </p:txBody>
      </p:sp>
      <p:sp>
        <p:nvSpPr>
          <p:cNvPr id="23" name="Rectangle 4">
            <a:extLst>
              <a:ext uri="{FF2B5EF4-FFF2-40B4-BE49-F238E27FC236}">
                <a16:creationId xmlns:a16="http://schemas.microsoft.com/office/drawing/2014/main" id="{7BF03B14-43F4-5783-1415-B0BF5825EC6B}"/>
              </a:ext>
            </a:extLst>
          </p:cNvPr>
          <p:cNvSpPr>
            <a:spLocks noChangeArrowheads="1"/>
          </p:cNvSpPr>
          <p:nvPr/>
        </p:nvSpPr>
        <p:spPr bwMode="auto">
          <a:xfrm>
            <a:off x="8750227" y="4340125"/>
            <a:ext cx="2936815" cy="2123658"/>
          </a:xfrm>
          <a:prstGeom prst="rect">
            <a:avLst/>
          </a:prstGeom>
          <a:ln w="28575"/>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zh-TW" sz="1200" b="1" dirty="0">
                <a:latin typeface="微軟正黑體" panose="020B0604030504040204" pitchFamily="34" charset="-120"/>
                <a:ea typeface="微軟正黑體" panose="020B0604030504040204" pitchFamily="34" charset="-120"/>
              </a:rPr>
              <a:t>U-Net </a:t>
            </a:r>
            <a:r>
              <a:rPr lang="zh-TW" altLang="en-US" sz="1200" b="1" dirty="0">
                <a:latin typeface="微軟正黑體" panose="020B0604030504040204" pitchFamily="34" charset="-120"/>
                <a:ea typeface="微軟正黑體" panose="020B0604030504040204" pitchFamily="34" charset="-120"/>
              </a:rPr>
              <a:t>的特色</a:t>
            </a:r>
            <a:endParaRPr lang="en-US" altLang="zh-TW" sz="1200" b="1" dirty="0">
              <a:latin typeface="微軟正黑體" panose="020B0604030504040204" pitchFamily="34" charset="-120"/>
              <a:ea typeface="微軟正黑體" panose="020B0604030504040204" pitchFamily="34" charset="-120"/>
            </a:endParaRPr>
          </a:p>
          <a:p>
            <a:pPr marL="171450" indent="-171450" eaLnBrk="0" fontAlgn="base" hangingPunct="0">
              <a:spcBef>
                <a:spcPct val="0"/>
              </a:spcBef>
              <a:spcAft>
                <a:spcPct val="0"/>
              </a:spcAft>
              <a:buFont typeface="Arial" panose="020B0604020202020204" pitchFamily="34" charset="0"/>
              <a:buChar char="•"/>
            </a:pPr>
            <a:r>
              <a:rPr lang="zh-TW" altLang="zh-TW" sz="1200" b="1" dirty="0">
                <a:latin typeface="微軟正黑體" panose="020B0604030504040204" pitchFamily="34" charset="-120"/>
                <a:ea typeface="微軟正黑體" panose="020B0604030504040204" pitchFamily="34" charset="-120"/>
              </a:rPr>
              <a:t>編碼-解碼結構</a:t>
            </a:r>
            <a:r>
              <a:rPr lang="zh-TW" altLang="zh-TW"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200" dirty="0">
                <a:latin typeface="微軟正黑體" panose="020B0604030504040204" pitchFamily="34" charset="-120"/>
                <a:ea typeface="微軟正黑體" panose="020B0604030504040204" pitchFamily="34" charset="-120"/>
              </a:rPr>
              <a:t>    </a:t>
            </a:r>
            <a:r>
              <a:rPr lang="zh-TW" altLang="zh-TW" sz="1200" dirty="0">
                <a:latin typeface="微軟正黑體" panose="020B0604030504040204" pitchFamily="34" charset="-120"/>
                <a:ea typeface="微軟正黑體" panose="020B0604030504040204" pitchFamily="34" charset="-120"/>
              </a:rPr>
              <a:t>提取特徵並恢復解析度</a:t>
            </a:r>
          </a:p>
          <a:p>
            <a:pPr marL="171450" indent="-171450" eaLnBrk="0" fontAlgn="base" hangingPunct="0">
              <a:spcBef>
                <a:spcPct val="0"/>
              </a:spcBef>
              <a:spcAft>
                <a:spcPct val="0"/>
              </a:spcAft>
              <a:buFont typeface="Arial" panose="020B0604020202020204" pitchFamily="34" charset="0"/>
              <a:buChar char="•"/>
            </a:pPr>
            <a:r>
              <a:rPr lang="zh-TW" altLang="zh-TW" sz="1200" b="1" dirty="0">
                <a:latin typeface="微軟正黑體" panose="020B0604030504040204" pitchFamily="34" charset="-120"/>
                <a:ea typeface="微軟正黑體" panose="020B0604030504040204" pitchFamily="34" charset="-120"/>
              </a:rPr>
              <a:t>跳躍連接 (Skip Connection)</a:t>
            </a:r>
            <a:r>
              <a:rPr lang="zh-TW" altLang="zh-TW"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200" dirty="0">
                <a:latin typeface="微軟正黑體" panose="020B0604030504040204" pitchFamily="34" charset="-120"/>
                <a:ea typeface="微軟正黑體" panose="020B0604030504040204" pitchFamily="34" charset="-120"/>
              </a:rPr>
              <a:t>    </a:t>
            </a:r>
            <a:r>
              <a:rPr lang="zh-TW" altLang="zh-TW" sz="1200" dirty="0">
                <a:latin typeface="微軟正黑體" panose="020B0604030504040204" pitchFamily="34" charset="-120"/>
                <a:ea typeface="微軟正黑體" panose="020B0604030504040204" pitchFamily="34" charset="-120"/>
              </a:rPr>
              <a:t>保留細節，提高分割精度</a:t>
            </a:r>
          </a:p>
          <a:p>
            <a:pPr marL="171450" indent="-171450" eaLnBrk="0" fontAlgn="base" hangingPunct="0">
              <a:spcBef>
                <a:spcPct val="0"/>
              </a:spcBef>
              <a:spcAft>
                <a:spcPct val="0"/>
              </a:spcAft>
              <a:buFont typeface="Arial" panose="020B0604020202020204" pitchFamily="34" charset="0"/>
              <a:buChar char="•"/>
            </a:pPr>
            <a:r>
              <a:rPr lang="zh-TW" altLang="zh-TW" sz="1200" b="1" dirty="0">
                <a:latin typeface="微軟正黑體" panose="020B0604030504040204" pitchFamily="34" charset="-120"/>
                <a:ea typeface="微軟正黑體" panose="020B0604030504040204" pitchFamily="34" charset="-120"/>
              </a:rPr>
              <a:t>小樣本友好</a:t>
            </a:r>
            <a:r>
              <a:rPr lang="zh-TW" altLang="zh-TW"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200" dirty="0">
                <a:latin typeface="微軟正黑體" panose="020B0604030504040204" pitchFamily="34" charset="-120"/>
                <a:ea typeface="微軟正黑體" panose="020B0604030504040204" pitchFamily="34" charset="-120"/>
              </a:rPr>
              <a:t>     </a:t>
            </a:r>
            <a:r>
              <a:rPr lang="zh-TW" altLang="zh-TW" sz="1200" dirty="0">
                <a:latin typeface="微軟正黑體" panose="020B0604030504040204" pitchFamily="34" charset="-120"/>
                <a:ea typeface="微軟正黑體" panose="020B0604030504040204" pitchFamily="34" charset="-120"/>
              </a:rPr>
              <a:t>少量資料也能訓練</a:t>
            </a:r>
          </a:p>
          <a:p>
            <a:pPr marL="171450" indent="-171450" eaLnBrk="0" fontAlgn="base" hangingPunct="0">
              <a:spcBef>
                <a:spcPct val="0"/>
              </a:spcBef>
              <a:spcAft>
                <a:spcPct val="0"/>
              </a:spcAft>
              <a:buFont typeface="Arial" panose="020B0604020202020204" pitchFamily="34" charset="0"/>
              <a:buChar char="•"/>
            </a:pPr>
            <a:r>
              <a:rPr lang="zh-TW" altLang="zh-TW" sz="1200" b="1" dirty="0">
                <a:latin typeface="微軟正黑體" panose="020B0604030504040204" pitchFamily="34" charset="-120"/>
                <a:ea typeface="微軟正黑體" panose="020B0604030504040204" pitchFamily="34" charset="-120"/>
              </a:rPr>
              <a:t>像素級輸出</a:t>
            </a:r>
            <a:r>
              <a:rPr lang="zh-TW" altLang="zh-TW"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200"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 </a:t>
            </a:r>
            <a:r>
              <a:rPr lang="zh-TW" altLang="zh-TW" sz="1200" dirty="0">
                <a:latin typeface="微軟正黑體" panose="020B0604030504040204" pitchFamily="34" charset="-120"/>
                <a:ea typeface="微軟正黑體" panose="020B0604030504040204" pitchFamily="34" charset="-120"/>
              </a:rPr>
              <a:t>每個像素都可分類</a:t>
            </a:r>
          </a:p>
          <a:p>
            <a:pPr marL="171450" indent="-171450" eaLnBrk="0" fontAlgn="base" hangingPunct="0">
              <a:spcBef>
                <a:spcPct val="0"/>
              </a:spcBef>
              <a:spcAft>
                <a:spcPct val="0"/>
              </a:spcAft>
              <a:buFont typeface="Arial" panose="020B0604020202020204" pitchFamily="34" charset="0"/>
              <a:buChar char="•"/>
            </a:pPr>
            <a:r>
              <a:rPr lang="zh-TW" altLang="zh-TW" sz="1200" b="1" dirty="0">
                <a:latin typeface="微軟正黑體" panose="020B0604030504040204" pitchFamily="34" charset="-120"/>
                <a:ea typeface="微軟正黑體" panose="020B0604030504040204" pitchFamily="34" charset="-120"/>
              </a:rPr>
              <a:t>高靈活性</a:t>
            </a:r>
            <a:r>
              <a:rPr lang="zh-TW" altLang="zh-TW"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eaLnBrk="0" fontAlgn="base" hangingPunct="0">
              <a:spcBef>
                <a:spcPct val="0"/>
              </a:spcBef>
              <a:spcAft>
                <a:spcPct val="0"/>
              </a:spcAft>
            </a:pPr>
            <a:r>
              <a:rPr lang="en-US" altLang="zh-TW" sz="1200" dirty="0">
                <a:latin typeface="微軟正黑體" panose="020B0604030504040204" pitchFamily="34" charset="-120"/>
                <a:ea typeface="微軟正黑體" panose="020B0604030504040204" pitchFamily="34" charset="-120"/>
              </a:rPr>
              <a:t>     </a:t>
            </a:r>
            <a:r>
              <a:rPr lang="zh-TW" altLang="zh-TW" sz="1200" dirty="0">
                <a:latin typeface="微軟正黑體" panose="020B0604030504040204" pitchFamily="34" charset="-120"/>
                <a:ea typeface="微軟正黑體" panose="020B0604030504040204" pitchFamily="34" charset="-120"/>
              </a:rPr>
              <a:t>2D / 3D 醫學影像皆適用</a:t>
            </a:r>
          </a:p>
        </p:txBody>
      </p:sp>
    </p:spTree>
    <p:extLst>
      <p:ext uri="{BB962C8B-B14F-4D97-AF65-F5344CB8AC3E}">
        <p14:creationId xmlns:p14="http://schemas.microsoft.com/office/powerpoint/2010/main" val="15973649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87224</TotalTime>
  <Words>3532</Words>
  <Application>Microsoft Office PowerPoint</Application>
  <PresentationFormat>寬螢幕</PresentationFormat>
  <Paragraphs>542</Paragraphs>
  <Slides>21</Slides>
  <Notes>20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21</vt:i4>
      </vt:variant>
    </vt:vector>
  </HeadingPairs>
  <TitlesOfParts>
    <vt:vector size="31" baseType="lpstr">
      <vt:lpstr>Magic R</vt:lpstr>
      <vt:lpstr>微软雅黑</vt:lpstr>
      <vt:lpstr>微軟正黑體</vt:lpstr>
      <vt:lpstr>Microsoft JhengHei Light</vt:lpstr>
      <vt:lpstr>Arial</vt:lpstr>
      <vt:lpstr>Calibri</vt:lpstr>
      <vt:lpstr>Calibri Light</vt:lpstr>
      <vt:lpstr>Cambria Math</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張廷安</dc:creator>
  <cp:lastModifiedBy>鼎祐 林</cp:lastModifiedBy>
  <cp:revision>1473</cp:revision>
  <dcterms:created xsi:type="dcterms:W3CDTF">2021-08-31T00:13:08Z</dcterms:created>
  <dcterms:modified xsi:type="dcterms:W3CDTF">2026-07-03T13:21:36Z</dcterms:modified>
</cp:coreProperties>
</file>