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592" r:id="rId2"/>
    <p:sldId id="657" r:id="rId3"/>
    <p:sldId id="658" r:id="rId4"/>
    <p:sldId id="665" r:id="rId5"/>
    <p:sldId id="666" r:id="rId6"/>
    <p:sldId id="667" r:id="rId7"/>
    <p:sldId id="668" r:id="rId8"/>
    <p:sldId id="660" r:id="rId9"/>
    <p:sldId id="669" r:id="rId10"/>
    <p:sldId id="670" r:id="rId11"/>
    <p:sldId id="671" r:id="rId12"/>
    <p:sldId id="672" r:id="rId13"/>
    <p:sldId id="685" r:id="rId14"/>
    <p:sldId id="686" r:id="rId15"/>
    <p:sldId id="673" r:id="rId16"/>
    <p:sldId id="674" r:id="rId17"/>
    <p:sldId id="675" r:id="rId18"/>
    <p:sldId id="661" r:id="rId19"/>
    <p:sldId id="676" r:id="rId20"/>
    <p:sldId id="677" r:id="rId21"/>
    <p:sldId id="678" r:id="rId22"/>
    <p:sldId id="679" r:id="rId23"/>
    <p:sldId id="680" r:id="rId24"/>
    <p:sldId id="681" r:id="rId25"/>
    <p:sldId id="682" r:id="rId26"/>
    <p:sldId id="683" r:id="rId27"/>
    <p:sldId id="684" r:id="rId2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5E22E-D3E5-4B1F-AD6B-6FCA133DA5AD}" type="datetimeFigureOut">
              <a:rPr lang="zh-TW" altLang="en-US" smtClean="0"/>
              <a:t>2026/3/5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AD021-87D9-4C44-A1F7-A8357A357A02}" type="slidenum">
              <a:rPr lang="zh-TW" altLang="en-US" smtClean="0"/>
              <a:t>‹#›</a:t>
            </a:fld>
            <a:endParaRPr lang="zh-TW" altLang="en-US"/>
          </a:p>
        </p:txBody>
      </p:sp>
    </p:spTree>
    <p:extLst>
      <p:ext uri="{BB962C8B-B14F-4D97-AF65-F5344CB8AC3E}">
        <p14:creationId xmlns:p14="http://schemas.microsoft.com/office/powerpoint/2010/main" val="20349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2</a:t>
            </a:fld>
            <a:endParaRPr lang="zh-TW" altLang="en-US"/>
          </a:p>
        </p:txBody>
      </p:sp>
    </p:spTree>
    <p:extLst>
      <p:ext uri="{BB962C8B-B14F-4D97-AF65-F5344CB8AC3E}">
        <p14:creationId xmlns:p14="http://schemas.microsoft.com/office/powerpoint/2010/main" val="204268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3</a:t>
            </a:fld>
            <a:endParaRPr lang="zh-TW" altLang="en-US"/>
          </a:p>
        </p:txBody>
      </p:sp>
    </p:spTree>
    <p:extLst>
      <p:ext uri="{BB962C8B-B14F-4D97-AF65-F5344CB8AC3E}">
        <p14:creationId xmlns:p14="http://schemas.microsoft.com/office/powerpoint/2010/main" val="817408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4</a:t>
            </a:fld>
            <a:endParaRPr lang="zh-TW" altLang="en-US"/>
          </a:p>
        </p:txBody>
      </p:sp>
    </p:spTree>
    <p:extLst>
      <p:ext uri="{BB962C8B-B14F-4D97-AF65-F5344CB8AC3E}">
        <p14:creationId xmlns:p14="http://schemas.microsoft.com/office/powerpoint/2010/main" val="2302458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5</a:t>
            </a:fld>
            <a:endParaRPr lang="zh-TW" altLang="en-US"/>
          </a:p>
        </p:txBody>
      </p:sp>
    </p:spTree>
    <p:extLst>
      <p:ext uri="{BB962C8B-B14F-4D97-AF65-F5344CB8AC3E}">
        <p14:creationId xmlns:p14="http://schemas.microsoft.com/office/powerpoint/2010/main" val="4172702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F48FB-15A5-9204-19FE-917E4D5D3147}"/>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E9B018A-682C-4809-94A6-C1E724FE940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7837DFC-7481-879C-43FA-BBD1FF3E40F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A9926FB-1FF9-C6E7-88F8-2F1CCCF49BA6}"/>
              </a:ext>
            </a:extLst>
          </p:cNvPr>
          <p:cNvSpPr>
            <a:spLocks noGrp="1"/>
          </p:cNvSpPr>
          <p:nvPr>
            <p:ph type="sldNum" sz="quarter" idx="10"/>
          </p:nvPr>
        </p:nvSpPr>
        <p:spPr/>
        <p:txBody>
          <a:bodyPr/>
          <a:lstStyle/>
          <a:p>
            <a:fld id="{6C4304F7-8D10-485E-BC6D-5EF96811EFF4}" type="slidenum">
              <a:rPr lang="zh-TW" altLang="en-US" smtClean="0"/>
              <a:t>6</a:t>
            </a:fld>
            <a:endParaRPr lang="zh-TW" altLang="en-US"/>
          </a:p>
        </p:txBody>
      </p:sp>
    </p:spTree>
    <p:extLst>
      <p:ext uri="{BB962C8B-B14F-4D97-AF65-F5344CB8AC3E}">
        <p14:creationId xmlns:p14="http://schemas.microsoft.com/office/powerpoint/2010/main" val="3043470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ABD53-CCFF-61CF-DBD9-46A8A56E4F8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4F86C65-3490-D218-7A5E-F1123D8A5A8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89FC462-CB41-9284-2162-01024F96714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9FD9E1F-CD6B-5514-A6A1-8BA46CC70067}"/>
              </a:ext>
            </a:extLst>
          </p:cNvPr>
          <p:cNvSpPr>
            <a:spLocks noGrp="1"/>
          </p:cNvSpPr>
          <p:nvPr>
            <p:ph type="sldNum" sz="quarter" idx="10"/>
          </p:nvPr>
        </p:nvSpPr>
        <p:spPr/>
        <p:txBody>
          <a:bodyPr/>
          <a:lstStyle/>
          <a:p>
            <a:fld id="{6C4304F7-8D10-485E-BC6D-5EF96811EFF4}" type="slidenum">
              <a:rPr lang="zh-TW" altLang="en-US" smtClean="0"/>
              <a:t>7</a:t>
            </a:fld>
            <a:endParaRPr lang="zh-TW" altLang="en-US"/>
          </a:p>
        </p:txBody>
      </p:sp>
    </p:spTree>
    <p:extLst>
      <p:ext uri="{BB962C8B-B14F-4D97-AF65-F5344CB8AC3E}">
        <p14:creationId xmlns:p14="http://schemas.microsoft.com/office/powerpoint/2010/main" val="33546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8</a:t>
            </a:fld>
            <a:endParaRPr lang="zh-TW" altLang="en-US"/>
          </a:p>
        </p:txBody>
      </p:sp>
    </p:spTree>
    <p:extLst>
      <p:ext uri="{BB962C8B-B14F-4D97-AF65-F5344CB8AC3E}">
        <p14:creationId xmlns:p14="http://schemas.microsoft.com/office/powerpoint/2010/main" val="1877997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213CD-C3D5-5CD8-6B6D-543C9674F323}"/>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CBF79CD-DAC3-04BD-F82B-FAE180DD3FE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9AC6AA0-078B-92A9-76A1-5E73BA15F53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CB73958-0679-4ABA-EDAC-42D155B313D8}"/>
              </a:ext>
            </a:extLst>
          </p:cNvPr>
          <p:cNvSpPr>
            <a:spLocks noGrp="1"/>
          </p:cNvSpPr>
          <p:nvPr>
            <p:ph type="sldNum" sz="quarter" idx="10"/>
          </p:nvPr>
        </p:nvSpPr>
        <p:spPr/>
        <p:txBody>
          <a:bodyPr/>
          <a:lstStyle/>
          <a:p>
            <a:fld id="{6C4304F7-8D10-485E-BC6D-5EF96811EFF4}" type="slidenum">
              <a:rPr lang="zh-TW" altLang="en-US" smtClean="0"/>
              <a:t>9</a:t>
            </a:fld>
            <a:endParaRPr lang="zh-TW" altLang="en-US"/>
          </a:p>
        </p:txBody>
      </p:sp>
    </p:spTree>
    <p:extLst>
      <p:ext uri="{BB962C8B-B14F-4D97-AF65-F5344CB8AC3E}">
        <p14:creationId xmlns:p14="http://schemas.microsoft.com/office/powerpoint/2010/main" val="2912533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647D-6533-02B6-BEFA-3AC0C686F91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89F7B28-7982-9876-F621-B92C48440DC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453D15-A208-55BE-C58E-697498E3462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04901859-EE46-B04C-6A37-3297624D886E}"/>
              </a:ext>
            </a:extLst>
          </p:cNvPr>
          <p:cNvSpPr>
            <a:spLocks noGrp="1"/>
          </p:cNvSpPr>
          <p:nvPr>
            <p:ph type="sldNum" sz="quarter" idx="10"/>
          </p:nvPr>
        </p:nvSpPr>
        <p:spPr/>
        <p:txBody>
          <a:bodyPr/>
          <a:lstStyle/>
          <a:p>
            <a:fld id="{6C4304F7-8D10-485E-BC6D-5EF96811EFF4}" type="slidenum">
              <a:rPr lang="zh-TW" altLang="en-US" smtClean="0"/>
              <a:t>10</a:t>
            </a:fld>
            <a:endParaRPr lang="zh-TW" altLang="en-US"/>
          </a:p>
        </p:txBody>
      </p:sp>
    </p:spTree>
    <p:extLst>
      <p:ext uri="{BB962C8B-B14F-4D97-AF65-F5344CB8AC3E}">
        <p14:creationId xmlns:p14="http://schemas.microsoft.com/office/powerpoint/2010/main" val="45771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B1331-32E5-1837-164B-82B2E80CD7B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4804600-73E2-A4E5-709B-CE65C37031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879A832-BF5D-BF4C-2339-8D6CB7D8991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948C882-D419-C683-6D92-19B1087912DB}"/>
              </a:ext>
            </a:extLst>
          </p:cNvPr>
          <p:cNvSpPr>
            <a:spLocks noGrp="1"/>
          </p:cNvSpPr>
          <p:nvPr>
            <p:ph type="sldNum" sz="quarter" idx="10"/>
          </p:nvPr>
        </p:nvSpPr>
        <p:spPr/>
        <p:txBody>
          <a:bodyPr/>
          <a:lstStyle/>
          <a:p>
            <a:fld id="{6C4304F7-8D10-485E-BC6D-5EF96811EFF4}" type="slidenum">
              <a:rPr lang="zh-TW" altLang="en-US" smtClean="0"/>
              <a:t>11</a:t>
            </a:fld>
            <a:endParaRPr lang="zh-TW" altLang="en-US"/>
          </a:p>
        </p:txBody>
      </p:sp>
    </p:spTree>
    <p:extLst>
      <p:ext uri="{BB962C8B-B14F-4D97-AF65-F5344CB8AC3E}">
        <p14:creationId xmlns:p14="http://schemas.microsoft.com/office/powerpoint/2010/main" val="2816655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E2C9-0A0B-EC09-1B64-39F85ED9E8D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9052D2B-633C-38D6-5D36-E1C15BDDED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C1D3CD1-78FB-5FE6-AD5D-B04D18C1336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5625A36-3696-422A-F97F-C9157EF193D6}"/>
              </a:ext>
            </a:extLst>
          </p:cNvPr>
          <p:cNvSpPr>
            <a:spLocks noGrp="1"/>
          </p:cNvSpPr>
          <p:nvPr>
            <p:ph type="sldNum" sz="quarter" idx="10"/>
          </p:nvPr>
        </p:nvSpPr>
        <p:spPr/>
        <p:txBody>
          <a:bodyPr/>
          <a:lstStyle/>
          <a:p>
            <a:fld id="{6C4304F7-8D10-485E-BC6D-5EF96811EFF4}" type="slidenum">
              <a:rPr lang="zh-TW" altLang="en-US" smtClean="0"/>
              <a:t>12</a:t>
            </a:fld>
            <a:endParaRPr lang="zh-TW" altLang="en-US"/>
          </a:p>
        </p:txBody>
      </p:sp>
    </p:spTree>
    <p:extLst>
      <p:ext uri="{BB962C8B-B14F-4D97-AF65-F5344CB8AC3E}">
        <p14:creationId xmlns:p14="http://schemas.microsoft.com/office/powerpoint/2010/main" val="862470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E2C9-0A0B-EC09-1B64-39F85ED9E8D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9052D2B-633C-38D6-5D36-E1C15BDDED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C1D3CD1-78FB-5FE6-AD5D-B04D18C1336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5625A36-3696-422A-F97F-C9157EF193D6}"/>
              </a:ext>
            </a:extLst>
          </p:cNvPr>
          <p:cNvSpPr>
            <a:spLocks noGrp="1"/>
          </p:cNvSpPr>
          <p:nvPr>
            <p:ph type="sldNum" sz="quarter" idx="10"/>
          </p:nvPr>
        </p:nvSpPr>
        <p:spPr/>
        <p:txBody>
          <a:bodyPr/>
          <a:lstStyle/>
          <a:p>
            <a:fld id="{6C4304F7-8D10-485E-BC6D-5EF96811EFF4}" type="slidenum">
              <a:rPr lang="zh-TW" altLang="en-US" smtClean="0"/>
              <a:t>13</a:t>
            </a:fld>
            <a:endParaRPr lang="zh-TW" altLang="en-US"/>
          </a:p>
        </p:txBody>
      </p:sp>
    </p:spTree>
    <p:extLst>
      <p:ext uri="{BB962C8B-B14F-4D97-AF65-F5344CB8AC3E}">
        <p14:creationId xmlns:p14="http://schemas.microsoft.com/office/powerpoint/2010/main" val="3668531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E2C9-0A0B-EC09-1B64-39F85ED9E8D5}"/>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9052D2B-633C-38D6-5D36-E1C15BDDED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C1D3CD1-78FB-5FE6-AD5D-B04D18C1336C}"/>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5625A36-3696-422A-F97F-C9157EF193D6}"/>
              </a:ext>
            </a:extLst>
          </p:cNvPr>
          <p:cNvSpPr>
            <a:spLocks noGrp="1"/>
          </p:cNvSpPr>
          <p:nvPr>
            <p:ph type="sldNum" sz="quarter" idx="10"/>
          </p:nvPr>
        </p:nvSpPr>
        <p:spPr/>
        <p:txBody>
          <a:bodyPr/>
          <a:lstStyle/>
          <a:p>
            <a:fld id="{6C4304F7-8D10-485E-BC6D-5EF96811EFF4}" type="slidenum">
              <a:rPr lang="zh-TW" altLang="en-US" smtClean="0"/>
              <a:t>14</a:t>
            </a:fld>
            <a:endParaRPr lang="zh-TW" altLang="en-US"/>
          </a:p>
        </p:txBody>
      </p:sp>
    </p:spTree>
    <p:extLst>
      <p:ext uri="{BB962C8B-B14F-4D97-AF65-F5344CB8AC3E}">
        <p14:creationId xmlns:p14="http://schemas.microsoft.com/office/powerpoint/2010/main" val="1972209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20C8-CB42-5A10-FB9C-0F78420B584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82FB75A-B9F6-8750-0159-661CD4192D5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CE03962-54C3-9CAB-3C17-C487D3775E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1200A2C-34E2-4BDD-FBCB-7B9195ED06CC}"/>
              </a:ext>
            </a:extLst>
          </p:cNvPr>
          <p:cNvSpPr>
            <a:spLocks noGrp="1"/>
          </p:cNvSpPr>
          <p:nvPr>
            <p:ph type="sldNum" sz="quarter" idx="10"/>
          </p:nvPr>
        </p:nvSpPr>
        <p:spPr/>
        <p:txBody>
          <a:bodyPr/>
          <a:lstStyle/>
          <a:p>
            <a:fld id="{6C4304F7-8D10-485E-BC6D-5EF96811EFF4}" type="slidenum">
              <a:rPr lang="zh-TW" altLang="en-US" smtClean="0"/>
              <a:t>15</a:t>
            </a:fld>
            <a:endParaRPr lang="zh-TW" altLang="en-US"/>
          </a:p>
        </p:txBody>
      </p:sp>
    </p:spTree>
    <p:extLst>
      <p:ext uri="{BB962C8B-B14F-4D97-AF65-F5344CB8AC3E}">
        <p14:creationId xmlns:p14="http://schemas.microsoft.com/office/powerpoint/2010/main" val="1010962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175B3-FD8E-1090-C631-65FA86EA7F1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651D73C-D8A4-ECDC-1078-A1EE9CC75DD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E95188-DE52-3D5D-1449-74450B9EDEA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056449B-40CD-E5AA-B65D-345DD190433D}"/>
              </a:ext>
            </a:extLst>
          </p:cNvPr>
          <p:cNvSpPr>
            <a:spLocks noGrp="1"/>
          </p:cNvSpPr>
          <p:nvPr>
            <p:ph type="sldNum" sz="quarter" idx="10"/>
          </p:nvPr>
        </p:nvSpPr>
        <p:spPr/>
        <p:txBody>
          <a:bodyPr/>
          <a:lstStyle/>
          <a:p>
            <a:fld id="{6C4304F7-8D10-485E-BC6D-5EF96811EFF4}" type="slidenum">
              <a:rPr lang="zh-TW" altLang="en-US" smtClean="0"/>
              <a:t>16</a:t>
            </a:fld>
            <a:endParaRPr lang="zh-TW" altLang="en-US"/>
          </a:p>
        </p:txBody>
      </p:sp>
    </p:spTree>
    <p:extLst>
      <p:ext uri="{BB962C8B-B14F-4D97-AF65-F5344CB8AC3E}">
        <p14:creationId xmlns:p14="http://schemas.microsoft.com/office/powerpoint/2010/main" val="2739176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081C-71D3-2E4E-14AE-A262C6D7826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B9D9931B-EACB-7243-E94E-C2687205F39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ED077BE-5CBF-5511-199B-8A084C189CE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EDFF3C5-FB73-8753-0D95-9D59B68F86B2}"/>
              </a:ext>
            </a:extLst>
          </p:cNvPr>
          <p:cNvSpPr>
            <a:spLocks noGrp="1"/>
          </p:cNvSpPr>
          <p:nvPr>
            <p:ph type="sldNum" sz="quarter" idx="10"/>
          </p:nvPr>
        </p:nvSpPr>
        <p:spPr/>
        <p:txBody>
          <a:bodyPr/>
          <a:lstStyle/>
          <a:p>
            <a:fld id="{6C4304F7-8D10-485E-BC6D-5EF96811EFF4}" type="slidenum">
              <a:rPr lang="zh-TW" altLang="en-US" smtClean="0"/>
              <a:t>17</a:t>
            </a:fld>
            <a:endParaRPr lang="zh-TW" altLang="en-US"/>
          </a:p>
        </p:txBody>
      </p:sp>
    </p:spTree>
    <p:extLst>
      <p:ext uri="{BB962C8B-B14F-4D97-AF65-F5344CB8AC3E}">
        <p14:creationId xmlns:p14="http://schemas.microsoft.com/office/powerpoint/2010/main" val="4267626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C4304F7-8D10-485E-BC6D-5EF96811EFF4}" type="slidenum">
              <a:rPr lang="zh-TW" altLang="en-US" smtClean="0"/>
              <a:t>18</a:t>
            </a:fld>
            <a:endParaRPr lang="zh-TW" altLang="en-US"/>
          </a:p>
        </p:txBody>
      </p:sp>
    </p:spTree>
    <p:extLst>
      <p:ext uri="{BB962C8B-B14F-4D97-AF65-F5344CB8AC3E}">
        <p14:creationId xmlns:p14="http://schemas.microsoft.com/office/powerpoint/2010/main" val="3966501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634D-99B9-970A-AB5D-9F5B9621349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A93FFE2-182D-69A5-182A-6766824057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53727E4-1DF6-5257-0D0E-BFF4931B058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210DC2B-A34E-6D7D-9002-DB0BE5A07FF4}"/>
              </a:ext>
            </a:extLst>
          </p:cNvPr>
          <p:cNvSpPr>
            <a:spLocks noGrp="1"/>
          </p:cNvSpPr>
          <p:nvPr>
            <p:ph type="sldNum" sz="quarter" idx="10"/>
          </p:nvPr>
        </p:nvSpPr>
        <p:spPr/>
        <p:txBody>
          <a:bodyPr/>
          <a:lstStyle/>
          <a:p>
            <a:fld id="{6C4304F7-8D10-485E-BC6D-5EF96811EFF4}" type="slidenum">
              <a:rPr lang="zh-TW" altLang="en-US" smtClean="0"/>
              <a:t>19</a:t>
            </a:fld>
            <a:endParaRPr lang="zh-TW" altLang="en-US"/>
          </a:p>
        </p:txBody>
      </p:sp>
    </p:spTree>
    <p:extLst>
      <p:ext uri="{BB962C8B-B14F-4D97-AF65-F5344CB8AC3E}">
        <p14:creationId xmlns:p14="http://schemas.microsoft.com/office/powerpoint/2010/main" val="969450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0C0F-2C2F-FD37-BA38-725F2A75005D}"/>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963561D4-B028-5123-DA49-D9C6C7186C7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F1AC897-7BB4-C703-D0A4-1C802C784F6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6442997-8EA0-35A4-8348-86608479CAC0}"/>
              </a:ext>
            </a:extLst>
          </p:cNvPr>
          <p:cNvSpPr>
            <a:spLocks noGrp="1"/>
          </p:cNvSpPr>
          <p:nvPr>
            <p:ph type="sldNum" sz="quarter" idx="10"/>
          </p:nvPr>
        </p:nvSpPr>
        <p:spPr/>
        <p:txBody>
          <a:bodyPr/>
          <a:lstStyle/>
          <a:p>
            <a:fld id="{6C4304F7-8D10-485E-BC6D-5EF96811EFF4}" type="slidenum">
              <a:rPr lang="zh-TW" altLang="en-US" smtClean="0"/>
              <a:t>20</a:t>
            </a:fld>
            <a:endParaRPr lang="zh-TW" altLang="en-US"/>
          </a:p>
        </p:txBody>
      </p:sp>
    </p:spTree>
    <p:extLst>
      <p:ext uri="{BB962C8B-B14F-4D97-AF65-F5344CB8AC3E}">
        <p14:creationId xmlns:p14="http://schemas.microsoft.com/office/powerpoint/2010/main" val="914968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8BA3A-CEE5-123C-7FF3-5CF666AF8ED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12BCF128-3BA7-C366-9CFD-F5C106FCFD0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A8EB8C-C954-2E27-40DE-9FAB2200B157}"/>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11D0906-636F-6351-6D7D-29B8D40A1527}"/>
              </a:ext>
            </a:extLst>
          </p:cNvPr>
          <p:cNvSpPr>
            <a:spLocks noGrp="1"/>
          </p:cNvSpPr>
          <p:nvPr>
            <p:ph type="sldNum" sz="quarter" idx="10"/>
          </p:nvPr>
        </p:nvSpPr>
        <p:spPr/>
        <p:txBody>
          <a:bodyPr/>
          <a:lstStyle/>
          <a:p>
            <a:fld id="{6C4304F7-8D10-485E-BC6D-5EF96811EFF4}" type="slidenum">
              <a:rPr lang="zh-TW" altLang="en-US" smtClean="0"/>
              <a:t>21</a:t>
            </a:fld>
            <a:endParaRPr lang="zh-TW" altLang="en-US"/>
          </a:p>
        </p:txBody>
      </p:sp>
    </p:spTree>
    <p:extLst>
      <p:ext uri="{BB962C8B-B14F-4D97-AF65-F5344CB8AC3E}">
        <p14:creationId xmlns:p14="http://schemas.microsoft.com/office/powerpoint/2010/main" val="33509204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8193E-2CB0-732A-C8CB-4399821084E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3A63C5B-49A8-2D7F-29F6-14BE2F8FCA9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FD739A-153D-F7A9-9508-321BEB2F9DEA}"/>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BAD2FFD-C3C7-208F-CC62-FA03ED0E3A63}"/>
              </a:ext>
            </a:extLst>
          </p:cNvPr>
          <p:cNvSpPr>
            <a:spLocks noGrp="1"/>
          </p:cNvSpPr>
          <p:nvPr>
            <p:ph type="sldNum" sz="quarter" idx="10"/>
          </p:nvPr>
        </p:nvSpPr>
        <p:spPr/>
        <p:txBody>
          <a:bodyPr/>
          <a:lstStyle/>
          <a:p>
            <a:fld id="{6C4304F7-8D10-485E-BC6D-5EF96811EFF4}" type="slidenum">
              <a:rPr lang="zh-TW" altLang="en-US" smtClean="0"/>
              <a:t>22</a:t>
            </a:fld>
            <a:endParaRPr lang="zh-TW" altLang="en-US"/>
          </a:p>
        </p:txBody>
      </p:sp>
    </p:spTree>
    <p:extLst>
      <p:ext uri="{BB962C8B-B14F-4D97-AF65-F5344CB8AC3E}">
        <p14:creationId xmlns:p14="http://schemas.microsoft.com/office/powerpoint/2010/main" val="287011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EBE55-A62D-87E0-9F5F-947E2A8303B9}"/>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937F9C7-5273-2DB2-9CB3-AAC69CF3BA9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14F9577-005A-AF08-E273-24DCB5AC8F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F839FDC3-0E22-63FE-EF51-1713774F6656}"/>
              </a:ext>
            </a:extLst>
          </p:cNvPr>
          <p:cNvSpPr>
            <a:spLocks noGrp="1"/>
          </p:cNvSpPr>
          <p:nvPr>
            <p:ph type="sldNum" sz="quarter" idx="10"/>
          </p:nvPr>
        </p:nvSpPr>
        <p:spPr/>
        <p:txBody>
          <a:bodyPr/>
          <a:lstStyle/>
          <a:p>
            <a:fld id="{6C4304F7-8D10-485E-BC6D-5EF96811EFF4}" type="slidenum">
              <a:rPr lang="zh-TW" altLang="en-US" smtClean="0"/>
              <a:t>23</a:t>
            </a:fld>
            <a:endParaRPr lang="zh-TW" altLang="en-US"/>
          </a:p>
        </p:txBody>
      </p:sp>
    </p:spTree>
    <p:extLst>
      <p:ext uri="{BB962C8B-B14F-4D97-AF65-F5344CB8AC3E}">
        <p14:creationId xmlns:p14="http://schemas.microsoft.com/office/powerpoint/2010/main" val="2839017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4CC74-AA36-16A1-E673-0453CF831FF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72D9499-65A3-CA58-B949-CBEE7862B10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53995F-6F34-4889-F24F-3FEA82A8773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6024161-7BBA-15DB-C37A-8C8BB6E62AC6}"/>
              </a:ext>
            </a:extLst>
          </p:cNvPr>
          <p:cNvSpPr>
            <a:spLocks noGrp="1"/>
          </p:cNvSpPr>
          <p:nvPr>
            <p:ph type="sldNum" sz="quarter" idx="10"/>
          </p:nvPr>
        </p:nvSpPr>
        <p:spPr/>
        <p:txBody>
          <a:bodyPr/>
          <a:lstStyle/>
          <a:p>
            <a:fld id="{6C4304F7-8D10-485E-BC6D-5EF96811EFF4}" type="slidenum">
              <a:rPr lang="zh-TW" altLang="en-US" smtClean="0"/>
              <a:t>24</a:t>
            </a:fld>
            <a:endParaRPr lang="zh-TW" altLang="en-US"/>
          </a:p>
        </p:txBody>
      </p:sp>
    </p:spTree>
    <p:extLst>
      <p:ext uri="{BB962C8B-B14F-4D97-AF65-F5344CB8AC3E}">
        <p14:creationId xmlns:p14="http://schemas.microsoft.com/office/powerpoint/2010/main" val="19397729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7C1CE-A55E-5702-9901-7864AFE9BC76}"/>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287CACAF-9420-0B06-2B1B-CF0485B032F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8EFCDC9-3C48-4F76-52DF-B1564EA7D55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ACAF1B5F-74F7-6D7A-8C75-F6317DD54185}"/>
              </a:ext>
            </a:extLst>
          </p:cNvPr>
          <p:cNvSpPr>
            <a:spLocks noGrp="1"/>
          </p:cNvSpPr>
          <p:nvPr>
            <p:ph type="sldNum" sz="quarter" idx="10"/>
          </p:nvPr>
        </p:nvSpPr>
        <p:spPr/>
        <p:txBody>
          <a:bodyPr/>
          <a:lstStyle/>
          <a:p>
            <a:fld id="{6C4304F7-8D10-485E-BC6D-5EF96811EFF4}" type="slidenum">
              <a:rPr lang="zh-TW" altLang="en-US" smtClean="0"/>
              <a:t>25</a:t>
            </a:fld>
            <a:endParaRPr lang="zh-TW" altLang="en-US"/>
          </a:p>
        </p:txBody>
      </p:sp>
    </p:spTree>
    <p:extLst>
      <p:ext uri="{BB962C8B-B14F-4D97-AF65-F5344CB8AC3E}">
        <p14:creationId xmlns:p14="http://schemas.microsoft.com/office/powerpoint/2010/main" val="2196874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5A95E-CAC8-F4BA-10FC-1B98EB6ACFAC}"/>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CE8EC0D-E521-2607-095E-320E9EEEE9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EDD11B7-A3BB-38E7-D4FA-478E3F4A6559}"/>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83A7644-CC86-C2CC-9FCF-3710E2C727D2}"/>
              </a:ext>
            </a:extLst>
          </p:cNvPr>
          <p:cNvSpPr>
            <a:spLocks noGrp="1"/>
          </p:cNvSpPr>
          <p:nvPr>
            <p:ph type="sldNum" sz="quarter" idx="10"/>
          </p:nvPr>
        </p:nvSpPr>
        <p:spPr/>
        <p:txBody>
          <a:bodyPr/>
          <a:lstStyle/>
          <a:p>
            <a:fld id="{6C4304F7-8D10-485E-BC6D-5EF96811EFF4}" type="slidenum">
              <a:rPr lang="zh-TW" altLang="en-US" smtClean="0"/>
              <a:t>26</a:t>
            </a:fld>
            <a:endParaRPr lang="zh-TW" altLang="en-US"/>
          </a:p>
        </p:txBody>
      </p:sp>
    </p:spTree>
    <p:extLst>
      <p:ext uri="{BB962C8B-B14F-4D97-AF65-F5344CB8AC3E}">
        <p14:creationId xmlns:p14="http://schemas.microsoft.com/office/powerpoint/2010/main" val="1871220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EA0A-5475-EEB2-3DBD-9E0266394DD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656E531B-DE49-B92C-35E5-EDF61F3055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F4A5AEA-3A63-2AAC-D32D-6D86E3563C5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40CAF4C-BC2C-6938-3C1B-EB75040CD907}"/>
              </a:ext>
            </a:extLst>
          </p:cNvPr>
          <p:cNvSpPr>
            <a:spLocks noGrp="1"/>
          </p:cNvSpPr>
          <p:nvPr>
            <p:ph type="sldNum" sz="quarter" idx="10"/>
          </p:nvPr>
        </p:nvSpPr>
        <p:spPr/>
        <p:txBody>
          <a:bodyPr/>
          <a:lstStyle/>
          <a:p>
            <a:fld id="{6C4304F7-8D10-485E-BC6D-5EF96811EFF4}" type="slidenum">
              <a:rPr lang="zh-TW" altLang="en-US" smtClean="0"/>
              <a:t>27</a:t>
            </a:fld>
            <a:endParaRPr lang="zh-TW" altLang="en-US"/>
          </a:p>
        </p:txBody>
      </p:sp>
    </p:spTree>
    <p:extLst>
      <p:ext uri="{BB962C8B-B14F-4D97-AF65-F5344CB8AC3E}">
        <p14:creationId xmlns:p14="http://schemas.microsoft.com/office/powerpoint/2010/main" val="148387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D65892-75BF-077C-9667-FDF68650EE9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1D4F47E-FE92-7EA6-626D-63BC5EFC92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282827B-945D-B900-E800-ABD99F7A7769}"/>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CF8A9CD0-54CF-7CC9-67FA-EA04435CE3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E17372A-256B-5276-1798-24C5BDEC8E5A}"/>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398764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0254D4-7654-561C-5224-234A89B763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A67A4F5-A5A2-A20E-61DD-E96F305CAD5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C9564BB-D829-3D2E-28FF-8F163904D0D5}"/>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37081143-A819-A272-7D9C-B2DCB942C44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611BAA1-409F-BA83-B4FD-72535F8758F4}"/>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2132359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F66F70-4440-EA8B-0F8D-BC52DF6230F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ABA75BC-3553-2E7F-13FD-90C5E70D5F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AD787AE-FFEC-8428-19A5-9ED9580E10F6}"/>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E08EB7DB-59C6-C924-1297-71E4A27681F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629ED8-33FE-E4B5-CD01-A86932FB645B}"/>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121193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FCAB50-AB99-37D9-FB02-975E6BD28F5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70D661E-E635-528A-9B38-582A693B7B9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665A6BEF-63EA-4846-392A-37A3154554D9}"/>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CD76166-F43C-8376-4A02-D7EF7514434F}"/>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675BE52F-3D71-C514-9FD7-CB6A24A73A7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D2F99A95-2B42-C665-2A29-FE6DC2C98A12}"/>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185453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D70E71-38F3-4A9F-C6BD-B8F0277A982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7C9CB2-EAFF-7289-7320-D1530B7B42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4767C6F-E965-81A0-78F9-55951879932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404912E-B82A-3D96-6AF8-FD2CF28F39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E8A046F4-61A8-7297-7018-63765DDB8B9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122C170-DBA2-8A05-8942-4437A2F1972B}"/>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8" name="頁尾版面配置區 7">
            <a:extLst>
              <a:ext uri="{FF2B5EF4-FFF2-40B4-BE49-F238E27FC236}">
                <a16:creationId xmlns:a16="http://schemas.microsoft.com/office/drawing/2014/main" id="{9254024E-427A-CD44-4C96-CA125D8D458D}"/>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B7882E-9AD3-4BBE-8678-B3E66AAFD108}"/>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2520433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0BEB9F-08EB-1DBB-B630-6F8A5B4E075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D91E034-4FA9-CFDF-8068-67A692CF8070}"/>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4" name="頁尾版面配置區 3">
            <a:extLst>
              <a:ext uri="{FF2B5EF4-FFF2-40B4-BE49-F238E27FC236}">
                <a16:creationId xmlns:a16="http://schemas.microsoft.com/office/drawing/2014/main" id="{9CB5C4D5-620A-94F7-F125-68758E2AC0C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E5C096-2B57-E5AB-BD8B-3406426FF52A}"/>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3395225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FFC41F3-E0A4-FB7E-61EE-EE1B9AC507BB}"/>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3" name="頁尾版面配置區 2">
            <a:extLst>
              <a:ext uri="{FF2B5EF4-FFF2-40B4-BE49-F238E27FC236}">
                <a16:creationId xmlns:a16="http://schemas.microsoft.com/office/drawing/2014/main" id="{FB77475A-32B5-03DC-7C8B-9BC0F0E68B7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64B821F-16B9-C508-664B-A71061E1A9F1}"/>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46291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EC5E2-5C3D-5A36-CF42-47200001C61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708BFE2-FB45-27C6-83DC-B955C638D8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B8714E5-EE19-F164-71B7-C79D9B68C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32EDB97-4BFC-8FC2-E718-98CE0B92B8F0}"/>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1D4F4CB5-A096-9C67-8EBE-5402AA9F12B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89398D2-DAB9-4F96-2350-B0A9FAB7A5CA}"/>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2582541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002B25E-169A-E603-5DA4-BEC4511BFBC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C3A0F6D9-ABD6-0BD4-D2C1-4AB7C1C7D6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BF1C805-6BA8-5FB6-D0A5-7238DA988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E203BD44-F881-C715-D80B-0CA747A5C03E}"/>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6" name="頁尾版面配置區 5">
            <a:extLst>
              <a:ext uri="{FF2B5EF4-FFF2-40B4-BE49-F238E27FC236}">
                <a16:creationId xmlns:a16="http://schemas.microsoft.com/office/drawing/2014/main" id="{2EE5A522-7C75-A5BB-0113-BC29035135B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83E75FE-2F46-B71F-BC06-49D12234445D}"/>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2035050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BCB9A7-6118-4872-15A2-E5EAE789AC9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034A551-B553-5DC9-8B2B-3840DD6F355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CC4FC6B-1A0B-0D16-B251-F87EF268AA5C}"/>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044BA21B-7499-65E9-CC9B-57BCCBD5CD8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5D122D-C397-7A05-9A0C-C3B6392D5E8C}"/>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3268404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3540553-1413-C8DB-A6F9-9D9342E2905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04649786-A6FF-29BC-6BDB-AECF38EFDF38}"/>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8902C3C-027C-8103-8134-34049B4F0CB3}"/>
              </a:ext>
            </a:extLst>
          </p:cNvPr>
          <p:cNvSpPr>
            <a:spLocks noGrp="1"/>
          </p:cNvSpPr>
          <p:nvPr>
            <p:ph type="dt" sz="half" idx="10"/>
          </p:nvPr>
        </p:nvSpPr>
        <p:spPr/>
        <p:txBody>
          <a:body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F9571F2C-DA97-C7B7-7183-25FF83D8F85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B1E3776-BE57-A6C0-FC2D-15ECE9E2022A}"/>
              </a:ext>
            </a:extLst>
          </p:cNvPr>
          <p:cNvSpPr>
            <a:spLocks noGrp="1"/>
          </p:cNvSpPr>
          <p:nvPr>
            <p:ph type="sldNum" sz="quarter" idx="12"/>
          </p:nvPr>
        </p:nvSpPr>
        <p:spPr/>
        <p:txBody>
          <a:body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3634282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065FA83-BFAC-E214-75EA-31E7405814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037273C-419D-0052-24EE-33A5AABE0A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D642CD2-E736-82BD-5A53-3856FC905B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32371-FCDE-4F12-92DF-6A564AE6E516}" type="datetimeFigureOut">
              <a:rPr lang="zh-TW" altLang="en-US" smtClean="0"/>
              <a:t>2026/3/5</a:t>
            </a:fld>
            <a:endParaRPr lang="zh-TW" altLang="en-US"/>
          </a:p>
        </p:txBody>
      </p:sp>
      <p:sp>
        <p:nvSpPr>
          <p:cNvPr id="5" name="頁尾版面配置區 4">
            <a:extLst>
              <a:ext uri="{FF2B5EF4-FFF2-40B4-BE49-F238E27FC236}">
                <a16:creationId xmlns:a16="http://schemas.microsoft.com/office/drawing/2014/main" id="{A4A8750D-C4F3-C667-FE3C-97BC3810F4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9BBB117-A31B-0DE5-C71D-6A5E81545E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06524-FB20-4E72-97BF-A49E9E5A4634}" type="slidenum">
              <a:rPr lang="zh-TW" altLang="en-US" smtClean="0"/>
              <a:t>‹#›</a:t>
            </a:fld>
            <a:endParaRPr lang="zh-TW" altLang="en-US"/>
          </a:p>
        </p:txBody>
      </p:sp>
    </p:spTree>
    <p:extLst>
      <p:ext uri="{BB962C8B-B14F-4D97-AF65-F5344CB8AC3E}">
        <p14:creationId xmlns:p14="http://schemas.microsoft.com/office/powerpoint/2010/main" val="3103779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24.emf"/></Relationships>
</file>

<file path=ppt/slides/_rels/slide2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6.emf"/></Relationships>
</file>

<file path=ppt/slides/_rels/slide2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2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3"/>
          <p:cNvSpPr txBox="1"/>
          <p:nvPr/>
        </p:nvSpPr>
        <p:spPr>
          <a:xfrm>
            <a:off x="2327743" y="716692"/>
            <a:ext cx="7536513" cy="830960"/>
          </a:xfrm>
          <a:prstGeom prst="rect">
            <a:avLst/>
          </a:prstGeom>
          <a:noFill/>
          <a:effectLst/>
        </p:spPr>
        <p:txBody>
          <a:bodyPr wrap="square" lIns="91403" tIns="45702" rIns="91403" bIns="45702">
            <a:spAutoFit/>
          </a:bodyPr>
          <a:lstStyle/>
          <a:p>
            <a:pPr algn="ctr" defTabSz="913996" fontAlgn="auto">
              <a:spcBef>
                <a:spcPts val="0"/>
              </a:spcBef>
              <a:spcAft>
                <a:spcPts val="0"/>
              </a:spcAft>
              <a:defRPr/>
            </a:pPr>
            <a:r>
              <a:rPr lang="en-US" altLang="zh-TW" sz="4800" b="1" dirty="0">
                <a:ln w="19050">
                  <a:noFill/>
                </a:ln>
                <a:solidFill>
                  <a:schemeClr val="accent4"/>
                </a:solidFill>
                <a:latin typeface="微软雅黑" panose="020B0503020204020204" pitchFamily="34" charset="-122"/>
                <a:ea typeface="微软雅黑" panose="020B0503020204020204" pitchFamily="34" charset="-122"/>
              </a:rPr>
              <a:t>M</a:t>
            </a:r>
            <a:r>
              <a:rPr lang="en-US" altLang="zh-TW" sz="4800" b="1" dirty="0">
                <a:ln w="19050">
                  <a:noFill/>
                </a:ln>
                <a:solidFill>
                  <a:srgbClr val="44ADCB"/>
                </a:solidFill>
                <a:latin typeface="微软雅黑" panose="020B0503020204020204" pitchFamily="34" charset="-122"/>
                <a:ea typeface="微软雅黑" panose="020B0503020204020204" pitchFamily="34" charset="-122"/>
              </a:rPr>
              <a:t>ediaCore Lab</a:t>
            </a:r>
          </a:p>
        </p:txBody>
      </p:sp>
      <p:sp>
        <p:nvSpPr>
          <p:cNvPr id="2" name="TextBox 3">
            <a:extLst>
              <a:ext uri="{FF2B5EF4-FFF2-40B4-BE49-F238E27FC236}">
                <a16:creationId xmlns:a16="http://schemas.microsoft.com/office/drawing/2014/main" id="{D59B92E0-9576-D533-5BE2-81ECF2C4FB7B}"/>
              </a:ext>
            </a:extLst>
          </p:cNvPr>
          <p:cNvSpPr txBox="1"/>
          <p:nvPr/>
        </p:nvSpPr>
        <p:spPr>
          <a:xfrm>
            <a:off x="2327742" y="3672182"/>
            <a:ext cx="7536513" cy="2653062"/>
          </a:xfrm>
          <a:prstGeom prst="rect">
            <a:avLst/>
          </a:prstGeom>
          <a:noFill/>
          <a:effectLst/>
        </p:spPr>
        <p:txBody>
          <a:bodyPr wrap="square" lIns="91403" tIns="45702" rIns="91403" bIns="45702">
            <a:spAutoFit/>
          </a:bodyPr>
          <a:lstStyle/>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Department of Electrical Engineering</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National Yunlin University of Science and Technology</a:t>
            </a:r>
          </a:p>
          <a:p>
            <a:pPr algn="ctr" defTabSz="913996" fontAlgn="auto">
              <a:spcBef>
                <a:spcPts val="0"/>
              </a:spcBef>
              <a:spcAft>
                <a:spcPts val="0"/>
              </a:spcAft>
              <a:defRPr/>
            </a:pPr>
            <a:endPar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endParaRP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Lecturer : OOO</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Advisor : Ting-An Chang</a:t>
            </a:r>
          </a:p>
          <a:p>
            <a:pPr algn="ctr" defTabSz="913996" fontAlgn="auto">
              <a:lnSpc>
                <a:spcPct val="150000"/>
              </a:lnSpc>
              <a:spcBef>
                <a:spcPts val="0"/>
              </a:spcBef>
              <a:spcAft>
                <a:spcPts val="0"/>
              </a:spcAft>
              <a:defRPr/>
            </a:pPr>
            <a:r>
              <a:rPr lang="en-US" altLang="zh-TW" sz="2000" dirty="0">
                <a:ln w="19050">
                  <a:noFill/>
                </a:ln>
                <a:latin typeface="Times New Roman" panose="02020603050405020304" pitchFamily="18" charset="0"/>
                <a:ea typeface="微软雅黑" panose="020B0503020204020204" pitchFamily="34" charset="-122"/>
                <a:cs typeface="Times New Roman" panose="02020603050405020304" pitchFamily="18" charset="0"/>
              </a:rPr>
              <a:t>2026.03.09</a:t>
            </a:r>
          </a:p>
        </p:txBody>
      </p:sp>
      <p:sp>
        <p:nvSpPr>
          <p:cNvPr id="4" name="TextBox 3"/>
          <p:cNvSpPr txBox="1"/>
          <p:nvPr/>
        </p:nvSpPr>
        <p:spPr>
          <a:xfrm>
            <a:off x="2327742" y="1501282"/>
            <a:ext cx="7907639" cy="2246733"/>
          </a:xfrm>
          <a:prstGeom prst="rect">
            <a:avLst/>
          </a:prstGeom>
          <a:noFill/>
          <a:effectLst/>
        </p:spPr>
        <p:txBody>
          <a:bodyPr wrap="square" lIns="91403" tIns="45702" rIns="91403" bIns="45702">
            <a:spAutoFit/>
          </a:bodyPr>
          <a:lstStyle/>
          <a:p>
            <a:pPr algn="ctr"/>
            <a:r>
              <a:rPr lang="en-US" altLang="zh-TW" sz="3600" b="1" dirty="0">
                <a:ln w="19050">
                  <a:noFill/>
                </a:ln>
                <a:solidFill>
                  <a:srgbClr val="3FABC9"/>
                </a:solidFill>
                <a:latin typeface="微软雅黑" panose="020B0503020204020204" pitchFamily="34" charset="-122"/>
                <a:ea typeface="微软雅黑" panose="020B0503020204020204" pitchFamily="34" charset="-122"/>
              </a:rPr>
              <a:t>Study of Knowledge Distillation Based on Various</a:t>
            </a:r>
            <a:r>
              <a:rPr lang="zh-TW" altLang="en-US" sz="3600" b="1" dirty="0">
                <a:ln w="19050">
                  <a:noFill/>
                </a:ln>
                <a:solidFill>
                  <a:srgbClr val="3FABC9"/>
                </a:solidFill>
                <a:latin typeface="微软雅黑" panose="020B0503020204020204" pitchFamily="34" charset="-122"/>
                <a:ea typeface="微软雅黑" panose="020B0503020204020204" pitchFamily="34" charset="-122"/>
              </a:rPr>
              <a:t> </a:t>
            </a:r>
            <a:r>
              <a:rPr lang="en-US" altLang="zh-TW" sz="3600" b="1" dirty="0">
                <a:ln w="19050">
                  <a:noFill/>
                </a:ln>
                <a:solidFill>
                  <a:srgbClr val="3FABC9"/>
                </a:solidFill>
                <a:latin typeface="微软雅黑" panose="020B0503020204020204" pitchFamily="34" charset="-122"/>
                <a:ea typeface="微软雅黑" panose="020B0503020204020204" pitchFamily="34" charset="-122"/>
              </a:rPr>
              <a:t>Teacher Model Architectures</a:t>
            </a:r>
          </a:p>
          <a:p>
            <a:pPr algn="ctr"/>
            <a:r>
              <a:rPr lang="zh-TW" altLang="en-US" sz="3200" dirty="0">
                <a:solidFill>
                  <a:srgbClr val="1F1F1F"/>
                </a:solidFill>
                <a:latin typeface="ElsevierGulliver"/>
              </a:rPr>
              <a:t>基於不同教師模型架構進行知識蒸餾之研究</a:t>
            </a:r>
            <a:endParaRPr lang="en-US" altLang="zh-TW" sz="3200" dirty="0">
              <a:solidFill>
                <a:srgbClr val="1F1F1F"/>
              </a:solidFill>
              <a:latin typeface="ElsevierGulliver"/>
            </a:endParaRPr>
          </a:p>
        </p:txBody>
      </p:sp>
    </p:spTree>
    <p:extLst>
      <p:ext uri="{BB962C8B-B14F-4D97-AF65-F5344CB8AC3E}">
        <p14:creationId xmlns:p14="http://schemas.microsoft.com/office/powerpoint/2010/main" val="2827891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5" y="354451"/>
            <a:ext cx="17461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TW" sz="2800" b="1" dirty="0">
                <a:latin typeface="微软雅黑" pitchFamily="34" charset="-122"/>
                <a:ea typeface="微软雅黑" pitchFamily="34" charset="-122"/>
              </a:rPr>
              <a:t>Outline</a:t>
            </a:r>
          </a:p>
        </p:txBody>
      </p:sp>
      <p:cxnSp>
        <p:nvCxnSpPr>
          <p:cNvPr id="13" name="直接连接符 51"/>
          <p:cNvCxnSpPr>
            <a:cxnSpLocks/>
            <a:endCxn id="12" idx="3"/>
          </p:cNvCxnSpPr>
          <p:nvPr/>
        </p:nvCxnSpPr>
        <p:spPr>
          <a:xfrm flipH="1" flipV="1">
            <a:off x="3090333" y="616061"/>
            <a:ext cx="8816356"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2248821"/>
          </a:xfrm>
          <a:prstGeom prst="rect">
            <a:avLst/>
          </a:prstGeom>
        </p:spPr>
        <p:txBody>
          <a:bodyPr wrap="square">
            <a:spAutoFit/>
          </a:bodyPr>
          <a:lstStyle/>
          <a:p>
            <a:pPr marL="285750" lvl="1" indent="-285750" algn="just">
              <a:lnSpc>
                <a:spcPct val="150000"/>
              </a:lnSpc>
              <a:buClr>
                <a:srgbClr val="35A0BD"/>
              </a:buClr>
              <a:buFont typeface="Wingdings" panose="05000000000000000000" pitchFamily="2" charset="2"/>
              <a:buChar char="l"/>
            </a:pPr>
            <a:r>
              <a:rPr lang="zh-TW" altLang="en-US" sz="2400" dirty="0">
                <a:latin typeface="標楷體" panose="03000509000000000000" pitchFamily="65" charset="-120"/>
                <a:ea typeface="標楷體" panose="03000509000000000000" pitchFamily="65" charset="-120"/>
              </a:rPr>
              <a:t>研究目的</a:t>
            </a:r>
            <a:endParaRPr lang="en-US" altLang="zh-TW" sz="2400" dirty="0">
              <a:latin typeface="標楷體" panose="03000509000000000000" pitchFamily="65" charset="-120"/>
              <a:ea typeface="標楷體" panose="03000509000000000000" pitchFamily="65" charset="-120"/>
            </a:endParaRPr>
          </a:p>
          <a:p>
            <a:pPr marL="285750" lvl="1" indent="-285750" algn="just">
              <a:lnSpc>
                <a:spcPct val="150000"/>
              </a:lnSpc>
              <a:buClr>
                <a:srgbClr val="35A0BD"/>
              </a:buClr>
              <a:buFont typeface="Wingdings" panose="05000000000000000000" pitchFamily="2" charset="2"/>
              <a:buChar char="l"/>
            </a:pPr>
            <a:r>
              <a:rPr lang="zh-TW" altLang="en-US" sz="2400" dirty="0">
                <a:latin typeface="標楷體" panose="03000509000000000000" pitchFamily="65" charset="-120"/>
                <a:ea typeface="標楷體" panose="03000509000000000000" pitchFamily="65" charset="-120"/>
              </a:rPr>
              <a:t>相關技術</a:t>
            </a:r>
            <a:endParaRPr lang="en-US" altLang="zh-TW" sz="2400" dirty="0">
              <a:latin typeface="標楷體" panose="03000509000000000000" pitchFamily="65" charset="-120"/>
              <a:ea typeface="標楷體" panose="03000509000000000000" pitchFamily="65" charset="-120"/>
            </a:endParaRPr>
          </a:p>
          <a:p>
            <a:pPr marL="342900" lvl="1" indent="-342900" algn="just">
              <a:lnSpc>
                <a:spcPct val="150000"/>
              </a:lnSpc>
              <a:buClr>
                <a:srgbClr val="35A0BD"/>
              </a:buClr>
              <a:buFont typeface="Wingdings" panose="05000000000000000000" pitchFamily="2" charset="2"/>
              <a:buChar char="l"/>
            </a:pPr>
            <a:r>
              <a:rPr lang="zh-TW" altLang="en-US" sz="2400" dirty="0">
                <a:latin typeface="標楷體" panose="03000509000000000000" pitchFamily="65" charset="-120"/>
                <a:ea typeface="標楷體" panose="03000509000000000000" pitchFamily="65" charset="-120"/>
              </a:rPr>
              <a:t>研究方法</a:t>
            </a:r>
            <a:endParaRPr lang="en-US" altLang="zh-TW" sz="2400" dirty="0">
              <a:latin typeface="標楷體" panose="03000509000000000000" pitchFamily="65" charset="-120"/>
              <a:ea typeface="標楷體" panose="03000509000000000000" pitchFamily="65" charset="-120"/>
            </a:endParaRPr>
          </a:p>
          <a:p>
            <a:pPr marL="342900" lvl="1" indent="-342900" algn="just">
              <a:lnSpc>
                <a:spcPct val="150000"/>
              </a:lnSpc>
              <a:buClr>
                <a:srgbClr val="35A0BD"/>
              </a:buClr>
              <a:buFont typeface="Wingdings" panose="05000000000000000000" pitchFamily="2" charset="2"/>
              <a:buChar char="l"/>
            </a:pPr>
            <a:r>
              <a:rPr lang="zh-TW" altLang="en-US" sz="2400" dirty="0">
                <a:latin typeface="標楷體" panose="03000509000000000000" pitchFamily="65" charset="-120"/>
                <a:ea typeface="標楷體" panose="03000509000000000000" pitchFamily="65" charset="-120"/>
              </a:rPr>
              <a:t>實驗結果</a:t>
            </a:r>
            <a:endParaRPr lang="en-US" altLang="zh-TW" sz="2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48541006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5" y="354451"/>
            <a:ext cx="2542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研究目的</a:t>
            </a:r>
            <a:endParaRPr lang="en-US" altLang="zh-TW" sz="2800" b="1" dirty="0">
              <a:latin typeface="微软雅黑" pitchFamily="34" charset="-122"/>
              <a:ea typeface="微软雅黑" pitchFamily="34" charset="-122"/>
            </a:endParaRPr>
          </a:p>
        </p:txBody>
      </p:sp>
      <p:cxnSp>
        <p:nvCxnSpPr>
          <p:cNvPr id="13" name="直接连接符 51"/>
          <p:cNvCxnSpPr>
            <a:cxnSpLocks/>
            <a:endCxn id="12" idx="3"/>
          </p:cNvCxnSpPr>
          <p:nvPr/>
        </p:nvCxnSpPr>
        <p:spPr>
          <a:xfrm flipH="1" flipV="1">
            <a:off x="3886200" y="616061"/>
            <a:ext cx="80204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3</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646331"/>
          </a:xfrm>
          <a:prstGeom prst="rect">
            <a:avLst/>
          </a:prstGeom>
        </p:spPr>
        <p:txBody>
          <a:bodyPr wrap="square">
            <a:spAutoFit/>
          </a:bodyPr>
          <a:lstStyle/>
          <a:p>
            <a:r>
              <a:rPr lang="zh-TW" altLang="en-US" dirty="0">
                <a:latin typeface="標楷體" panose="03000509000000000000" pitchFamily="65" charset="-120"/>
                <a:ea typeface="標楷體" panose="03000509000000000000" pitchFamily="65" charset="-120"/>
              </a:rPr>
              <a:t>知識蒸餾是抽取複雜教師模型訓練出的精華為另一個簡單學生模型所用，讓學生模型也能達到跟教師模型一樣的效果。</a:t>
            </a:r>
            <a:endParaRPr lang="en-US" altLang="zh-TW" sz="32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0796299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6" y="354451"/>
            <a:ext cx="27791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相關技術 剪枝</a:t>
            </a:r>
            <a:endParaRPr lang="en-US" altLang="zh-TW" sz="2800" b="1" dirty="0">
              <a:latin typeface="微软雅黑" pitchFamily="34" charset="-122"/>
              <a:ea typeface="微软雅黑" pitchFamily="34" charset="-122"/>
            </a:endParaRPr>
          </a:p>
        </p:txBody>
      </p:sp>
      <p:cxnSp>
        <p:nvCxnSpPr>
          <p:cNvPr id="13" name="直接连接符 51"/>
          <p:cNvCxnSpPr>
            <a:cxnSpLocks/>
            <a:endCxn id="12" idx="3"/>
          </p:cNvCxnSpPr>
          <p:nvPr/>
        </p:nvCxnSpPr>
        <p:spPr>
          <a:xfrm flipH="1" flipV="1">
            <a:off x="4123268" y="616061"/>
            <a:ext cx="7783422"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4</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1015663"/>
          </a:xfrm>
          <a:prstGeom prst="rect">
            <a:avLst/>
          </a:prstGeom>
        </p:spPr>
        <p:txBody>
          <a:bodyPr wrap="square">
            <a:spAutoFit/>
          </a:bodyPr>
          <a:lstStyle/>
          <a:p>
            <a:pPr marL="342900" indent="-34290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剪枝是透過刪除神經網路中對準確率影響不大的參數，降低模型體積的目的。神經網路剪枝概念如圖所示，通常分為權重剪枝和連結剪枝。</a:t>
            </a:r>
            <a:endParaRPr lang="en-US" altLang="zh-TW" sz="2000" dirty="0">
              <a:latin typeface="標楷體" panose="03000509000000000000" pitchFamily="65" charset="-120"/>
              <a:ea typeface="標楷體" panose="03000509000000000000" pitchFamily="65" charset="-120"/>
            </a:endParaRPr>
          </a:p>
          <a:p>
            <a:pPr marL="342900" indent="-342900" algn="just">
              <a:buFont typeface="Arial" panose="020B0604020202020204" pitchFamily="34" charset="0"/>
              <a:buChar char="•"/>
            </a:pPr>
            <a:r>
              <a:rPr lang="zh-TW" altLang="en-US" sz="2000" dirty="0">
                <a:solidFill>
                  <a:srgbClr val="FF0000"/>
                </a:solidFill>
                <a:latin typeface="標楷體" panose="03000509000000000000" pitchFamily="65" charset="-120"/>
                <a:ea typeface="標楷體" panose="03000509000000000000" pitchFamily="65" charset="-120"/>
              </a:rPr>
              <a:t>去除對準確率 不影響的參數</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3" name="圖片 2" descr="一張含有 圖表, 設計, 樣式 的圖片&#10;&#10;AI 產生的內容可能不正確。">
            <a:extLst>
              <a:ext uri="{FF2B5EF4-FFF2-40B4-BE49-F238E27FC236}">
                <a16:creationId xmlns:a16="http://schemas.microsoft.com/office/drawing/2014/main" id="{87B1021C-D870-80EC-823E-D42EDDCB9054}"/>
              </a:ext>
            </a:extLst>
          </p:cNvPr>
          <p:cNvPicPr>
            <a:picLocks noChangeAspect="1"/>
          </p:cNvPicPr>
          <p:nvPr/>
        </p:nvPicPr>
        <p:blipFill>
          <a:blip r:embed="rId3"/>
          <a:stretch>
            <a:fillRect/>
          </a:stretch>
        </p:blipFill>
        <p:spPr>
          <a:xfrm>
            <a:off x="2109231" y="2437565"/>
            <a:ext cx="7973538" cy="3162741"/>
          </a:xfrm>
          <a:prstGeom prst="rect">
            <a:avLst/>
          </a:prstGeom>
        </p:spPr>
      </p:pic>
    </p:spTree>
    <p:extLst>
      <p:ext uri="{BB962C8B-B14F-4D97-AF65-F5344CB8AC3E}">
        <p14:creationId xmlns:p14="http://schemas.microsoft.com/office/powerpoint/2010/main" val="41814868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5" y="354451"/>
            <a:ext cx="37612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相關技術 量化</a:t>
            </a:r>
            <a:endParaRPr lang="en-US" altLang="zh-TW" sz="2800" b="1" dirty="0">
              <a:latin typeface="微软雅黑" pitchFamily="34" charset="-122"/>
              <a:ea typeface="微软雅黑" pitchFamily="34" charset="-122"/>
            </a:endParaRPr>
          </a:p>
        </p:txBody>
      </p:sp>
      <p:cxnSp>
        <p:nvCxnSpPr>
          <p:cNvPr id="13" name="直接连接符 51"/>
          <p:cNvCxnSpPr>
            <a:cxnSpLocks/>
            <a:endCxn id="12" idx="3"/>
          </p:cNvCxnSpPr>
          <p:nvPr/>
        </p:nvCxnSpPr>
        <p:spPr>
          <a:xfrm flipH="1" flipV="1">
            <a:off x="5105400" y="616061"/>
            <a:ext cx="68012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5</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1323439"/>
          </a:xfrm>
          <a:prstGeom prst="rect">
            <a:avLst/>
          </a:prstGeom>
        </p:spPr>
        <p:txBody>
          <a:bodyPr wrap="square">
            <a:spAutoFit/>
          </a:bodyPr>
          <a:lstStyle/>
          <a:p>
            <a:pPr marL="342900" indent="-34290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量化</a:t>
            </a:r>
            <a:r>
              <a:rPr lang="en-US" altLang="zh-TW" sz="2000" dirty="0">
                <a:latin typeface="標楷體" panose="03000509000000000000" pitchFamily="65" charset="-120"/>
                <a:ea typeface="標楷體" panose="03000509000000000000" pitchFamily="65" charset="-120"/>
              </a:rPr>
              <a:t>(Quantization)</a:t>
            </a:r>
            <a:r>
              <a:rPr lang="zh-TW" altLang="en-US" sz="2000" dirty="0">
                <a:latin typeface="標楷體" panose="03000509000000000000" pitchFamily="65" charset="-120"/>
                <a:ea typeface="標楷體" panose="03000509000000000000" pitchFamily="65" charset="-120"/>
              </a:rPr>
              <a:t>是透過減少權重的大小來壓縮模型。量化以</a:t>
            </a:r>
            <a:r>
              <a:rPr lang="zh-TW" altLang="en-US" sz="2000" b="1" dirty="0">
                <a:solidFill>
                  <a:srgbClr val="FF0000"/>
                </a:solidFill>
                <a:latin typeface="標楷體" panose="03000509000000000000" pitchFamily="65" charset="-120"/>
                <a:ea typeface="標楷體" panose="03000509000000000000" pitchFamily="65" charset="-120"/>
              </a:rPr>
              <a:t>犧牲精度</a:t>
            </a:r>
            <a:r>
              <a:rPr lang="zh-TW" altLang="en-US" sz="2000" dirty="0">
                <a:latin typeface="標楷體" panose="03000509000000000000" pitchFamily="65" charset="-120"/>
                <a:ea typeface="標楷體" panose="03000509000000000000" pitchFamily="65" charset="-120"/>
              </a:rPr>
              <a:t>為代價，將神經網路中連續或離散的浮點參數線性</a:t>
            </a:r>
            <a:r>
              <a:rPr lang="zh-TW" altLang="en-US" sz="2000" b="1" dirty="0">
                <a:solidFill>
                  <a:srgbClr val="FF0000"/>
                </a:solidFill>
                <a:latin typeface="標楷體" panose="03000509000000000000" pitchFamily="65" charset="-120"/>
                <a:ea typeface="標楷體" panose="03000509000000000000" pitchFamily="65" charset="-120"/>
              </a:rPr>
              <a:t>映射到定點數</a:t>
            </a:r>
            <a:r>
              <a:rPr lang="zh-TW" altLang="en-US" sz="2000" dirty="0">
                <a:latin typeface="標楷體" panose="03000509000000000000" pitchFamily="65" charset="-120"/>
                <a:ea typeface="標楷體" panose="03000509000000000000" pitchFamily="65" charset="-120"/>
              </a:rPr>
              <a:t>，降低資料儲存，達到減少模型體積大小的效果。</a:t>
            </a:r>
            <a:r>
              <a:rPr lang="en-US" altLang="zh-TW" sz="2000" dirty="0">
                <a:latin typeface="標楷體" panose="03000509000000000000" pitchFamily="65" charset="-120"/>
                <a:ea typeface="標楷體" panose="03000509000000000000" pitchFamily="65" charset="-120"/>
              </a:rPr>
              <a:t>Benoit Jacob </a:t>
            </a:r>
            <a:r>
              <a:rPr lang="zh-TW" altLang="en-US" sz="2000" dirty="0">
                <a:latin typeface="標楷體" panose="03000509000000000000" pitchFamily="65" charset="-120"/>
                <a:ea typeface="標楷體" panose="03000509000000000000" pitchFamily="65" charset="-120"/>
              </a:rPr>
              <a:t>將資料壓縮到</a:t>
            </a:r>
            <a:r>
              <a:rPr lang="en-US" altLang="zh-TW" sz="2000" dirty="0">
                <a:latin typeface="標楷體" panose="03000509000000000000" pitchFamily="65" charset="-120"/>
                <a:ea typeface="標楷體" panose="03000509000000000000" pitchFamily="65" charset="-120"/>
              </a:rPr>
              <a:t>int8</a:t>
            </a:r>
            <a:r>
              <a:rPr lang="zh-TW" altLang="en-US" sz="2000" dirty="0">
                <a:latin typeface="標楷體" panose="03000509000000000000" pitchFamily="65" charset="-120"/>
                <a:ea typeface="標楷體" panose="03000509000000000000" pitchFamily="65" charset="-120"/>
              </a:rPr>
              <a:t>，因為</a:t>
            </a:r>
            <a:r>
              <a:rPr lang="en-US" altLang="zh-TW" sz="2000" dirty="0">
                <a:latin typeface="標楷體" panose="03000509000000000000" pitchFamily="65" charset="-120"/>
                <a:ea typeface="標楷體" panose="03000509000000000000" pitchFamily="65" charset="-120"/>
              </a:rPr>
              <a:t>int8 </a:t>
            </a:r>
            <a:r>
              <a:rPr lang="zh-TW" altLang="en-US" sz="2000" dirty="0">
                <a:latin typeface="標楷體" panose="03000509000000000000" pitchFamily="65" charset="-120"/>
                <a:ea typeface="標楷體" panose="03000509000000000000" pitchFamily="65" charset="-120"/>
              </a:rPr>
              <a:t>可以相對完整覆蓋大部分的模型權重值，以</a:t>
            </a:r>
            <a:r>
              <a:rPr lang="en-US" altLang="zh-TW" sz="2000" dirty="0">
                <a:latin typeface="標楷體" panose="03000509000000000000" pitchFamily="65" charset="-120"/>
                <a:ea typeface="標楷體" panose="03000509000000000000" pitchFamily="65" charset="-120"/>
              </a:rPr>
              <a:t>float32 </a:t>
            </a:r>
            <a:r>
              <a:rPr lang="zh-TW" altLang="en-US" sz="2000" dirty="0">
                <a:latin typeface="標楷體" panose="03000509000000000000" pitchFamily="65" charset="-120"/>
                <a:ea typeface="標楷體" panose="03000509000000000000" pitchFamily="65" charset="-120"/>
              </a:rPr>
              <a:t>為例，壓縮到</a:t>
            </a:r>
            <a:r>
              <a:rPr lang="en-US" altLang="zh-TW" sz="2000" dirty="0">
                <a:latin typeface="標楷體" panose="03000509000000000000" pitchFamily="65" charset="-120"/>
                <a:ea typeface="標楷體" panose="03000509000000000000" pitchFamily="65" charset="-120"/>
              </a:rPr>
              <a:t>int8 </a:t>
            </a:r>
            <a:r>
              <a:rPr lang="zh-TW" altLang="en-US" sz="2000" dirty="0">
                <a:latin typeface="標楷體" panose="03000509000000000000" pitchFamily="65" charset="-120"/>
                <a:ea typeface="標楷體" panose="03000509000000000000" pitchFamily="65" charset="-120"/>
              </a:rPr>
              <a:t>可以減少</a:t>
            </a:r>
            <a:r>
              <a:rPr lang="zh-TW" altLang="en-US" sz="2000" b="1" dirty="0">
                <a:solidFill>
                  <a:srgbClr val="FF0000"/>
                </a:solidFill>
                <a:latin typeface="標楷體" panose="03000509000000000000" pitchFamily="65" charset="-120"/>
                <a:ea typeface="標楷體" panose="03000509000000000000" pitchFamily="65" charset="-120"/>
              </a:rPr>
              <a:t>百分之七十五</a:t>
            </a:r>
            <a:r>
              <a:rPr lang="zh-TW" altLang="en-US" sz="2000" dirty="0">
                <a:latin typeface="標楷體" panose="03000509000000000000" pitchFamily="65" charset="-120"/>
                <a:ea typeface="標楷體" panose="03000509000000000000" pitchFamily="65" charset="-120"/>
              </a:rPr>
              <a:t>的儲存空間，大幅度降低了模型體積。</a:t>
            </a:r>
            <a:endParaRPr lang="en-US" altLang="zh-TW" sz="2000" dirty="0">
              <a:latin typeface="標楷體" panose="03000509000000000000" pitchFamily="65" charset="-120"/>
              <a:ea typeface="標楷體" panose="03000509000000000000" pitchFamily="65" charset="-120"/>
            </a:endParaRPr>
          </a:p>
        </p:txBody>
      </p:sp>
      <p:pic>
        <p:nvPicPr>
          <p:cNvPr id="3" name="圖片 2" descr="一張含有 圖表, 行, 繪圖 的圖片&#10;&#10;AI 產生的內容可能不正確。">
            <a:extLst>
              <a:ext uri="{FF2B5EF4-FFF2-40B4-BE49-F238E27FC236}">
                <a16:creationId xmlns:a16="http://schemas.microsoft.com/office/drawing/2014/main" id="{E81AB9D5-AD99-25C0-AA14-D451D14D655F}"/>
              </a:ext>
            </a:extLst>
          </p:cNvPr>
          <p:cNvPicPr>
            <a:picLocks noChangeAspect="1"/>
          </p:cNvPicPr>
          <p:nvPr/>
        </p:nvPicPr>
        <p:blipFill>
          <a:blip r:embed="rId3"/>
          <a:stretch>
            <a:fillRect/>
          </a:stretch>
        </p:blipFill>
        <p:spPr>
          <a:xfrm>
            <a:off x="2123520" y="2982973"/>
            <a:ext cx="7944959" cy="2838846"/>
          </a:xfrm>
          <a:prstGeom prst="rect">
            <a:avLst/>
          </a:prstGeom>
        </p:spPr>
      </p:pic>
    </p:spTree>
    <p:extLst>
      <p:ext uri="{BB962C8B-B14F-4D97-AF65-F5344CB8AC3E}">
        <p14:creationId xmlns:p14="http://schemas.microsoft.com/office/powerpoint/2010/main" val="40435793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43C0-17AD-E44C-0614-CA18871E504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4964229B-4071-5AB5-1F5C-8F0413E2080E}"/>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0A254146-E0E6-38BE-2806-0A8EEA914694}"/>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466EEB3A-8BA4-E4AC-BF1D-2BBF36294AB5}"/>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67135CA8-D6FC-D7BF-51F1-476AE0292916}"/>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4B19A785-1CFA-9E14-9B61-513F1593AAD0}"/>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D8239FB9-4BB6-9B7C-0968-AF16E489A218}"/>
              </a:ext>
            </a:extLst>
          </p:cNvPr>
          <p:cNvSpPr txBox="1">
            <a:spLocks noChangeArrowheads="1"/>
          </p:cNvSpPr>
          <p:nvPr/>
        </p:nvSpPr>
        <p:spPr bwMode="auto">
          <a:xfrm>
            <a:off x="1344155" y="354451"/>
            <a:ext cx="37612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相關技術 低秩分解</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37F8ADFF-E693-AF5B-E91A-BFB0D8DF2C35}"/>
              </a:ext>
            </a:extLst>
          </p:cNvPr>
          <p:cNvCxnSpPr>
            <a:cxnSpLocks/>
            <a:endCxn id="12" idx="3"/>
          </p:cNvCxnSpPr>
          <p:nvPr/>
        </p:nvCxnSpPr>
        <p:spPr>
          <a:xfrm flipH="1" flipV="1">
            <a:off x="5105400" y="616061"/>
            <a:ext cx="68012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B4F069D9-BB26-39A9-CB3A-B0CB9D39CD38}"/>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64761E7-C9BA-15DE-A1D2-191A8B8559B3}"/>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6</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BED75EDE-CED7-F698-7F8E-CDC5D7C7E595}"/>
              </a:ext>
            </a:extLst>
          </p:cNvPr>
          <p:cNvSpPr/>
          <p:nvPr/>
        </p:nvSpPr>
        <p:spPr>
          <a:xfrm>
            <a:off x="529196" y="1094379"/>
            <a:ext cx="10912643" cy="1323439"/>
          </a:xfrm>
          <a:prstGeom prst="rect">
            <a:avLst/>
          </a:prstGeom>
        </p:spPr>
        <p:txBody>
          <a:bodyPr wrap="square">
            <a:spAutoFit/>
          </a:bodyPr>
          <a:lstStyle/>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低秩分解</a:t>
            </a:r>
            <a:r>
              <a:rPr lang="en-US" altLang="zh-TW" sz="2000" dirty="0">
                <a:latin typeface="標楷體" panose="03000509000000000000" pitchFamily="65" charset="-120"/>
                <a:ea typeface="標楷體" panose="03000509000000000000" pitchFamily="65" charset="-120"/>
              </a:rPr>
              <a:t>(Low-Rank Factorization) </a:t>
            </a:r>
            <a:r>
              <a:rPr lang="zh-TW" altLang="en-US" sz="2000" dirty="0">
                <a:latin typeface="標楷體" panose="03000509000000000000" pitchFamily="65" charset="-120"/>
                <a:ea typeface="標楷體" panose="03000509000000000000" pitchFamily="65" charset="-120"/>
              </a:rPr>
              <a:t>利用矩陣轉化來降低模型大小，達到模型壓縮的目的。神經網路中有大量的矩陣乘法，如圖所示，龐大的矩陣透過低秩分解可以表示為多個低秩矩陣的的乘積，而這些低秩矩陣又可以再分解為更小規模的矩陣乘積。</a:t>
            </a:r>
            <a:endParaRPr lang="en-US" altLang="zh-TW" sz="2000" dirty="0">
              <a:latin typeface="標楷體" panose="03000509000000000000" pitchFamily="65" charset="-120"/>
              <a:ea typeface="標楷體" panose="03000509000000000000" pitchFamily="65" charset="-120"/>
            </a:endParaRPr>
          </a:p>
          <a:p>
            <a:pPr marL="285750" indent="-285750" algn="just">
              <a:buFont typeface="Arial" panose="020B0604020202020204" pitchFamily="34" charset="0"/>
              <a:buChar char="•"/>
            </a:pPr>
            <a:r>
              <a:rPr lang="zh-TW" altLang="en-US" sz="2000" dirty="0">
                <a:solidFill>
                  <a:srgbClr val="FF0000"/>
                </a:solidFill>
                <a:latin typeface="標楷體" panose="03000509000000000000" pitchFamily="65" charset="-120"/>
                <a:ea typeface="標楷體" panose="03000509000000000000" pitchFamily="65" charset="-120"/>
              </a:rPr>
              <a:t>將大的矩陣分成小的互相相乘</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4" name="圖片 3" descr="一張含有 螢幕擷取畫面, 圖表, Rectangle, 設計 的圖片&#10;&#10;AI 產生的內容可能不正確。">
            <a:extLst>
              <a:ext uri="{FF2B5EF4-FFF2-40B4-BE49-F238E27FC236}">
                <a16:creationId xmlns:a16="http://schemas.microsoft.com/office/drawing/2014/main" id="{4344487A-3102-53B4-2823-6B8E3DADA31B}"/>
              </a:ext>
            </a:extLst>
          </p:cNvPr>
          <p:cNvPicPr>
            <a:picLocks noChangeAspect="1"/>
          </p:cNvPicPr>
          <p:nvPr/>
        </p:nvPicPr>
        <p:blipFill>
          <a:blip r:embed="rId3"/>
          <a:srcRect t="3687" b="6532"/>
          <a:stretch>
            <a:fillRect/>
          </a:stretch>
        </p:blipFill>
        <p:spPr>
          <a:xfrm>
            <a:off x="2199731" y="3429000"/>
            <a:ext cx="7792537" cy="3335594"/>
          </a:xfrm>
          <a:prstGeom prst="rect">
            <a:avLst/>
          </a:prstGeom>
        </p:spPr>
      </p:pic>
    </p:spTree>
    <p:extLst>
      <p:ext uri="{BB962C8B-B14F-4D97-AF65-F5344CB8AC3E}">
        <p14:creationId xmlns:p14="http://schemas.microsoft.com/office/powerpoint/2010/main" val="37956187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1FCB8-28A5-7E6A-3625-840502FF8000}"/>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AC4DAA3F-7E99-F3C5-4A5A-765397F95BA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D6E7E595-93AB-11C5-48B6-93D6A2310196}"/>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C6C2B312-6807-B69F-B754-5B7159B29FF6}"/>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92437CC0-2444-D858-BF3C-C1A2884CFD52}"/>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B8F5C533-F89A-387F-9DF3-34161F66BF6B}"/>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D54E3443-32D8-4BF8-8B58-4E28D2D663C9}"/>
              </a:ext>
            </a:extLst>
          </p:cNvPr>
          <p:cNvSpPr txBox="1">
            <a:spLocks noChangeArrowheads="1"/>
          </p:cNvSpPr>
          <p:nvPr/>
        </p:nvSpPr>
        <p:spPr bwMode="auto">
          <a:xfrm>
            <a:off x="1344155" y="354451"/>
            <a:ext cx="37612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相關技術 知識蒸餾</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6AEC898F-9B1D-B3E0-8786-8DA075DD0A13}"/>
              </a:ext>
            </a:extLst>
          </p:cNvPr>
          <p:cNvCxnSpPr>
            <a:cxnSpLocks/>
            <a:endCxn id="12" idx="3"/>
          </p:cNvCxnSpPr>
          <p:nvPr/>
        </p:nvCxnSpPr>
        <p:spPr>
          <a:xfrm flipH="1" flipV="1">
            <a:off x="5105400" y="616061"/>
            <a:ext cx="68012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476D8C9-B68D-C469-A8B5-C9E55F8082A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19DDB9B3-EF95-C622-086B-35F87AFDF13B}"/>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7</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C1F373C1-8820-00C0-9304-8AC0276B937D}"/>
              </a:ext>
            </a:extLst>
          </p:cNvPr>
          <p:cNvSpPr/>
          <p:nvPr/>
        </p:nvSpPr>
        <p:spPr>
          <a:xfrm>
            <a:off x="529196" y="1094379"/>
            <a:ext cx="10912643" cy="1631216"/>
          </a:xfrm>
          <a:prstGeom prst="rect">
            <a:avLst/>
          </a:prstGeom>
        </p:spPr>
        <p:txBody>
          <a:bodyPr wrap="square">
            <a:spAutoFit/>
          </a:bodyPr>
          <a:lstStyle/>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知識蒸餾</a:t>
            </a:r>
            <a:r>
              <a:rPr lang="en-US" altLang="zh-TW" sz="2000" dirty="0">
                <a:latin typeface="標楷體" panose="03000509000000000000" pitchFamily="65" charset="-120"/>
                <a:ea typeface="標楷體" panose="03000509000000000000" pitchFamily="65" charset="-120"/>
              </a:rPr>
              <a:t>(Knowledge Distillation) </a:t>
            </a:r>
            <a:r>
              <a:rPr lang="zh-TW" altLang="en-US" sz="2000" dirty="0">
                <a:latin typeface="標楷體" panose="03000509000000000000" pitchFamily="65" charset="-120"/>
                <a:ea typeface="標楷體" panose="03000509000000000000" pitchFamily="65" charset="-120"/>
              </a:rPr>
              <a:t>是知識遷移的一種方法，採用教師與學生的架構。先讓模型體積較大的教師模型經過訓練，將學到的知識蒸餾出來，蒸餾出來的精華稱為暗知識</a:t>
            </a:r>
            <a:r>
              <a:rPr lang="en-US" altLang="zh-TW" sz="2000" dirty="0">
                <a:latin typeface="標楷體" panose="03000509000000000000" pitchFamily="65" charset="-120"/>
                <a:ea typeface="標楷體" panose="03000509000000000000" pitchFamily="65" charset="-120"/>
              </a:rPr>
              <a:t>(Dark Knowledge)</a:t>
            </a:r>
            <a:r>
              <a:rPr lang="zh-TW" altLang="en-US" sz="2000" dirty="0">
                <a:latin typeface="標楷體" panose="03000509000000000000" pitchFamily="65" charset="-120"/>
                <a:ea typeface="標楷體" panose="03000509000000000000" pitchFamily="65" charset="-120"/>
              </a:rPr>
              <a:t>，再把暗知識作為訓練教材訓練模型體積較小的學生模型，提高學生的準確率。圖上方的流程為一般模型的訓練步驟，而下方為知識蒸餾訓練步驟。</a:t>
            </a:r>
            <a:endParaRPr lang="en-US" altLang="zh-TW" sz="2000" dirty="0">
              <a:latin typeface="標楷體" panose="03000509000000000000" pitchFamily="65" charset="-120"/>
              <a:ea typeface="標楷體" panose="03000509000000000000" pitchFamily="65" charset="-120"/>
            </a:endParaRPr>
          </a:p>
          <a:p>
            <a:pPr marL="285750" indent="-285750" algn="just">
              <a:buFont typeface="Arial" panose="020B0604020202020204" pitchFamily="34" charset="0"/>
              <a:buChar char="•"/>
            </a:pPr>
            <a:r>
              <a:rPr lang="zh-TW" altLang="en-US" sz="2000" dirty="0">
                <a:solidFill>
                  <a:srgbClr val="FF0000"/>
                </a:solidFill>
                <a:latin typeface="標楷體" panose="03000509000000000000" pitchFamily="65" charset="-120"/>
                <a:ea typeface="標楷體" panose="03000509000000000000" pitchFamily="65" charset="-120"/>
              </a:rPr>
              <a:t>老師模型</a:t>
            </a:r>
            <a:r>
              <a:rPr lang="en-US" altLang="zh-TW" sz="2000" dirty="0">
                <a:solidFill>
                  <a:srgbClr val="FF0000"/>
                </a:solidFill>
                <a:latin typeface="標楷體" panose="03000509000000000000" pitchFamily="65" charset="-120"/>
                <a:ea typeface="標楷體" panose="03000509000000000000" pitchFamily="65" charset="-120"/>
              </a:rPr>
              <a:t>-&gt;(</a:t>
            </a:r>
            <a:r>
              <a:rPr lang="zh-TW" altLang="en-US" sz="2000" dirty="0">
                <a:solidFill>
                  <a:srgbClr val="FF0000"/>
                </a:solidFill>
                <a:latin typeface="標楷體" panose="03000509000000000000" pitchFamily="65" charset="-120"/>
                <a:ea typeface="標楷體" panose="03000509000000000000" pitchFamily="65" charset="-120"/>
              </a:rPr>
              <a:t>提取</a:t>
            </a:r>
            <a:r>
              <a:rPr lang="en-US" altLang="zh-TW" sz="2000" dirty="0">
                <a:solidFill>
                  <a:srgbClr val="FF0000"/>
                </a:solidFill>
                <a:latin typeface="標楷體" panose="03000509000000000000" pitchFamily="65" charset="-120"/>
                <a:ea typeface="標楷體" panose="03000509000000000000" pitchFamily="65" charset="-120"/>
              </a:rPr>
              <a:t>)</a:t>
            </a:r>
            <a:r>
              <a:rPr lang="zh-TW" altLang="en-US" sz="2000" dirty="0">
                <a:solidFill>
                  <a:srgbClr val="FF0000"/>
                </a:solidFill>
                <a:latin typeface="標楷體" panose="03000509000000000000" pitchFamily="65" charset="-120"/>
                <a:ea typeface="標楷體" panose="03000509000000000000" pitchFamily="65" charset="-120"/>
              </a:rPr>
              <a:t>暗知識</a:t>
            </a:r>
            <a:r>
              <a:rPr lang="en-US" altLang="zh-TW" sz="2000" dirty="0">
                <a:solidFill>
                  <a:srgbClr val="FF0000"/>
                </a:solidFill>
                <a:latin typeface="標楷體" panose="03000509000000000000" pitchFamily="65" charset="-120"/>
                <a:ea typeface="標楷體" panose="03000509000000000000" pitchFamily="65" charset="-120"/>
              </a:rPr>
              <a:t>-&gt;</a:t>
            </a:r>
            <a:r>
              <a:rPr lang="zh-TW" altLang="en-US" sz="2000" dirty="0">
                <a:solidFill>
                  <a:srgbClr val="FF0000"/>
                </a:solidFill>
                <a:latin typeface="標楷體" panose="03000509000000000000" pitchFamily="65" charset="-120"/>
                <a:ea typeface="標楷體" panose="03000509000000000000" pitchFamily="65" charset="-120"/>
              </a:rPr>
              <a:t>學生模型</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3" name="圖片 2" descr="一張含有 文字, 螢幕擷取畫面, 圖表, 字型 的圖片&#10;&#10;AI 產生的內容可能不正確。">
            <a:extLst>
              <a:ext uri="{FF2B5EF4-FFF2-40B4-BE49-F238E27FC236}">
                <a16:creationId xmlns:a16="http://schemas.microsoft.com/office/drawing/2014/main" id="{23D12900-A73F-D3F4-2A5C-B3077D9F8E49}"/>
              </a:ext>
            </a:extLst>
          </p:cNvPr>
          <p:cNvPicPr>
            <a:picLocks noChangeAspect="1"/>
          </p:cNvPicPr>
          <p:nvPr/>
        </p:nvPicPr>
        <p:blipFill>
          <a:blip r:embed="rId3"/>
          <a:stretch>
            <a:fillRect/>
          </a:stretch>
        </p:blipFill>
        <p:spPr>
          <a:xfrm>
            <a:off x="2118757" y="2772739"/>
            <a:ext cx="7954485" cy="3829584"/>
          </a:xfrm>
          <a:prstGeom prst="rect">
            <a:avLst/>
          </a:prstGeom>
        </p:spPr>
      </p:pic>
    </p:spTree>
    <p:extLst>
      <p:ext uri="{BB962C8B-B14F-4D97-AF65-F5344CB8AC3E}">
        <p14:creationId xmlns:p14="http://schemas.microsoft.com/office/powerpoint/2010/main" val="31774520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知識蒸餾架構</a:t>
            </a:r>
            <a:endParaRPr lang="en-US" altLang="zh-TW" sz="2800" b="1" dirty="0">
              <a:latin typeface="微软雅黑" pitchFamily="34" charset="-122"/>
              <a:ea typeface="微软雅黑" pitchFamily="34" charset="-122"/>
            </a:endParaRPr>
          </a:p>
        </p:txBody>
      </p:sp>
      <p:cxnSp>
        <p:nvCxnSpPr>
          <p:cNvPr id="13" name="直接连接符 51"/>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8</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1938992"/>
          </a:xfrm>
          <a:prstGeom prst="rect">
            <a:avLst/>
          </a:prstGeom>
        </p:spPr>
        <p:txBody>
          <a:bodyPr wrap="square">
            <a:spAutoFit/>
          </a:bodyPr>
          <a:lstStyle/>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資料集同時輸入教師模型與學生模型，教師模型會輸出結合溫度</a:t>
            </a:r>
            <a:r>
              <a:rPr lang="en-US" altLang="zh-TW" sz="2000" dirty="0">
                <a:latin typeface="標楷體" panose="03000509000000000000" pitchFamily="65" charset="-120"/>
                <a:ea typeface="標楷體" panose="03000509000000000000" pitchFamily="65" charset="-120"/>
              </a:rPr>
              <a:t>T </a:t>
            </a:r>
            <a:r>
              <a:rPr lang="zh-TW" altLang="en-US" sz="2000" dirty="0">
                <a:latin typeface="標楷體" panose="03000509000000000000" pitchFamily="65" charset="-120"/>
                <a:ea typeface="標楷體" panose="03000509000000000000" pitchFamily="65" charset="-120"/>
              </a:rPr>
              <a:t>與激勵函數</a:t>
            </a: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的機率分佈</a:t>
            </a:r>
            <a:endParaRPr lang="en-US" altLang="zh-TW" sz="2000" dirty="0">
              <a:latin typeface="標楷體" panose="03000509000000000000" pitchFamily="65" charset="-120"/>
              <a:ea typeface="標楷體" panose="03000509000000000000" pitchFamily="65" charset="-120"/>
            </a:endParaRPr>
          </a:p>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學生模型會產出兩種機率分佈，一種是一般訓練只經過激勵函數</a:t>
            </a: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的機率分佈，另一種則是經過結合溫度</a:t>
            </a:r>
            <a:r>
              <a:rPr lang="en-US" altLang="zh-TW" sz="2000" dirty="0">
                <a:latin typeface="標楷體" panose="03000509000000000000" pitchFamily="65" charset="-120"/>
                <a:ea typeface="標楷體" panose="03000509000000000000" pitchFamily="65" charset="-120"/>
              </a:rPr>
              <a:t>T </a:t>
            </a:r>
            <a:r>
              <a:rPr lang="zh-TW" altLang="en-US" sz="2000" dirty="0">
                <a:latin typeface="標楷體" panose="03000509000000000000" pitchFamily="65" charset="-120"/>
                <a:ea typeface="標楷體" panose="03000509000000000000" pitchFamily="65" charset="-120"/>
              </a:rPr>
              <a:t>的激勵函數</a:t>
            </a: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輸出的機率分佈</a:t>
            </a:r>
            <a:endParaRPr lang="en-US" altLang="zh-TW" sz="2000" dirty="0">
              <a:latin typeface="標楷體" panose="03000509000000000000" pitchFamily="65" charset="-120"/>
              <a:ea typeface="標楷體" panose="03000509000000000000" pitchFamily="65" charset="-120"/>
            </a:endParaRPr>
          </a:p>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兩種機率分佈分別與資料集真實標籤</a:t>
            </a:r>
            <a:r>
              <a:rPr lang="en-US" altLang="zh-TW" sz="2000" dirty="0">
                <a:latin typeface="標楷體" panose="03000509000000000000" pitchFamily="65" charset="-120"/>
                <a:ea typeface="標楷體" panose="03000509000000000000" pitchFamily="65" charset="-120"/>
              </a:rPr>
              <a:t>(Ground Truth)</a:t>
            </a:r>
            <a:r>
              <a:rPr lang="zh-TW" altLang="en-US" sz="2000" dirty="0">
                <a:latin typeface="標楷體" panose="03000509000000000000" pitchFamily="65" charset="-120"/>
                <a:ea typeface="標楷體" panose="03000509000000000000" pitchFamily="65" charset="-120"/>
              </a:rPr>
              <a:t>和教師模型輸出的</a:t>
            </a:r>
            <a:r>
              <a:rPr lang="en-US" altLang="zh-TW" sz="2000" dirty="0">
                <a:latin typeface="標楷體" panose="03000509000000000000" pitchFamily="65" charset="-120"/>
                <a:ea typeface="標楷體" panose="03000509000000000000" pitchFamily="65" charset="-120"/>
              </a:rPr>
              <a:t>Soft Target</a:t>
            </a:r>
            <a:r>
              <a:rPr lang="zh-TW" altLang="en-US" sz="2000" dirty="0">
                <a:latin typeface="標楷體" panose="03000509000000000000" pitchFamily="65" charset="-120"/>
                <a:ea typeface="標楷體" panose="03000509000000000000" pitchFamily="65" charset="-120"/>
              </a:rPr>
              <a:t>進行損失函數</a:t>
            </a:r>
            <a:r>
              <a:rPr lang="en-US" altLang="zh-TW" sz="2000" dirty="0">
                <a:latin typeface="標楷體" panose="03000509000000000000" pitchFamily="65" charset="-120"/>
                <a:ea typeface="標楷體" panose="03000509000000000000" pitchFamily="65" charset="-120"/>
              </a:rPr>
              <a:t>(Loss Function)</a:t>
            </a:r>
            <a:r>
              <a:rPr lang="zh-TW" altLang="en-US" sz="2000" dirty="0">
                <a:latin typeface="標楷體" panose="03000509000000000000" pitchFamily="65" charset="-120"/>
                <a:ea typeface="標楷體" panose="03000509000000000000" pitchFamily="65" charset="-120"/>
              </a:rPr>
              <a:t>運算</a:t>
            </a:r>
            <a:endParaRPr lang="en-US" altLang="zh-TW" sz="2000" dirty="0">
              <a:latin typeface="標楷體" panose="03000509000000000000" pitchFamily="65" charset="-120"/>
              <a:ea typeface="標楷體" panose="03000509000000000000" pitchFamily="65" charset="-120"/>
            </a:endParaRPr>
          </a:p>
        </p:txBody>
      </p:sp>
      <p:pic>
        <p:nvPicPr>
          <p:cNvPr id="3" name="圖片 2" descr="一張含有 文字, 螢幕擷取畫面, 字型, 行 的圖片&#10;&#10;AI 產生的內容可能不正確。">
            <a:extLst>
              <a:ext uri="{FF2B5EF4-FFF2-40B4-BE49-F238E27FC236}">
                <a16:creationId xmlns:a16="http://schemas.microsoft.com/office/drawing/2014/main" id="{4BAFC6B6-389A-8FE8-1909-4D11AE181DBD}"/>
              </a:ext>
            </a:extLst>
          </p:cNvPr>
          <p:cNvPicPr>
            <a:picLocks noChangeAspect="1"/>
          </p:cNvPicPr>
          <p:nvPr/>
        </p:nvPicPr>
        <p:blipFill>
          <a:blip r:embed="rId3"/>
          <a:stretch>
            <a:fillRect/>
          </a:stretch>
        </p:blipFill>
        <p:spPr>
          <a:xfrm>
            <a:off x="2414073" y="3189754"/>
            <a:ext cx="7363853" cy="2857899"/>
          </a:xfrm>
          <a:prstGeom prst="rect">
            <a:avLst/>
          </a:prstGeom>
        </p:spPr>
      </p:pic>
    </p:spTree>
    <p:extLst>
      <p:ext uri="{BB962C8B-B14F-4D97-AF65-F5344CB8AC3E}">
        <p14:creationId xmlns:p14="http://schemas.microsoft.com/office/powerpoint/2010/main" val="5761649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0F60D-E656-D4DC-3673-88BAD92194F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68BA386-8B47-6B0C-77DD-615DDE5753DF}"/>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65B0FEA1-C2A8-CB1C-3DCC-54B8B958F670}"/>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D47255D7-F633-907D-F631-96891AE08536}"/>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54F9181E-FC96-95F0-457B-ED9EBB825B6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04651B5-956F-E292-890F-427256B39626}"/>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EBC20AE3-72B0-AFA0-A0D6-967279923C54}"/>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a:latin typeface="微软雅黑" pitchFamily="34" charset="-122"/>
                <a:ea typeface="微软雅黑" pitchFamily="34" charset="-122"/>
              </a:rPr>
              <a:t>Soft Target</a:t>
            </a:r>
          </a:p>
        </p:txBody>
      </p:sp>
      <p:cxnSp>
        <p:nvCxnSpPr>
          <p:cNvPr id="13" name="直接连接符 51">
            <a:extLst>
              <a:ext uri="{FF2B5EF4-FFF2-40B4-BE49-F238E27FC236}">
                <a16:creationId xmlns:a16="http://schemas.microsoft.com/office/drawing/2014/main" id="{AD14EF10-680D-EC4B-5060-EE234B1FA221}"/>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A1230CB-E7F1-07F0-E3FF-37C070A0BFFC}"/>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76CE844F-EC22-F290-CB00-5F1E97033D71}"/>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9</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D7257D3A-EE40-53CD-74B1-BAAB1DDA4946}"/>
              </a:ext>
            </a:extLst>
          </p:cNvPr>
          <p:cNvSpPr/>
          <p:nvPr/>
        </p:nvSpPr>
        <p:spPr>
          <a:xfrm>
            <a:off x="529196" y="1094379"/>
            <a:ext cx="10912643" cy="1015663"/>
          </a:xfrm>
          <a:prstGeom prst="rect">
            <a:avLst/>
          </a:prstGeom>
        </p:spPr>
        <p:txBody>
          <a:bodyPr wrap="square">
            <a:spAutoFit/>
          </a:bodyPr>
          <a:lstStyle/>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一般分類模型所輸出的預測是使用激勵函數</a:t>
            </a:r>
            <a:r>
              <a:rPr lang="en-US" altLang="zh-TW" sz="2000" dirty="0" err="1">
                <a:latin typeface="標楷體" panose="03000509000000000000" pitchFamily="65" charset="-120"/>
                <a:ea typeface="標楷體" panose="03000509000000000000" pitchFamily="65" charset="-120"/>
              </a:rPr>
              <a:t>Softmax</a:t>
            </a:r>
            <a:r>
              <a:rPr lang="zh-TW" altLang="en-US" sz="2000" dirty="0">
                <a:latin typeface="標楷體" panose="03000509000000000000" pitchFamily="65" charset="-120"/>
                <a:ea typeface="標楷體" panose="03000509000000000000" pitchFamily="65" charset="-120"/>
              </a:rPr>
              <a:t>。</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是將機率分布輸出映射到</a:t>
            </a:r>
            <a:r>
              <a:rPr lang="en-US" altLang="zh-TW" sz="2000" dirty="0">
                <a:latin typeface="標楷體" panose="03000509000000000000" pitchFamily="65" charset="-120"/>
                <a:ea typeface="標楷體" panose="03000509000000000000" pitchFamily="65" charset="-120"/>
              </a:rPr>
              <a:t>(0, 1)</a:t>
            </a:r>
            <a:r>
              <a:rPr lang="zh-TW" altLang="en-US" sz="2000" dirty="0">
                <a:latin typeface="標楷體" panose="03000509000000000000" pitchFamily="65" charset="-120"/>
                <a:ea typeface="標楷體" panose="03000509000000000000" pitchFamily="65" charset="-120"/>
              </a:rPr>
              <a:t>區間內。</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2000" dirty="0">
                <a:solidFill>
                  <a:srgbClr val="FF0000"/>
                </a:solidFill>
                <a:latin typeface="標楷體" panose="03000509000000000000" pitchFamily="65" charset="-120"/>
                <a:ea typeface="標楷體" panose="03000509000000000000" pitchFamily="65" charset="-120"/>
              </a:rPr>
              <a:t>教師模型的輸出</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4" name="圖片 3" descr="一張含有 文字, 螢幕擷取畫面, 字型, 行 的圖片&#10;&#10;AI 產生的內容可能不正確。">
            <a:extLst>
              <a:ext uri="{FF2B5EF4-FFF2-40B4-BE49-F238E27FC236}">
                <a16:creationId xmlns:a16="http://schemas.microsoft.com/office/drawing/2014/main" id="{1E3F73FE-8ACE-646F-2445-6FE8DCE03612}"/>
              </a:ext>
            </a:extLst>
          </p:cNvPr>
          <p:cNvPicPr>
            <a:picLocks noChangeAspect="1"/>
          </p:cNvPicPr>
          <p:nvPr/>
        </p:nvPicPr>
        <p:blipFill>
          <a:blip r:embed="rId3"/>
          <a:stretch>
            <a:fillRect/>
          </a:stretch>
        </p:blipFill>
        <p:spPr>
          <a:xfrm>
            <a:off x="2399784" y="2097453"/>
            <a:ext cx="7392432" cy="2800741"/>
          </a:xfrm>
          <a:prstGeom prst="rect">
            <a:avLst/>
          </a:prstGeom>
        </p:spPr>
      </p:pic>
      <p:pic>
        <p:nvPicPr>
          <p:cNvPr id="6" name="圖片 5" descr="一張含有 字型, 文字, 白色, 行 的圖片&#10;&#10;AI 產生的內容可能不正確。">
            <a:extLst>
              <a:ext uri="{FF2B5EF4-FFF2-40B4-BE49-F238E27FC236}">
                <a16:creationId xmlns:a16="http://schemas.microsoft.com/office/drawing/2014/main" id="{446276AC-2847-A548-607D-85B3A3370525}"/>
              </a:ext>
            </a:extLst>
          </p:cNvPr>
          <p:cNvPicPr>
            <a:picLocks noChangeAspect="1"/>
          </p:cNvPicPr>
          <p:nvPr/>
        </p:nvPicPr>
        <p:blipFill>
          <a:blip r:embed="rId4"/>
          <a:stretch>
            <a:fillRect/>
          </a:stretch>
        </p:blipFill>
        <p:spPr>
          <a:xfrm>
            <a:off x="4738498" y="4944789"/>
            <a:ext cx="2715004" cy="1019317"/>
          </a:xfrm>
          <a:prstGeom prst="rect">
            <a:avLst/>
          </a:prstGeom>
        </p:spPr>
      </p:pic>
    </p:spTree>
    <p:extLst>
      <p:ext uri="{BB962C8B-B14F-4D97-AF65-F5344CB8AC3E}">
        <p14:creationId xmlns:p14="http://schemas.microsoft.com/office/powerpoint/2010/main" val="6753427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28263-EC57-98BE-1F17-109922FB1DF4}"/>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769F596E-F5AD-7ED2-CA5F-A5B4A7D3271C}"/>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71A15B6D-2E19-7137-540B-09B8B7F585F9}"/>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FA8B0B1A-6BC9-8897-7824-FF389A85FEE7}"/>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EEF82AA5-65F4-4D88-3C20-68C118FC3F81}"/>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42359A41-F119-B576-E47A-05FB86075895}"/>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4C500E6A-55CC-C568-B1C7-D4827E5F911D}"/>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a:latin typeface="微软雅黑" pitchFamily="34" charset="-122"/>
                <a:ea typeface="微软雅黑" pitchFamily="34" charset="-122"/>
              </a:rPr>
              <a:t>Soft Target</a:t>
            </a:r>
          </a:p>
        </p:txBody>
      </p:sp>
      <p:cxnSp>
        <p:nvCxnSpPr>
          <p:cNvPr id="13" name="直接连接符 51">
            <a:extLst>
              <a:ext uri="{FF2B5EF4-FFF2-40B4-BE49-F238E27FC236}">
                <a16:creationId xmlns:a16="http://schemas.microsoft.com/office/drawing/2014/main" id="{A9E72F72-B30F-B5B4-65CA-548A5EA00649}"/>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62E335-B798-41D4-F1E1-E45AE79B9062}"/>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C3AE6E8E-D884-0C83-FEBC-17ED966B9507}"/>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10</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8229C41D-9AA3-D088-C603-F31065426EE7}"/>
              </a:ext>
            </a:extLst>
          </p:cNvPr>
          <p:cNvSpPr/>
          <p:nvPr/>
        </p:nvSpPr>
        <p:spPr>
          <a:xfrm>
            <a:off x="529196" y="1094379"/>
            <a:ext cx="10912643" cy="400110"/>
          </a:xfrm>
          <a:prstGeom prst="rect">
            <a:avLst/>
          </a:prstGeom>
        </p:spPr>
        <p:txBody>
          <a:bodyPr wrap="square">
            <a:spAutoFit/>
          </a:bodyPr>
          <a:lstStyle/>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蒸餾就是將原先的激勵函數</a:t>
            </a: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加上了溫度</a:t>
            </a:r>
            <a:r>
              <a:rPr lang="en-US" altLang="zh-TW" sz="2000" dirty="0">
                <a:latin typeface="標楷體" panose="03000509000000000000" pitchFamily="65" charset="-120"/>
                <a:ea typeface="標楷體" panose="03000509000000000000" pitchFamily="65" charset="-120"/>
              </a:rPr>
              <a:t>T</a:t>
            </a:r>
          </a:p>
        </p:txBody>
      </p:sp>
      <p:pic>
        <p:nvPicPr>
          <p:cNvPr id="3" name="圖片 2" descr="一張含有 文字, 字型, 行, 白色 的圖片&#10;&#10;AI 產生的內容可能不正確。">
            <a:extLst>
              <a:ext uri="{FF2B5EF4-FFF2-40B4-BE49-F238E27FC236}">
                <a16:creationId xmlns:a16="http://schemas.microsoft.com/office/drawing/2014/main" id="{A00D53B2-438D-C294-C4BE-6B02FDB5C0BC}"/>
              </a:ext>
            </a:extLst>
          </p:cNvPr>
          <p:cNvPicPr>
            <a:picLocks noChangeAspect="1"/>
          </p:cNvPicPr>
          <p:nvPr/>
        </p:nvPicPr>
        <p:blipFill>
          <a:blip r:embed="rId3"/>
          <a:stretch>
            <a:fillRect/>
          </a:stretch>
        </p:blipFill>
        <p:spPr>
          <a:xfrm>
            <a:off x="3671549" y="3062236"/>
            <a:ext cx="4848902" cy="733527"/>
          </a:xfrm>
          <a:prstGeom prst="rect">
            <a:avLst/>
          </a:prstGeom>
        </p:spPr>
      </p:pic>
    </p:spTree>
    <p:extLst>
      <p:ext uri="{BB962C8B-B14F-4D97-AF65-F5344CB8AC3E}">
        <p14:creationId xmlns:p14="http://schemas.microsoft.com/office/powerpoint/2010/main" val="31188840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C6397-0432-B303-5DF9-43030C65C9A1}"/>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DFD1289-CB53-C392-4184-27A25D8B44A3}"/>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5C176584-7BB5-CD06-38CF-93A73FF22FB1}"/>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7D930403-0799-59A3-9CC0-B59F02BCECD1}"/>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F0270ABF-4BB0-861A-D515-005B8F4D35B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EF6CDE3C-8308-A498-1E38-B36D1C502647}"/>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0FEF3DC3-C923-94A0-729C-EE4444A4E038}"/>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err="1">
                <a:latin typeface="微软雅黑" pitchFamily="34" charset="-122"/>
                <a:ea typeface="微软雅黑" pitchFamily="34" charset="-122"/>
              </a:rPr>
              <a:t>Tempterature</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034CFD09-DE30-04C3-2005-13DED0AEE548}"/>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3870BB1-163B-1657-E272-DCB1E358ED69}"/>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DE51AA98-4F3D-B385-6D3D-733FDE14F260}"/>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11</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179F9CB1-1181-AF57-7BA0-F5EF26E764E5}"/>
              </a:ext>
            </a:extLst>
          </p:cNvPr>
          <p:cNvSpPr/>
          <p:nvPr/>
        </p:nvSpPr>
        <p:spPr>
          <a:xfrm>
            <a:off x="529196" y="1094379"/>
            <a:ext cx="10912643" cy="707886"/>
          </a:xfrm>
          <a:prstGeom prst="rect">
            <a:avLst/>
          </a:prstGeom>
        </p:spPr>
        <p:txBody>
          <a:bodyPr wrap="square">
            <a:spAutoFit/>
          </a:bodyPr>
          <a:lstStyle/>
          <a:p>
            <a:pPr algn="just"/>
            <a:r>
              <a:rPr lang="en-US" altLang="zh-TW" sz="1400" dirty="0"/>
              <a:t>•</a:t>
            </a:r>
            <a:r>
              <a:rPr lang="zh-TW" altLang="en-US" sz="1400" dirty="0"/>
              <a:t> </a:t>
            </a:r>
            <a:r>
              <a:rPr lang="zh-TW" altLang="en-US" sz="2000" dirty="0"/>
              <a:t>  </a:t>
            </a:r>
            <a:r>
              <a:rPr lang="zh-TW" altLang="en-US" sz="2000" dirty="0">
                <a:latin typeface="標楷體" panose="03000509000000000000" pitchFamily="65" charset="-120"/>
                <a:ea typeface="標楷體" panose="03000509000000000000" pitchFamily="65" charset="-120"/>
              </a:rPr>
              <a:t>溫度</a:t>
            </a:r>
            <a:r>
              <a:rPr lang="en-US" altLang="zh-TW" sz="2000" dirty="0">
                <a:latin typeface="標楷體" panose="03000509000000000000" pitchFamily="65" charset="-120"/>
                <a:ea typeface="標楷體" panose="03000509000000000000" pitchFamily="65" charset="-120"/>
              </a:rPr>
              <a:t>T</a:t>
            </a:r>
            <a:r>
              <a:rPr lang="zh-TW" altLang="en-US" sz="2000" dirty="0">
                <a:latin typeface="標楷體" panose="03000509000000000000" pitchFamily="65" charset="-120"/>
                <a:ea typeface="標楷體" panose="03000509000000000000" pitchFamily="65" charset="-120"/>
              </a:rPr>
              <a:t>大小也會使得輸出的機率分佈不同</a:t>
            </a:r>
            <a:endParaRPr lang="en-US" altLang="zh-TW" sz="2000" dirty="0">
              <a:latin typeface="標楷體" panose="03000509000000000000" pitchFamily="65" charset="-120"/>
              <a:ea typeface="標楷體" panose="03000509000000000000" pitchFamily="65" charset="-120"/>
            </a:endParaRPr>
          </a:p>
          <a:p>
            <a:pPr algn="just"/>
            <a:r>
              <a:rPr lang="en-US" altLang="zh-TW" sz="1400" dirty="0"/>
              <a:t>•</a:t>
            </a:r>
            <a:r>
              <a:rPr lang="zh-TW" altLang="en-US" sz="1600" dirty="0"/>
              <a:t> </a:t>
            </a:r>
            <a:r>
              <a:rPr lang="zh-TW" altLang="en-US" sz="2000" dirty="0"/>
              <a:t>  </a:t>
            </a:r>
            <a:r>
              <a:rPr lang="zh-TW" altLang="en-US" sz="2000" dirty="0">
                <a:latin typeface="標楷體" panose="03000509000000000000" pitchFamily="65" charset="-120"/>
                <a:ea typeface="標楷體" panose="03000509000000000000" pitchFamily="65" charset="-120"/>
              </a:rPr>
              <a:t>溫度</a:t>
            </a:r>
            <a:r>
              <a:rPr lang="en-US" altLang="zh-TW" sz="2000" dirty="0">
                <a:latin typeface="標楷體" panose="03000509000000000000" pitchFamily="65" charset="-120"/>
                <a:ea typeface="標楷體" panose="03000509000000000000" pitchFamily="65" charset="-120"/>
              </a:rPr>
              <a:t>T</a:t>
            </a:r>
            <a:r>
              <a:rPr lang="zh-TW" altLang="en-US" sz="2000" dirty="0">
                <a:latin typeface="標楷體" panose="03000509000000000000" pitchFamily="65" charset="-120"/>
                <a:ea typeface="標楷體" panose="03000509000000000000" pitchFamily="65" charset="-120"/>
              </a:rPr>
              <a:t>數值越高，機率分佈越加平坦；溫度</a:t>
            </a:r>
            <a:r>
              <a:rPr lang="en-US" altLang="zh-TW" sz="2000" dirty="0">
                <a:latin typeface="標楷體" panose="03000509000000000000" pitchFamily="65" charset="-120"/>
                <a:ea typeface="標楷體" panose="03000509000000000000" pitchFamily="65" charset="-120"/>
              </a:rPr>
              <a:t>T </a:t>
            </a:r>
            <a:r>
              <a:rPr lang="zh-TW" altLang="en-US" sz="2000" dirty="0">
                <a:latin typeface="標楷體" panose="03000509000000000000" pitchFamily="65" charset="-120"/>
                <a:ea typeface="標楷體" panose="03000509000000000000" pitchFamily="65" charset="-120"/>
              </a:rPr>
              <a:t>數值越低，機率分佈則越極端。</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3" name="圖片 2" descr="一張含有 繪圖, 行, 圖表, 螢幕擷取畫面 的圖片&#10;&#10;AI 產生的內容可能不正確。">
            <a:extLst>
              <a:ext uri="{FF2B5EF4-FFF2-40B4-BE49-F238E27FC236}">
                <a16:creationId xmlns:a16="http://schemas.microsoft.com/office/drawing/2014/main" id="{A1C4609A-7701-232A-EA03-CE9609A62435}"/>
              </a:ext>
            </a:extLst>
          </p:cNvPr>
          <p:cNvPicPr>
            <a:picLocks noChangeAspect="1"/>
          </p:cNvPicPr>
          <p:nvPr/>
        </p:nvPicPr>
        <p:blipFill>
          <a:blip r:embed="rId3"/>
          <a:stretch>
            <a:fillRect/>
          </a:stretch>
        </p:blipFill>
        <p:spPr>
          <a:xfrm>
            <a:off x="2366442" y="2218725"/>
            <a:ext cx="7459116" cy="4229690"/>
          </a:xfrm>
          <a:prstGeom prst="rect">
            <a:avLst/>
          </a:prstGeom>
        </p:spPr>
      </p:pic>
    </p:spTree>
    <p:extLst>
      <p:ext uri="{BB962C8B-B14F-4D97-AF65-F5344CB8AC3E}">
        <p14:creationId xmlns:p14="http://schemas.microsoft.com/office/powerpoint/2010/main" val="5865340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3301-154E-52EB-093B-4F38E092A0A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930D73E-E067-C3DA-0747-487FC69D57DC}"/>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5242DDDF-F52A-D971-0891-30DBEF23A79D}"/>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54344A12-1839-BC9E-7979-175C725C2813}"/>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9E6D932-105A-7F8A-C8FC-61D3BE06623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92776D5-CC89-319C-D7BD-F68B74459E49}"/>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AAA090F0-D09C-736B-F728-CC722006723B}"/>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a:latin typeface="微软雅黑" pitchFamily="34" charset="-122"/>
                <a:ea typeface="微软雅黑" pitchFamily="34" charset="-122"/>
              </a:rPr>
              <a:t>Cross Entropy</a:t>
            </a:r>
          </a:p>
        </p:txBody>
      </p:sp>
      <p:cxnSp>
        <p:nvCxnSpPr>
          <p:cNvPr id="13" name="直接连接符 51">
            <a:extLst>
              <a:ext uri="{FF2B5EF4-FFF2-40B4-BE49-F238E27FC236}">
                <a16:creationId xmlns:a16="http://schemas.microsoft.com/office/drawing/2014/main" id="{6045397D-4278-A88A-8E9B-E905A50A393A}"/>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E397BFE-0A5A-5185-5B81-9453219684F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737A2BD-BC19-756C-25DC-6E806FEDCA7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12</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C7EF48C9-AD6F-62E1-2C12-B2F1684C0C4B}"/>
              </a:ext>
            </a:extLst>
          </p:cNvPr>
          <p:cNvSpPr/>
          <p:nvPr/>
        </p:nvSpPr>
        <p:spPr>
          <a:xfrm>
            <a:off x="264599" y="1094379"/>
            <a:ext cx="11377495" cy="400110"/>
          </a:xfrm>
          <a:prstGeom prst="rect">
            <a:avLst/>
          </a:prstGeom>
        </p:spPr>
        <p:txBody>
          <a:bodyPr wrap="square">
            <a:spAutoFit/>
          </a:bodyPr>
          <a:lstStyle/>
          <a:p>
            <a:r>
              <a:rPr lang="en-US" altLang="zh-TW" sz="2000" dirty="0">
                <a:latin typeface="標楷體" panose="03000509000000000000" pitchFamily="65" charset="-120"/>
                <a:ea typeface="標楷體" panose="03000509000000000000" pitchFamily="65" charset="-120"/>
              </a:rPr>
              <a:t>•</a:t>
            </a:r>
            <a:r>
              <a:rPr lang="zh-TW" altLang="en-US" sz="2000" dirty="0"/>
              <a:t>  </a:t>
            </a:r>
            <a:r>
              <a:rPr lang="zh-TW" altLang="en-US" sz="2000" dirty="0">
                <a:latin typeface="標楷體" panose="03000509000000000000" pitchFamily="65" charset="-120"/>
                <a:ea typeface="標楷體" panose="03000509000000000000" pitchFamily="65" charset="-120"/>
              </a:rPr>
              <a:t>運用</a:t>
            </a:r>
            <a:r>
              <a:rPr lang="en-US" altLang="zh-TW" sz="2000" dirty="0">
                <a:latin typeface="標楷體" panose="03000509000000000000" pitchFamily="65" charset="-120"/>
                <a:ea typeface="標楷體" panose="03000509000000000000" pitchFamily="65" charset="-120"/>
              </a:rPr>
              <a:t>Cross Entropy</a:t>
            </a:r>
            <a:r>
              <a:rPr lang="zh-TW" altLang="en-US" sz="2000" dirty="0">
                <a:latin typeface="標楷體" panose="03000509000000000000" pitchFamily="65" charset="-120"/>
                <a:ea typeface="標楷體" panose="03000509000000000000" pitchFamily="65" charset="-120"/>
              </a:rPr>
              <a:t>，可以算出</a:t>
            </a:r>
            <a:r>
              <a:rPr lang="en-US" altLang="zh-TW" sz="2000" dirty="0">
                <a:latin typeface="標楷體" panose="03000509000000000000" pitchFamily="65" charset="-120"/>
                <a:ea typeface="標楷體" panose="03000509000000000000" pitchFamily="65" charset="-120"/>
              </a:rPr>
              <a:t>Hard Loss</a:t>
            </a:r>
            <a:r>
              <a:rPr lang="zh-TW" altLang="en-US" sz="2000" dirty="0">
                <a:latin typeface="標楷體" panose="03000509000000000000" pitchFamily="65" charset="-120"/>
                <a:ea typeface="標楷體" panose="03000509000000000000" pitchFamily="65" charset="-120"/>
              </a:rPr>
              <a:t>、</a:t>
            </a:r>
            <a:r>
              <a:rPr lang="en-US" altLang="zh-TW" sz="2000" dirty="0">
                <a:latin typeface="標楷體" panose="03000509000000000000" pitchFamily="65" charset="-120"/>
                <a:ea typeface="標楷體" panose="03000509000000000000" pitchFamily="65" charset="-120"/>
              </a:rPr>
              <a:t>Soft Loss</a:t>
            </a:r>
            <a:r>
              <a:rPr lang="zh-TW" altLang="en-US" sz="2000" dirty="0">
                <a:latin typeface="標楷體" panose="03000509000000000000" pitchFamily="65" charset="-120"/>
                <a:ea typeface="標楷體" panose="03000509000000000000" pitchFamily="65" charset="-120"/>
              </a:rPr>
              <a:t>，再經由</a:t>
            </a:r>
            <a:r>
              <a:rPr lang="el-GR" altLang="zh-TW" sz="2000" dirty="0">
                <a:ea typeface="標楷體" panose="03000509000000000000" pitchFamily="65" charset="-120"/>
              </a:rPr>
              <a:t>α</a:t>
            </a:r>
            <a:r>
              <a:rPr lang="zh-TW" altLang="en-US" sz="2000" dirty="0">
                <a:latin typeface="標楷體" panose="03000509000000000000" pitchFamily="65" charset="-120"/>
                <a:ea typeface="標楷體" panose="03000509000000000000" pitchFamily="65" charset="-120"/>
              </a:rPr>
              <a:t>調配比 例合成一個</a:t>
            </a:r>
            <a:r>
              <a:rPr lang="en-US" altLang="zh-TW" sz="2000" dirty="0">
                <a:latin typeface="標楷體" panose="03000509000000000000" pitchFamily="65" charset="-120"/>
                <a:ea typeface="標楷體" panose="03000509000000000000" pitchFamily="65" charset="-120"/>
              </a:rPr>
              <a:t>Total Loss</a:t>
            </a:r>
            <a:r>
              <a:rPr lang="zh-TW" altLang="en-US" sz="2000" dirty="0">
                <a:latin typeface="標楷體" panose="03000509000000000000" pitchFamily="65" charset="-120"/>
                <a:ea typeface="標楷體" panose="03000509000000000000" pitchFamily="65" charset="-120"/>
              </a:rPr>
              <a:t>。</a:t>
            </a:r>
            <a:r>
              <a:rPr lang="en-US" altLang="zh-TW" sz="2000" dirty="0">
                <a:latin typeface="標楷體" panose="03000509000000000000" pitchFamily="65" charset="-120"/>
                <a:ea typeface="標楷體" panose="03000509000000000000" pitchFamily="65" charset="-120"/>
              </a:rPr>
              <a:t> </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6" name="圖片 5">
            <a:extLst>
              <a:ext uri="{FF2B5EF4-FFF2-40B4-BE49-F238E27FC236}">
                <a16:creationId xmlns:a16="http://schemas.microsoft.com/office/drawing/2014/main" id="{62335A1B-6D0C-2CD5-FFD7-02418A91F86C}"/>
              </a:ext>
            </a:extLst>
          </p:cNvPr>
          <p:cNvPicPr>
            <a:picLocks noChangeAspect="1"/>
          </p:cNvPicPr>
          <p:nvPr/>
        </p:nvPicPr>
        <p:blipFill>
          <a:blip r:embed="rId3"/>
          <a:stretch>
            <a:fillRect/>
          </a:stretch>
        </p:blipFill>
        <p:spPr>
          <a:xfrm>
            <a:off x="3415003" y="2247099"/>
            <a:ext cx="3895856" cy="897153"/>
          </a:xfrm>
          <a:prstGeom prst="rect">
            <a:avLst/>
          </a:prstGeom>
        </p:spPr>
      </p:pic>
      <p:sp>
        <p:nvSpPr>
          <p:cNvPr id="16" name="矩形 15">
            <a:extLst>
              <a:ext uri="{FF2B5EF4-FFF2-40B4-BE49-F238E27FC236}">
                <a16:creationId xmlns:a16="http://schemas.microsoft.com/office/drawing/2014/main" id="{AA39DEAF-A12B-CAD1-3114-F32C32B35F26}"/>
              </a:ext>
            </a:extLst>
          </p:cNvPr>
          <p:cNvSpPr/>
          <p:nvPr/>
        </p:nvSpPr>
        <p:spPr>
          <a:xfrm>
            <a:off x="1056275" y="4150400"/>
            <a:ext cx="10912643" cy="1631216"/>
          </a:xfrm>
          <a:prstGeom prst="rect">
            <a:avLst/>
          </a:prstGeom>
        </p:spPr>
        <p:txBody>
          <a:bodyPr wrap="square">
            <a:spAutoFit/>
          </a:bodyPr>
          <a:lstStyle/>
          <a:p>
            <a:r>
              <a:rPr lang="en-US" altLang="zh-TW" sz="2000" dirty="0">
                <a:latin typeface="標楷體" panose="03000509000000000000" pitchFamily="65" charset="-120"/>
                <a:ea typeface="標楷體" panose="03000509000000000000" pitchFamily="65" charset="-120"/>
              </a:rPr>
              <a:t>N</a:t>
            </a:r>
            <a:r>
              <a:rPr lang="zh-TW" altLang="en-US" sz="2000" dirty="0">
                <a:latin typeface="標楷體" panose="03000509000000000000" pitchFamily="65" charset="-120"/>
                <a:ea typeface="標楷體" panose="03000509000000000000" pitchFamily="65" charset="-120"/>
              </a:rPr>
              <a:t>為類別數量</a:t>
            </a:r>
            <a:endParaRPr lang="en-US" altLang="zh-TW" sz="2000" dirty="0">
              <a:latin typeface="標楷體" panose="03000509000000000000" pitchFamily="65" charset="-120"/>
              <a:ea typeface="標楷體" panose="03000509000000000000" pitchFamily="65" charset="-120"/>
            </a:endParaRPr>
          </a:p>
          <a:p>
            <a:r>
              <a:rPr lang="en-US" altLang="zh-TW" sz="2000" dirty="0">
                <a:latin typeface="標楷體" panose="03000509000000000000" pitchFamily="65" charset="-120"/>
                <a:ea typeface="標楷體" panose="03000509000000000000" pitchFamily="65" charset="-120"/>
              </a:rPr>
              <a:t>o</a:t>
            </a:r>
            <a:r>
              <a:rPr lang="zh-TW" altLang="en-US" sz="2000" dirty="0">
                <a:latin typeface="標楷體" panose="03000509000000000000" pitchFamily="65" charset="-120"/>
                <a:ea typeface="標楷體" panose="03000509000000000000" pitchFamily="65" charset="-120"/>
              </a:rPr>
              <a:t>為真實標籤</a:t>
            </a:r>
            <a:endParaRPr lang="en-US" altLang="zh-TW" sz="2000" dirty="0">
              <a:latin typeface="標楷體" panose="03000509000000000000" pitchFamily="65" charset="-120"/>
              <a:ea typeface="標楷體" panose="03000509000000000000" pitchFamily="65" charset="-120"/>
            </a:endParaRPr>
          </a:p>
          <a:p>
            <a:r>
              <a:rPr lang="en-US" altLang="zh-TW" sz="2000" dirty="0">
                <a:latin typeface="標楷體" panose="03000509000000000000" pitchFamily="65" charset="-120"/>
                <a:ea typeface="標楷體" panose="03000509000000000000" pitchFamily="65" charset="-120"/>
              </a:rPr>
              <a:t>c</a:t>
            </a:r>
            <a:r>
              <a:rPr lang="zh-TW" altLang="en-US" sz="2000" dirty="0">
                <a:latin typeface="標楷體" panose="03000509000000000000" pitchFamily="65" charset="-120"/>
                <a:ea typeface="標楷體" panose="03000509000000000000" pitchFamily="65" charset="-120"/>
              </a:rPr>
              <a:t>為預測結果</a:t>
            </a:r>
            <a:endParaRPr lang="en-US" altLang="zh-TW" sz="2000" dirty="0">
              <a:latin typeface="標楷體" panose="03000509000000000000" pitchFamily="65" charset="-120"/>
              <a:ea typeface="標楷體" panose="03000509000000000000" pitchFamily="65" charset="-120"/>
            </a:endParaRPr>
          </a:p>
          <a:p>
            <a:r>
              <a:rPr lang="zh-TW" altLang="en-US" sz="2000" dirty="0">
                <a:latin typeface="標楷體" panose="03000509000000000000" pitchFamily="65" charset="-120"/>
                <a:ea typeface="標楷體" panose="03000509000000000000" pitchFamily="65" charset="-120"/>
              </a:rPr>
              <a:t>𝑦𝑜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𝑐表示預測類別</a:t>
            </a:r>
            <a:r>
              <a:rPr lang="en-US" altLang="zh-TW" sz="2000" dirty="0">
                <a:latin typeface="標楷體" panose="03000509000000000000" pitchFamily="65" charset="-120"/>
                <a:ea typeface="標楷體" panose="03000509000000000000" pitchFamily="65" charset="-120"/>
              </a:rPr>
              <a:t>c</a:t>
            </a:r>
            <a:r>
              <a:rPr lang="zh-TW" altLang="en-US" sz="2000" dirty="0">
                <a:latin typeface="標楷體" panose="03000509000000000000" pitchFamily="65" charset="-120"/>
                <a:ea typeface="標楷體" panose="03000509000000000000" pitchFamily="65" charset="-120"/>
              </a:rPr>
              <a:t>與真實標籤</a:t>
            </a:r>
            <a:r>
              <a:rPr lang="en-US" altLang="zh-TW" sz="2000" dirty="0">
                <a:latin typeface="標楷體" panose="03000509000000000000" pitchFamily="65" charset="-120"/>
                <a:ea typeface="標楷體" panose="03000509000000000000" pitchFamily="65" charset="-120"/>
              </a:rPr>
              <a:t>o</a:t>
            </a:r>
            <a:r>
              <a:rPr lang="zh-TW" altLang="en-US" sz="2000" dirty="0">
                <a:latin typeface="標楷體" panose="03000509000000000000" pitchFamily="65" charset="-120"/>
                <a:ea typeface="標楷體" panose="03000509000000000000" pitchFamily="65" charset="-120"/>
              </a:rPr>
              <a:t>是否相同，相同為</a:t>
            </a:r>
            <a:r>
              <a:rPr lang="en-US" altLang="zh-TW" sz="2000" dirty="0">
                <a:latin typeface="標楷體" panose="03000509000000000000" pitchFamily="65" charset="-120"/>
                <a:ea typeface="標楷體" panose="03000509000000000000" pitchFamily="65" charset="-120"/>
              </a:rPr>
              <a:t>1</a:t>
            </a:r>
            <a:r>
              <a:rPr lang="zh-TW" altLang="en-US" sz="2000" dirty="0">
                <a:latin typeface="標楷體" panose="03000509000000000000" pitchFamily="65" charset="-120"/>
                <a:ea typeface="標楷體" panose="03000509000000000000" pitchFamily="65" charset="-120"/>
              </a:rPr>
              <a:t>，反之為</a:t>
            </a:r>
            <a:r>
              <a:rPr lang="en-US" altLang="zh-TW" sz="2000" dirty="0">
                <a:latin typeface="標楷體" panose="03000509000000000000" pitchFamily="65" charset="-120"/>
                <a:ea typeface="標楷體" panose="03000509000000000000" pitchFamily="65" charset="-120"/>
              </a:rPr>
              <a:t>0</a:t>
            </a:r>
          </a:p>
          <a:p>
            <a:r>
              <a:rPr lang="zh-TW" altLang="en-US" sz="2000" dirty="0">
                <a:latin typeface="標楷體" panose="03000509000000000000" pitchFamily="65" charset="-120"/>
                <a:ea typeface="標楷體" panose="03000509000000000000" pitchFamily="65" charset="-120"/>
              </a:rPr>
              <a:t>𝑝𝑜</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𝑐表示預測類別</a:t>
            </a:r>
            <a:r>
              <a:rPr lang="en-US" altLang="zh-TW" sz="2000" dirty="0">
                <a:latin typeface="標楷體" panose="03000509000000000000" pitchFamily="65" charset="-120"/>
                <a:ea typeface="標楷體" panose="03000509000000000000" pitchFamily="65" charset="-120"/>
              </a:rPr>
              <a:t>c</a:t>
            </a:r>
            <a:r>
              <a:rPr lang="zh-TW" altLang="en-US" sz="2000" dirty="0">
                <a:latin typeface="標楷體" panose="03000509000000000000" pitchFamily="65" charset="-120"/>
                <a:ea typeface="標楷體" panose="03000509000000000000" pitchFamily="65" charset="-120"/>
              </a:rPr>
              <a:t>屬於真實標籤</a:t>
            </a:r>
            <a:r>
              <a:rPr lang="en-US" altLang="zh-TW" sz="2000" dirty="0">
                <a:latin typeface="標楷體" panose="03000509000000000000" pitchFamily="65" charset="-120"/>
                <a:ea typeface="標楷體" panose="03000509000000000000" pitchFamily="65" charset="-120"/>
              </a:rPr>
              <a:t>o</a:t>
            </a:r>
            <a:r>
              <a:rPr lang="zh-TW" altLang="en-US" sz="2000" dirty="0">
                <a:latin typeface="標楷體" panose="03000509000000000000" pitchFamily="65" charset="-120"/>
                <a:ea typeface="標楷體" panose="03000509000000000000" pitchFamily="65" charset="-120"/>
              </a:rPr>
              <a:t>的預測機率</a:t>
            </a:r>
            <a:endParaRPr lang="en-US" altLang="zh-TW" sz="2000"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0864527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3301-154E-52EB-093B-4F38E092A0A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930D73E-E067-C3DA-0747-487FC69D57DC}"/>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5242DDDF-F52A-D971-0891-30DBEF23A79D}"/>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54344A12-1839-BC9E-7979-175C725C2813}"/>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9E6D932-105A-7F8A-C8FC-61D3BE06623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92776D5-CC89-319C-D7BD-F68B74459E49}"/>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AAA090F0-D09C-736B-F728-CC722006723B}"/>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a:latin typeface="微软雅黑" pitchFamily="34" charset="-122"/>
                <a:ea typeface="微软雅黑" pitchFamily="34" charset="-122"/>
              </a:rPr>
              <a:t>Cross Entropy</a:t>
            </a:r>
          </a:p>
        </p:txBody>
      </p:sp>
      <p:cxnSp>
        <p:nvCxnSpPr>
          <p:cNvPr id="13" name="直接连接符 51">
            <a:extLst>
              <a:ext uri="{FF2B5EF4-FFF2-40B4-BE49-F238E27FC236}">
                <a16:creationId xmlns:a16="http://schemas.microsoft.com/office/drawing/2014/main" id="{6045397D-4278-A88A-8E9B-E905A50A393A}"/>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E397BFE-0A5A-5185-5B81-9453219684F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737A2BD-BC19-756C-25DC-6E806FEDCA7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13</a:t>
            </a:fld>
            <a:endParaRPr lang="en-US" altLang="zh-CN" sz="1400" dirty="0">
              <a:solidFill>
                <a:schemeClr val="bg1"/>
              </a:solidFill>
              <a:latin typeface="微软雅黑" pitchFamily="34" charset="-122"/>
              <a:ea typeface="微软雅黑" pitchFamily="34" charset="-122"/>
            </a:endParaRPr>
          </a:p>
        </p:txBody>
      </p:sp>
      <p:sp>
        <p:nvSpPr>
          <p:cNvPr id="4" name="文字方塊 3">
            <a:extLst>
              <a:ext uri="{FF2B5EF4-FFF2-40B4-BE49-F238E27FC236}">
                <a16:creationId xmlns:a16="http://schemas.microsoft.com/office/drawing/2014/main" id="{62B90877-6F2E-AB72-055E-236470EE67C1}"/>
              </a:ext>
            </a:extLst>
          </p:cNvPr>
          <p:cNvSpPr txBox="1"/>
          <p:nvPr/>
        </p:nvSpPr>
        <p:spPr>
          <a:xfrm>
            <a:off x="1056275" y="1069874"/>
            <a:ext cx="6961239" cy="400110"/>
          </a:xfrm>
          <a:prstGeom prst="rect">
            <a:avLst/>
          </a:prstGeom>
          <a:noFill/>
        </p:spPr>
        <p:txBody>
          <a:bodyPr wrap="square" rtlCol="0">
            <a:spAutoFit/>
          </a:bodyPr>
          <a:lstStyle/>
          <a:p>
            <a:r>
              <a:rPr lang="en-US" altLang="zh-TW" sz="2000" dirty="0">
                <a:latin typeface="標楷體" panose="03000509000000000000" pitchFamily="65" charset="-120"/>
                <a:ea typeface="標楷體" panose="03000509000000000000" pitchFamily="65" charset="-120"/>
              </a:rPr>
              <a:t>Hard Loss:</a:t>
            </a:r>
          </a:p>
        </p:txBody>
      </p:sp>
      <p:sp>
        <p:nvSpPr>
          <p:cNvPr id="5" name="文字方塊 4">
            <a:extLst>
              <a:ext uri="{FF2B5EF4-FFF2-40B4-BE49-F238E27FC236}">
                <a16:creationId xmlns:a16="http://schemas.microsoft.com/office/drawing/2014/main" id="{08262419-E59D-BE20-8E8C-426BCA782B19}"/>
              </a:ext>
            </a:extLst>
          </p:cNvPr>
          <p:cNvSpPr txBox="1"/>
          <p:nvPr/>
        </p:nvSpPr>
        <p:spPr>
          <a:xfrm>
            <a:off x="2251161" y="1631548"/>
            <a:ext cx="7910052" cy="1015663"/>
          </a:xfrm>
          <a:prstGeom prst="rect">
            <a:avLst/>
          </a:prstGeom>
          <a:noFill/>
        </p:spPr>
        <p:txBody>
          <a:bodyPr wrap="square" rtlCol="0">
            <a:spAutoFit/>
          </a:bodyPr>
          <a:lstStyle/>
          <a:p>
            <a:pPr algn="just"/>
            <a:r>
              <a:rPr lang="en-US" altLang="zh-TW" sz="2000" dirty="0">
                <a:latin typeface="標楷體" panose="03000509000000000000" pitchFamily="65" charset="-120"/>
                <a:ea typeface="標楷體" panose="03000509000000000000" pitchFamily="65" charset="-120"/>
              </a:rPr>
              <a:t>Hard Loss = Cross Entropy(</a:t>
            </a:r>
            <a:r>
              <a:rPr lang="zh-TW" altLang="en-US" sz="2000" dirty="0">
                <a:latin typeface="標楷體" panose="03000509000000000000" pitchFamily="65" charset="-120"/>
                <a:ea typeface="標楷體" panose="03000509000000000000" pitchFamily="65" charset="-120"/>
              </a:rPr>
              <a:t>𝐻𝑎𝑟𝑑 𝑇</a:t>
            </a:r>
            <a:r>
              <a:rPr lang="en-US" altLang="zh-TW" sz="2000" dirty="0" err="1">
                <a:latin typeface="標楷體" panose="03000509000000000000" pitchFamily="65" charset="-120"/>
                <a:ea typeface="標楷體" panose="03000509000000000000" pitchFamily="65" charset="-120"/>
              </a:rPr>
              <a:t>arget</a:t>
            </a:r>
            <a:r>
              <a:rPr lang="en-US" altLang="zh-TW" sz="2000" dirty="0">
                <a:latin typeface="標楷體" panose="03000509000000000000" pitchFamily="65" charset="-120"/>
                <a:ea typeface="標楷體" panose="03000509000000000000" pitchFamily="65" charset="-120"/>
              </a:rPr>
              <a:t> h, </a:t>
            </a:r>
            <a:r>
              <a:rPr lang="zh-TW" altLang="en-US" sz="2000" dirty="0">
                <a:latin typeface="標楷體" panose="03000509000000000000" pitchFamily="65" charset="-120"/>
                <a:ea typeface="標楷體" panose="03000509000000000000" pitchFamily="65" charset="-120"/>
              </a:rPr>
              <a:t>𝐻𝑎𝑟𝑑 </a:t>
            </a:r>
            <a:r>
              <a:rPr lang="en-US" altLang="zh-TW" sz="2000" dirty="0">
                <a:latin typeface="標楷體" panose="03000509000000000000" pitchFamily="65" charset="-120"/>
                <a:ea typeface="標楷體" panose="03000509000000000000" pitchFamily="65" charset="-120"/>
              </a:rPr>
              <a:t>Output q)</a:t>
            </a:r>
          </a:p>
          <a:p>
            <a:pPr algn="just"/>
            <a:r>
              <a:rPr lang="en-US" altLang="zh-TW" sz="2000" dirty="0">
                <a:latin typeface="標楷體" panose="03000509000000000000" pitchFamily="65" charset="-120"/>
                <a:ea typeface="標楷體" panose="03000509000000000000" pitchFamily="65" charset="-120"/>
              </a:rPr>
              <a:t>Hard Target h </a:t>
            </a:r>
            <a:r>
              <a:rPr lang="zh-TW" altLang="en-US" sz="2000" dirty="0">
                <a:latin typeface="標楷體" panose="03000509000000000000" pitchFamily="65" charset="-120"/>
                <a:ea typeface="標楷體" panose="03000509000000000000" pitchFamily="65" charset="-120"/>
              </a:rPr>
              <a:t>為資料集的真實標籤</a:t>
            </a:r>
            <a:endParaRPr lang="en-US" altLang="zh-TW" sz="2000" dirty="0">
              <a:latin typeface="標楷體" panose="03000509000000000000" pitchFamily="65" charset="-120"/>
              <a:ea typeface="標楷體" panose="03000509000000000000" pitchFamily="65" charset="-120"/>
            </a:endParaRPr>
          </a:p>
          <a:p>
            <a:pPr algn="just"/>
            <a:r>
              <a:rPr lang="en-US" altLang="zh-TW" sz="2000" dirty="0">
                <a:latin typeface="標楷體" panose="03000509000000000000" pitchFamily="65" charset="-120"/>
                <a:ea typeface="標楷體" panose="03000509000000000000" pitchFamily="65" charset="-120"/>
              </a:rPr>
              <a:t>Hard Output q </a:t>
            </a:r>
            <a:r>
              <a:rPr lang="zh-TW" altLang="en-US" sz="2000" dirty="0">
                <a:latin typeface="標楷體" panose="03000509000000000000" pitchFamily="65" charset="-120"/>
                <a:ea typeface="標楷體" panose="03000509000000000000" pitchFamily="65" charset="-120"/>
              </a:rPr>
              <a:t>為學生模型只經過激勵函數</a:t>
            </a:r>
            <a:r>
              <a:rPr lang="en-US" altLang="zh-TW" sz="2000" dirty="0" err="1">
                <a:latin typeface="標楷體" panose="03000509000000000000" pitchFamily="65" charset="-120"/>
                <a:ea typeface="標楷體" panose="03000509000000000000" pitchFamily="65" charset="-120"/>
              </a:rPr>
              <a:t>Softmax</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輸出的機率分佈。</a:t>
            </a:r>
          </a:p>
        </p:txBody>
      </p:sp>
      <p:sp>
        <p:nvSpPr>
          <p:cNvPr id="17" name="文字方塊 16">
            <a:extLst>
              <a:ext uri="{FF2B5EF4-FFF2-40B4-BE49-F238E27FC236}">
                <a16:creationId xmlns:a16="http://schemas.microsoft.com/office/drawing/2014/main" id="{F30AC3CB-1F35-0CEF-A464-DE0EB636AD86}"/>
              </a:ext>
            </a:extLst>
          </p:cNvPr>
          <p:cNvSpPr txBox="1"/>
          <p:nvPr/>
        </p:nvSpPr>
        <p:spPr>
          <a:xfrm>
            <a:off x="1100523" y="3429000"/>
            <a:ext cx="6961239" cy="400110"/>
          </a:xfrm>
          <a:prstGeom prst="rect">
            <a:avLst/>
          </a:prstGeom>
          <a:noFill/>
        </p:spPr>
        <p:txBody>
          <a:bodyPr wrap="square" rtlCol="0">
            <a:spAutoFit/>
          </a:bodyPr>
          <a:lstStyle/>
          <a:p>
            <a:r>
              <a:rPr lang="en-US" altLang="zh-TW" sz="2000" dirty="0">
                <a:latin typeface="標楷體" panose="03000509000000000000" pitchFamily="65" charset="-120"/>
                <a:ea typeface="標楷體" panose="03000509000000000000" pitchFamily="65" charset="-120"/>
              </a:rPr>
              <a:t>Soft Loss:</a:t>
            </a:r>
          </a:p>
        </p:txBody>
      </p:sp>
      <p:sp>
        <p:nvSpPr>
          <p:cNvPr id="18" name="文字方塊 17">
            <a:extLst>
              <a:ext uri="{FF2B5EF4-FFF2-40B4-BE49-F238E27FC236}">
                <a16:creationId xmlns:a16="http://schemas.microsoft.com/office/drawing/2014/main" id="{E041C76F-5005-D8B7-4F42-C371C2558D72}"/>
              </a:ext>
            </a:extLst>
          </p:cNvPr>
          <p:cNvSpPr txBox="1"/>
          <p:nvPr/>
        </p:nvSpPr>
        <p:spPr>
          <a:xfrm>
            <a:off x="2251161" y="3951345"/>
            <a:ext cx="7910052" cy="1631216"/>
          </a:xfrm>
          <a:prstGeom prst="rect">
            <a:avLst/>
          </a:prstGeom>
          <a:noFill/>
        </p:spPr>
        <p:txBody>
          <a:bodyPr wrap="square" rtlCol="0">
            <a:spAutoFit/>
          </a:bodyPr>
          <a:lstStyle/>
          <a:p>
            <a:pPr algn="just"/>
            <a:r>
              <a:rPr lang="en-US" altLang="zh-TW" sz="2000" dirty="0">
                <a:latin typeface="標楷體" panose="03000509000000000000" pitchFamily="65" charset="-120"/>
                <a:ea typeface="標楷體" panose="03000509000000000000" pitchFamily="65" charset="-120"/>
              </a:rPr>
              <a:t>Soft Loss = Cross Entropy(</a:t>
            </a:r>
            <a:r>
              <a:rPr lang="zh-TW" altLang="en-US" sz="2000" dirty="0">
                <a:latin typeface="標楷體" panose="03000509000000000000" pitchFamily="65" charset="-120"/>
                <a:ea typeface="標楷體" panose="03000509000000000000" pitchFamily="65" charset="-120"/>
              </a:rPr>
              <a:t>𝑆𝑜𝑓𝑡 </a:t>
            </a:r>
            <a:r>
              <a:rPr lang="en-US" altLang="zh-TW" sz="2000" dirty="0">
                <a:latin typeface="標楷體" panose="03000509000000000000" pitchFamily="65" charset="-120"/>
                <a:ea typeface="標楷體" panose="03000509000000000000" pitchFamily="65" charset="-120"/>
              </a:rPr>
              <a:t>Target s, </a:t>
            </a:r>
            <a:r>
              <a:rPr lang="zh-TW" altLang="en-US" sz="2000" dirty="0">
                <a:latin typeface="標楷體" panose="03000509000000000000" pitchFamily="65" charset="-120"/>
                <a:ea typeface="標楷體" panose="03000509000000000000" pitchFamily="65" charset="-120"/>
              </a:rPr>
              <a:t>𝑆𝑜𝑓𝑡 </a:t>
            </a:r>
            <a:r>
              <a:rPr lang="en-US" altLang="zh-TW" sz="2000" dirty="0">
                <a:latin typeface="標楷體" panose="03000509000000000000" pitchFamily="65" charset="-120"/>
                <a:ea typeface="標楷體" panose="03000509000000000000" pitchFamily="65" charset="-120"/>
              </a:rPr>
              <a:t>Output r)</a:t>
            </a:r>
          </a:p>
          <a:p>
            <a:pPr algn="just"/>
            <a:r>
              <a:rPr lang="en-US" altLang="zh-TW" sz="2000" dirty="0">
                <a:latin typeface="標楷體" panose="03000509000000000000" pitchFamily="65" charset="-120"/>
                <a:ea typeface="標楷體" panose="03000509000000000000" pitchFamily="65" charset="-120"/>
              </a:rPr>
              <a:t>Soft Target s </a:t>
            </a:r>
            <a:r>
              <a:rPr lang="zh-TW" altLang="en-US" sz="2000" dirty="0">
                <a:latin typeface="標楷體" panose="03000509000000000000" pitchFamily="65" charset="-120"/>
                <a:ea typeface="標楷體" panose="03000509000000000000" pitchFamily="65" charset="-120"/>
              </a:rPr>
              <a:t>為教師模型經過結合溫度</a:t>
            </a:r>
            <a:r>
              <a:rPr lang="en-US" altLang="zh-TW" sz="2000" dirty="0">
                <a:latin typeface="標楷體" panose="03000509000000000000" pitchFamily="65" charset="-120"/>
                <a:ea typeface="標楷體" panose="03000509000000000000" pitchFamily="65" charset="-120"/>
              </a:rPr>
              <a:t>T</a:t>
            </a:r>
            <a:r>
              <a:rPr lang="zh-TW" altLang="en-US" sz="2000" dirty="0">
                <a:latin typeface="標楷體" panose="03000509000000000000" pitchFamily="65" charset="-120"/>
                <a:ea typeface="標楷體" panose="03000509000000000000" pitchFamily="65" charset="-120"/>
              </a:rPr>
              <a:t>的激勵函數</a:t>
            </a:r>
            <a:r>
              <a:rPr lang="en-US" altLang="zh-TW" sz="2000" dirty="0" err="1">
                <a:latin typeface="標楷體" panose="03000509000000000000" pitchFamily="65" charset="-120"/>
                <a:ea typeface="標楷體" panose="03000509000000000000" pitchFamily="65" charset="-120"/>
              </a:rPr>
              <a:t>Softmax</a:t>
            </a:r>
            <a:r>
              <a:rPr lang="zh-TW" altLang="en-US" sz="2000" dirty="0">
                <a:latin typeface="標楷體" panose="03000509000000000000" pitchFamily="65" charset="-120"/>
                <a:ea typeface="標楷體" panose="03000509000000000000" pitchFamily="65" charset="-120"/>
              </a:rPr>
              <a:t>輸出 的機率分佈。</a:t>
            </a:r>
            <a:endParaRPr lang="en-US" altLang="zh-TW" sz="2000" dirty="0">
              <a:latin typeface="標楷體" panose="03000509000000000000" pitchFamily="65" charset="-120"/>
              <a:ea typeface="標楷體" panose="03000509000000000000" pitchFamily="65" charset="-120"/>
            </a:endParaRPr>
          </a:p>
          <a:p>
            <a:pPr algn="just"/>
            <a:r>
              <a:rPr lang="en-US" altLang="zh-TW" sz="2000" dirty="0">
                <a:latin typeface="標楷體" panose="03000509000000000000" pitchFamily="65" charset="-120"/>
                <a:ea typeface="標楷體" panose="03000509000000000000" pitchFamily="65" charset="-120"/>
              </a:rPr>
              <a:t>Soft Output r </a:t>
            </a:r>
            <a:r>
              <a:rPr lang="zh-TW" altLang="en-US" sz="2000" dirty="0">
                <a:latin typeface="標楷體" panose="03000509000000000000" pitchFamily="65" charset="-120"/>
                <a:ea typeface="標楷體" panose="03000509000000000000" pitchFamily="65" charset="-120"/>
              </a:rPr>
              <a:t>為學生模型經過結合溫度</a:t>
            </a:r>
            <a:r>
              <a:rPr lang="en-US" altLang="zh-TW" sz="2000" dirty="0">
                <a:latin typeface="標楷體" panose="03000509000000000000" pitchFamily="65" charset="-120"/>
                <a:ea typeface="標楷體" panose="03000509000000000000" pitchFamily="65" charset="-120"/>
              </a:rPr>
              <a:t>T</a:t>
            </a:r>
            <a:r>
              <a:rPr lang="zh-TW" altLang="en-US" sz="2000" dirty="0">
                <a:latin typeface="標楷體" panose="03000509000000000000" pitchFamily="65" charset="-120"/>
                <a:ea typeface="標楷體" panose="03000509000000000000" pitchFamily="65" charset="-120"/>
              </a:rPr>
              <a:t>的激勵函數</a:t>
            </a:r>
            <a:r>
              <a:rPr lang="en-US" altLang="zh-TW" sz="2000" dirty="0" err="1">
                <a:latin typeface="標楷體" panose="03000509000000000000" pitchFamily="65" charset="-120"/>
                <a:ea typeface="標楷體" panose="03000509000000000000" pitchFamily="65" charset="-120"/>
              </a:rPr>
              <a:t>Softmax</a:t>
            </a:r>
            <a:r>
              <a:rPr lang="zh-TW" altLang="en-US" sz="2000" dirty="0">
                <a:latin typeface="標楷體" panose="03000509000000000000" pitchFamily="65" charset="-120"/>
                <a:ea typeface="標楷體" panose="03000509000000000000" pitchFamily="65" charset="-120"/>
              </a:rPr>
              <a:t>輸出 的機率分佈。</a:t>
            </a:r>
          </a:p>
        </p:txBody>
      </p:sp>
    </p:spTree>
    <p:extLst>
      <p:ext uri="{BB962C8B-B14F-4D97-AF65-F5344CB8AC3E}">
        <p14:creationId xmlns:p14="http://schemas.microsoft.com/office/powerpoint/2010/main" val="420301094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3301-154E-52EB-093B-4F38E092A0A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930D73E-E067-C3DA-0747-487FC69D57DC}"/>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5242DDDF-F52A-D971-0891-30DBEF23A79D}"/>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54344A12-1839-BC9E-7979-175C725C2813}"/>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79E6D932-105A-7F8A-C8FC-61D3BE066237}"/>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92776D5-CC89-319C-D7BD-F68B74459E49}"/>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AAA090F0-D09C-736B-F728-CC722006723B}"/>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a:t>
            </a:r>
            <a:r>
              <a:rPr lang="en-US" altLang="zh-TW" sz="2800" b="1" dirty="0">
                <a:latin typeface="微软雅黑" pitchFamily="34" charset="-122"/>
                <a:ea typeface="微软雅黑" pitchFamily="34" charset="-122"/>
              </a:rPr>
              <a:t>Cross Entropy</a:t>
            </a:r>
          </a:p>
        </p:txBody>
      </p:sp>
      <p:cxnSp>
        <p:nvCxnSpPr>
          <p:cNvPr id="13" name="直接连接符 51">
            <a:extLst>
              <a:ext uri="{FF2B5EF4-FFF2-40B4-BE49-F238E27FC236}">
                <a16:creationId xmlns:a16="http://schemas.microsoft.com/office/drawing/2014/main" id="{6045397D-4278-A88A-8E9B-E905A50A393A}"/>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E397BFE-0A5A-5185-5B81-9453219684F3}"/>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B737A2BD-BC19-756C-25DC-6E806FEDCA7F}"/>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14</a:t>
            </a:fld>
            <a:endParaRPr lang="en-US" altLang="zh-CN" sz="1400" dirty="0">
              <a:solidFill>
                <a:schemeClr val="bg1"/>
              </a:solidFill>
              <a:latin typeface="微软雅黑" pitchFamily="34" charset="-122"/>
              <a:ea typeface="微软雅黑" pitchFamily="34" charset="-122"/>
            </a:endParaRPr>
          </a:p>
        </p:txBody>
      </p:sp>
      <p:pic>
        <p:nvPicPr>
          <p:cNvPr id="3" name="圖片 2">
            <a:extLst>
              <a:ext uri="{FF2B5EF4-FFF2-40B4-BE49-F238E27FC236}">
                <a16:creationId xmlns:a16="http://schemas.microsoft.com/office/drawing/2014/main" id="{123D7B45-17F9-177A-A601-702A70BA6A4A}"/>
              </a:ext>
            </a:extLst>
          </p:cNvPr>
          <p:cNvPicPr>
            <a:picLocks noChangeAspect="1"/>
          </p:cNvPicPr>
          <p:nvPr/>
        </p:nvPicPr>
        <p:blipFill>
          <a:blip r:embed="rId3"/>
          <a:stretch>
            <a:fillRect/>
          </a:stretch>
        </p:blipFill>
        <p:spPr>
          <a:xfrm>
            <a:off x="2369148" y="3429000"/>
            <a:ext cx="6096851" cy="2476846"/>
          </a:xfrm>
          <a:prstGeom prst="rect">
            <a:avLst/>
          </a:prstGeom>
        </p:spPr>
      </p:pic>
      <p:sp>
        <p:nvSpPr>
          <p:cNvPr id="4" name="文字方塊 3">
            <a:extLst>
              <a:ext uri="{FF2B5EF4-FFF2-40B4-BE49-F238E27FC236}">
                <a16:creationId xmlns:a16="http://schemas.microsoft.com/office/drawing/2014/main" id="{62B90877-6F2E-AB72-055E-236470EE67C1}"/>
              </a:ext>
            </a:extLst>
          </p:cNvPr>
          <p:cNvSpPr txBox="1"/>
          <p:nvPr/>
        </p:nvSpPr>
        <p:spPr>
          <a:xfrm>
            <a:off x="1056275" y="1069874"/>
            <a:ext cx="6961239" cy="400110"/>
          </a:xfrm>
          <a:prstGeom prst="rect">
            <a:avLst/>
          </a:prstGeom>
          <a:noFill/>
        </p:spPr>
        <p:txBody>
          <a:bodyPr wrap="square" rtlCol="0">
            <a:spAutoFit/>
          </a:bodyPr>
          <a:lstStyle/>
          <a:p>
            <a:r>
              <a:rPr lang="en-US" altLang="zh-TW" sz="2000" dirty="0">
                <a:latin typeface="標楷體" panose="03000509000000000000" pitchFamily="65" charset="-120"/>
                <a:ea typeface="標楷體" panose="03000509000000000000" pitchFamily="65" charset="-120"/>
              </a:rPr>
              <a:t>Total Loss</a:t>
            </a:r>
          </a:p>
        </p:txBody>
      </p:sp>
      <p:sp>
        <p:nvSpPr>
          <p:cNvPr id="5" name="文字方塊 4">
            <a:extLst>
              <a:ext uri="{FF2B5EF4-FFF2-40B4-BE49-F238E27FC236}">
                <a16:creationId xmlns:a16="http://schemas.microsoft.com/office/drawing/2014/main" id="{08262419-E59D-BE20-8E8C-426BCA782B19}"/>
              </a:ext>
            </a:extLst>
          </p:cNvPr>
          <p:cNvSpPr txBox="1"/>
          <p:nvPr/>
        </p:nvSpPr>
        <p:spPr>
          <a:xfrm>
            <a:off x="1936529" y="1839518"/>
            <a:ext cx="7910052" cy="1015663"/>
          </a:xfrm>
          <a:prstGeom prst="rect">
            <a:avLst/>
          </a:prstGeom>
          <a:noFill/>
        </p:spPr>
        <p:txBody>
          <a:bodyPr wrap="square" rtlCol="0">
            <a:spAutoFit/>
          </a:bodyPr>
          <a:lstStyle/>
          <a:p>
            <a:pPr algn="just"/>
            <a:r>
              <a:rPr lang="en-US" altLang="zh-TW" sz="2000" dirty="0"/>
              <a:t>Total Loss = α∙Soft Loss + (1−α)∙Hard Loss</a:t>
            </a:r>
          </a:p>
          <a:p>
            <a:pPr algn="just"/>
            <a:r>
              <a:rPr lang="en-US" altLang="zh-TW" sz="2000" dirty="0"/>
              <a:t>α</a:t>
            </a:r>
            <a:r>
              <a:rPr lang="zh-TW" altLang="en-US" sz="2000" dirty="0"/>
              <a:t>為</a:t>
            </a:r>
            <a:r>
              <a:rPr lang="en-US" altLang="zh-TW" sz="2000" dirty="0"/>
              <a:t>0</a:t>
            </a:r>
            <a:r>
              <a:rPr lang="zh-TW" altLang="en-US" sz="2000" dirty="0"/>
              <a:t>到</a:t>
            </a:r>
            <a:r>
              <a:rPr lang="en-US" altLang="zh-TW" sz="2000" dirty="0"/>
              <a:t>1</a:t>
            </a:r>
            <a:r>
              <a:rPr lang="zh-TW" altLang="en-US" sz="2000" dirty="0"/>
              <a:t>區間的權重控制參數，用來決定模型訓練結果更趨近 於</a:t>
            </a:r>
            <a:r>
              <a:rPr lang="en-US" altLang="zh-TW" sz="2000" dirty="0"/>
              <a:t>Soft Loss </a:t>
            </a:r>
            <a:r>
              <a:rPr lang="zh-TW" altLang="en-US" sz="2000" dirty="0"/>
              <a:t>或者 </a:t>
            </a:r>
            <a:r>
              <a:rPr lang="en-US" altLang="zh-TW" sz="2000" dirty="0"/>
              <a:t>Hard Loss</a:t>
            </a:r>
            <a:r>
              <a:rPr lang="zh-TW" altLang="en-US" sz="2000" dirty="0"/>
              <a:t>。</a:t>
            </a:r>
            <a:endParaRPr lang="zh-TW" altLang="en-US" sz="2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3433610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D3F0-679B-8AC4-AED6-CE0938A9116E}"/>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DEE89ECA-5A54-6DFA-A529-AE10F384FC1F}"/>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A4D43B16-9F5F-5838-5C20-9F72AFF94D7A}"/>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1DD2E9E4-0F81-243F-7CDD-E07A06E6AA36}"/>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278CAD7D-AD57-CC3B-02C0-81583D7E672B}"/>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ABEA11D-5507-B6A3-D0CA-5A62B1045E43}"/>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A651F9DD-5822-0CEB-A548-1FB58058A33A}"/>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多教師助教模型</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3155E141-165F-CE24-CD7F-0AFCF05EEB19}"/>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76D4F94-E4CD-868B-C6B5-15E8468AFF22}"/>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D2C3D257-139E-FBEB-6C3D-4F812963742C}"/>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15</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85498857-8F71-E0E9-7DCB-983EB12542C8}"/>
              </a:ext>
            </a:extLst>
          </p:cNvPr>
          <p:cNvSpPr/>
          <p:nvPr/>
        </p:nvSpPr>
        <p:spPr>
          <a:xfrm>
            <a:off x="457226" y="1076404"/>
            <a:ext cx="10912643" cy="707886"/>
          </a:xfrm>
          <a:prstGeom prst="rect">
            <a:avLst/>
          </a:prstGeom>
        </p:spPr>
        <p:txBody>
          <a:bodyPr wrap="square">
            <a:spAutoFit/>
          </a:bodyPr>
          <a:lstStyle/>
          <a:p>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多教師架構</a:t>
            </a:r>
            <a:r>
              <a:rPr lang="en-US" altLang="zh-TW" sz="2000" dirty="0">
                <a:latin typeface="標楷體" panose="03000509000000000000" pitchFamily="65" charset="-120"/>
                <a:ea typeface="標楷體" panose="03000509000000000000" pitchFamily="65" charset="-120"/>
              </a:rPr>
              <a:t>(Multi-teacher)</a:t>
            </a:r>
            <a:r>
              <a:rPr lang="zh-TW" altLang="en-US" sz="2000" dirty="0">
                <a:latin typeface="標楷體" panose="03000509000000000000" pitchFamily="65" charset="-120"/>
                <a:ea typeface="標楷體" panose="03000509000000000000" pitchFamily="65" charset="-120"/>
              </a:rPr>
              <a:t>和助教架構</a:t>
            </a:r>
            <a:r>
              <a:rPr lang="en-US" altLang="zh-TW" sz="2000" dirty="0">
                <a:latin typeface="標楷體" panose="03000509000000000000" pitchFamily="65" charset="-120"/>
                <a:ea typeface="標楷體" panose="03000509000000000000" pitchFamily="65" charset="-120"/>
              </a:rPr>
              <a:t>(Teacher-assistant)</a:t>
            </a:r>
            <a:r>
              <a:rPr lang="zh-TW" altLang="en-US" sz="2000" dirty="0">
                <a:latin typeface="標楷體" panose="03000509000000000000" pitchFamily="65" charset="-120"/>
                <a:ea typeface="標楷體" panose="03000509000000000000" pitchFamily="65" charset="-120"/>
              </a:rPr>
              <a:t>。</a:t>
            </a:r>
          </a:p>
          <a:p>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其特點為解決教師模型與學生模型差距太大導致蒸餾效果不好的問題。</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3" name="圖片 2" descr="一張含有 圓形 的圖片&#10;&#10;AI 產生的內容可能不正確。">
            <a:extLst>
              <a:ext uri="{FF2B5EF4-FFF2-40B4-BE49-F238E27FC236}">
                <a16:creationId xmlns:a16="http://schemas.microsoft.com/office/drawing/2014/main" id="{D138D9D9-68BD-7322-367F-236BE43FE662}"/>
              </a:ext>
            </a:extLst>
          </p:cNvPr>
          <p:cNvPicPr>
            <a:picLocks noChangeAspect="1"/>
          </p:cNvPicPr>
          <p:nvPr/>
        </p:nvPicPr>
        <p:blipFill>
          <a:blip r:embed="rId3"/>
          <a:stretch>
            <a:fillRect/>
          </a:stretch>
        </p:blipFill>
        <p:spPr>
          <a:xfrm>
            <a:off x="457226" y="1983023"/>
            <a:ext cx="3229426" cy="1695687"/>
          </a:xfrm>
          <a:prstGeom prst="rect">
            <a:avLst/>
          </a:prstGeom>
        </p:spPr>
      </p:pic>
      <p:pic>
        <p:nvPicPr>
          <p:cNvPr id="5" name="圖片 4" descr="一張含有 圓形, 圖表, 字型, 圖形 的圖片&#10;&#10;AI 產生的內容可能不正確。">
            <a:extLst>
              <a:ext uri="{FF2B5EF4-FFF2-40B4-BE49-F238E27FC236}">
                <a16:creationId xmlns:a16="http://schemas.microsoft.com/office/drawing/2014/main" id="{ADE1730B-D9B5-FAC6-8481-BD9ECD7E96A8}"/>
              </a:ext>
            </a:extLst>
          </p:cNvPr>
          <p:cNvPicPr>
            <a:picLocks noChangeAspect="1"/>
          </p:cNvPicPr>
          <p:nvPr/>
        </p:nvPicPr>
        <p:blipFill>
          <a:blip r:embed="rId4"/>
          <a:stretch>
            <a:fillRect/>
          </a:stretch>
        </p:blipFill>
        <p:spPr>
          <a:xfrm>
            <a:off x="5799053" y="2075831"/>
            <a:ext cx="3600953" cy="4372585"/>
          </a:xfrm>
          <a:prstGeom prst="rect">
            <a:avLst/>
          </a:prstGeom>
        </p:spPr>
      </p:pic>
    </p:spTree>
    <p:extLst>
      <p:ext uri="{BB962C8B-B14F-4D97-AF65-F5344CB8AC3E}">
        <p14:creationId xmlns:p14="http://schemas.microsoft.com/office/powerpoint/2010/main" val="19814006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D37D-258C-2D0F-B08D-95913272436F}"/>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3D5B7EC5-3599-5E99-59E4-45F90792E64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F9AADF5C-5BC3-7CF1-015C-11064D6D4BE6}"/>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DCBDBAA8-0C4F-4932-C2A0-9F36599BCDF6}"/>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102FD940-D5A0-942C-A0E1-CA0DC3C95D79}"/>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AEC43110-6D12-ABDB-7B4B-4CD552766B79}"/>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303E0DF5-8970-7138-246C-61E465000163}"/>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多教師助教模型</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5B320C04-29A8-08B8-8CC8-4AC002A07766}"/>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E11FF841-9615-5D66-5F7D-0DDF55AC94F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3B1AFB6F-461B-8009-F12E-A05E337AAA5E}"/>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16</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65EB1F82-7B2A-0498-0950-1E519406C190}"/>
              </a:ext>
            </a:extLst>
          </p:cNvPr>
          <p:cNvSpPr/>
          <p:nvPr/>
        </p:nvSpPr>
        <p:spPr>
          <a:xfrm>
            <a:off x="529196" y="1094379"/>
            <a:ext cx="10912643" cy="400110"/>
          </a:xfrm>
          <a:prstGeom prst="rect">
            <a:avLst/>
          </a:prstGeom>
        </p:spPr>
        <p:txBody>
          <a:bodyPr wrap="square">
            <a:spAutoFit/>
          </a:bodyPr>
          <a:lstStyle/>
          <a:p>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其特點為解決教師模型與學生模型差距太大導致蒸餾效果不好的問題。</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4" name="圖片 3">
            <a:extLst>
              <a:ext uri="{FF2B5EF4-FFF2-40B4-BE49-F238E27FC236}">
                <a16:creationId xmlns:a16="http://schemas.microsoft.com/office/drawing/2014/main" id="{A34FE368-536F-C880-D972-228190C4737A}"/>
              </a:ext>
            </a:extLst>
          </p:cNvPr>
          <p:cNvPicPr>
            <a:picLocks noChangeAspect="1"/>
          </p:cNvPicPr>
          <p:nvPr/>
        </p:nvPicPr>
        <p:blipFill>
          <a:blip r:embed="rId3"/>
          <a:stretch>
            <a:fillRect/>
          </a:stretch>
        </p:blipFill>
        <p:spPr>
          <a:xfrm>
            <a:off x="1056275" y="1630262"/>
            <a:ext cx="5940430" cy="1501428"/>
          </a:xfrm>
          <a:prstGeom prst="rect">
            <a:avLst/>
          </a:prstGeom>
        </p:spPr>
      </p:pic>
      <p:pic>
        <p:nvPicPr>
          <p:cNvPr id="18" name="圖片 17">
            <a:extLst>
              <a:ext uri="{FF2B5EF4-FFF2-40B4-BE49-F238E27FC236}">
                <a16:creationId xmlns:a16="http://schemas.microsoft.com/office/drawing/2014/main" id="{2D486E6B-70A4-D93D-CC0F-815366BA35DA}"/>
              </a:ext>
            </a:extLst>
          </p:cNvPr>
          <p:cNvPicPr>
            <a:picLocks noChangeAspect="1"/>
          </p:cNvPicPr>
          <p:nvPr/>
        </p:nvPicPr>
        <p:blipFill>
          <a:blip r:embed="rId4"/>
          <a:stretch>
            <a:fillRect/>
          </a:stretch>
        </p:blipFill>
        <p:spPr>
          <a:xfrm>
            <a:off x="1717766" y="3131690"/>
            <a:ext cx="6671355" cy="3651804"/>
          </a:xfrm>
          <a:prstGeom prst="rect">
            <a:avLst/>
          </a:prstGeom>
        </p:spPr>
      </p:pic>
    </p:spTree>
    <p:extLst>
      <p:ext uri="{BB962C8B-B14F-4D97-AF65-F5344CB8AC3E}">
        <p14:creationId xmlns:p14="http://schemas.microsoft.com/office/powerpoint/2010/main" val="5808277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E955-3C5C-BA49-EA26-CB4C7F293EC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1ADE436E-5356-4353-DD8C-614F98A8A550}"/>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2F582C9D-F22E-243E-DAE1-C5A8BE5178E0}"/>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B43C6DA6-83EF-0879-15B3-F7B84EF131FC}"/>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A55D9B8E-A61E-1335-3DBA-7066C20CDD99}"/>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91D8B0E9-23B9-1E43-2A2F-7E4E318676EB}"/>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1B3D4FE9-EEE6-2434-7B00-6459D8C30DB1}"/>
              </a:ext>
            </a:extLst>
          </p:cNvPr>
          <p:cNvSpPr txBox="1">
            <a:spLocks noChangeArrowheads="1"/>
          </p:cNvSpPr>
          <p:nvPr/>
        </p:nvSpPr>
        <p:spPr bwMode="auto">
          <a:xfrm>
            <a:off x="1344154" y="354451"/>
            <a:ext cx="42099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研究方法 多教師助教模型</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7923D10A-739D-0566-5733-1C7824E06DB7}"/>
              </a:ext>
            </a:extLst>
          </p:cNvPr>
          <p:cNvCxnSpPr>
            <a:cxnSpLocks/>
            <a:endCxn id="12" idx="3"/>
          </p:cNvCxnSpPr>
          <p:nvPr/>
        </p:nvCxnSpPr>
        <p:spPr>
          <a:xfrm flipH="1" flipV="1">
            <a:off x="5554133" y="616061"/>
            <a:ext cx="6352558"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F73220B9-C12E-322D-A97C-48B55233B6E5}"/>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222C9772-48CF-9F0C-24BA-F5C28F3AB74D}"/>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17</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93D4ABA3-33F0-48D4-8B35-4F22F9DEA12F}"/>
              </a:ext>
            </a:extLst>
          </p:cNvPr>
          <p:cNvSpPr/>
          <p:nvPr/>
        </p:nvSpPr>
        <p:spPr>
          <a:xfrm>
            <a:off x="529196" y="1094379"/>
            <a:ext cx="10912643" cy="400110"/>
          </a:xfrm>
          <a:prstGeom prst="rect">
            <a:avLst/>
          </a:prstGeom>
        </p:spPr>
        <p:txBody>
          <a:bodyPr wrap="square">
            <a:spAutoFit/>
          </a:bodyPr>
          <a:lstStyle/>
          <a:p>
            <a:r>
              <a:rPr lang="en-US" altLang="zh-TW" sz="1600" dirty="0">
                <a:latin typeface="標楷體" panose="03000509000000000000" pitchFamily="65" charset="-120"/>
                <a:ea typeface="標楷體" panose="03000509000000000000" pitchFamily="65" charset="-120"/>
              </a:rPr>
              <a:t>•</a:t>
            </a:r>
            <a:r>
              <a:rPr lang="zh-TW" altLang="en-US" sz="16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多教師助教架構的</a:t>
            </a:r>
            <a:r>
              <a:rPr lang="en-US" altLang="zh-TW" sz="2000" dirty="0">
                <a:latin typeface="標楷體" panose="03000509000000000000" pitchFamily="65" charset="-120"/>
                <a:ea typeface="標楷體" panose="03000509000000000000" pitchFamily="65" charset="-120"/>
              </a:rPr>
              <a:t>Soft Loss</a:t>
            </a:r>
            <a:endParaRPr lang="en-US" altLang="zh-TW" sz="2000" dirty="0">
              <a:solidFill>
                <a:srgbClr val="FF0000"/>
              </a:solidFill>
              <a:latin typeface="標楷體" panose="03000509000000000000" pitchFamily="65" charset="-120"/>
              <a:ea typeface="標楷體" panose="03000509000000000000" pitchFamily="65" charset="-120"/>
            </a:endParaRPr>
          </a:p>
        </p:txBody>
      </p:sp>
      <p:pic>
        <p:nvPicPr>
          <p:cNvPr id="3" name="圖片 2" descr="一張含有 字型, 文字, 行, 印刷術 的圖片&#10;&#10;AI 產生的內容可能不正確。">
            <a:extLst>
              <a:ext uri="{FF2B5EF4-FFF2-40B4-BE49-F238E27FC236}">
                <a16:creationId xmlns:a16="http://schemas.microsoft.com/office/drawing/2014/main" id="{863125A9-4BBB-D668-6C05-98403C7E7F8D}"/>
              </a:ext>
            </a:extLst>
          </p:cNvPr>
          <p:cNvPicPr>
            <a:picLocks noChangeAspect="1"/>
          </p:cNvPicPr>
          <p:nvPr/>
        </p:nvPicPr>
        <p:blipFill>
          <a:blip r:embed="rId3"/>
          <a:stretch>
            <a:fillRect/>
          </a:stretch>
        </p:blipFill>
        <p:spPr>
          <a:xfrm>
            <a:off x="5244622" y="978586"/>
            <a:ext cx="3924848" cy="743054"/>
          </a:xfrm>
          <a:prstGeom prst="rect">
            <a:avLst/>
          </a:prstGeom>
        </p:spPr>
      </p:pic>
      <p:pic>
        <p:nvPicPr>
          <p:cNvPr id="6" name="圖片 5">
            <a:extLst>
              <a:ext uri="{FF2B5EF4-FFF2-40B4-BE49-F238E27FC236}">
                <a16:creationId xmlns:a16="http://schemas.microsoft.com/office/drawing/2014/main" id="{20D2A4F1-9412-3CF5-11EF-960BA8BA0A9C}"/>
              </a:ext>
            </a:extLst>
          </p:cNvPr>
          <p:cNvPicPr>
            <a:picLocks noChangeAspect="1"/>
          </p:cNvPicPr>
          <p:nvPr/>
        </p:nvPicPr>
        <p:blipFill>
          <a:blip r:embed="rId4"/>
          <a:stretch>
            <a:fillRect/>
          </a:stretch>
        </p:blipFill>
        <p:spPr>
          <a:xfrm>
            <a:off x="3674772" y="2099465"/>
            <a:ext cx="4842456" cy="3779949"/>
          </a:xfrm>
          <a:prstGeom prst="rect">
            <a:avLst/>
          </a:prstGeom>
        </p:spPr>
      </p:pic>
    </p:spTree>
    <p:extLst>
      <p:ext uri="{BB962C8B-B14F-4D97-AF65-F5344CB8AC3E}">
        <p14:creationId xmlns:p14="http://schemas.microsoft.com/office/powerpoint/2010/main" val="4970715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18</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0A9FEFE1-80CA-4737-ADC9-F82EDDBB912C}"/>
              </a:ext>
            </a:extLst>
          </p:cNvPr>
          <p:cNvSpPr/>
          <p:nvPr/>
        </p:nvSpPr>
        <p:spPr>
          <a:xfrm>
            <a:off x="529196" y="1094379"/>
            <a:ext cx="10912643" cy="1323439"/>
          </a:xfrm>
          <a:prstGeom prst="rect">
            <a:avLst/>
          </a:prstGeom>
        </p:spPr>
        <p:txBody>
          <a:bodyPr wrap="square">
            <a:spAutoFit/>
          </a:bodyPr>
          <a:lstStyle/>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CNN30 </a:t>
            </a:r>
            <a:r>
              <a:rPr lang="zh-TW" altLang="en-US" sz="2000" dirty="0">
                <a:latin typeface="標楷體" panose="03000509000000000000" pitchFamily="65" charset="-120"/>
                <a:ea typeface="標楷體" panose="03000509000000000000" pitchFamily="65" charset="-120"/>
              </a:rPr>
              <a:t>為教師模型，藍線是教師模型的準確率，橘線是學生模型 </a:t>
            </a:r>
            <a:r>
              <a:rPr lang="en-US" altLang="zh-TW" sz="2000" dirty="0">
                <a:latin typeface="標楷體" panose="03000509000000000000" pitchFamily="65" charset="-120"/>
                <a:ea typeface="標楷體" panose="03000509000000000000" pitchFamily="65" charset="-120"/>
              </a:rPr>
              <a:t>CNN2</a:t>
            </a:r>
            <a:r>
              <a:rPr lang="zh-TW" altLang="en-US" sz="2000" dirty="0">
                <a:latin typeface="標楷體" panose="03000509000000000000" pitchFamily="65" charset="-120"/>
                <a:ea typeface="標楷體" panose="03000509000000000000" pitchFamily="65" charset="-120"/>
              </a:rPr>
              <a:t>的準確率，灰線是學生模型</a:t>
            </a:r>
            <a:r>
              <a:rPr lang="en-US" altLang="zh-TW" sz="2000" dirty="0">
                <a:latin typeface="標楷體" panose="03000509000000000000" pitchFamily="65" charset="-120"/>
                <a:ea typeface="標楷體" panose="03000509000000000000" pitchFamily="65" charset="-120"/>
              </a:rPr>
              <a:t>CNN4</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可以看出教師模型</a:t>
            </a:r>
            <a:r>
              <a:rPr lang="en-US" altLang="zh-TW" sz="2000" dirty="0">
                <a:latin typeface="標楷體" panose="03000509000000000000" pitchFamily="65" charset="-120"/>
                <a:ea typeface="標楷體" panose="03000509000000000000" pitchFamily="65" charset="-120"/>
              </a:rPr>
              <a:t>CNN30</a:t>
            </a:r>
            <a:r>
              <a:rPr lang="zh-TW" altLang="en-US" sz="2000" dirty="0">
                <a:latin typeface="標楷體" panose="03000509000000000000" pitchFamily="65" charset="-120"/>
                <a:ea typeface="標楷體" panose="03000509000000000000" pitchFamily="65" charset="-120"/>
              </a:rPr>
              <a:t>訓練次數越多，準確率越高，但準確率高的教師模型蒸餾到學生模型</a:t>
            </a:r>
            <a:r>
              <a:rPr lang="en-US" altLang="zh-TW" sz="2000" dirty="0">
                <a:latin typeface="標楷體" panose="03000509000000000000" pitchFamily="65" charset="-120"/>
                <a:ea typeface="標楷體" panose="03000509000000000000" pitchFamily="65" charset="-120"/>
              </a:rPr>
              <a:t>CNN2 </a:t>
            </a:r>
            <a:r>
              <a:rPr lang="zh-TW" altLang="en-US" sz="2000" dirty="0">
                <a:latin typeface="標楷體" panose="03000509000000000000" pitchFamily="65" charset="-120"/>
                <a:ea typeface="標楷體" panose="03000509000000000000" pitchFamily="65" charset="-120"/>
              </a:rPr>
              <a:t>和</a:t>
            </a:r>
            <a:r>
              <a:rPr lang="en-US" altLang="zh-TW" sz="2000" dirty="0">
                <a:latin typeface="標楷體" panose="03000509000000000000" pitchFamily="65" charset="-120"/>
                <a:ea typeface="標楷體" panose="03000509000000000000" pitchFamily="65" charset="-120"/>
              </a:rPr>
              <a:t>CNN4 </a:t>
            </a:r>
            <a:r>
              <a:rPr lang="zh-TW" altLang="en-US" sz="2000" dirty="0">
                <a:latin typeface="標楷體" panose="03000509000000000000" pitchFamily="65" charset="-120"/>
                <a:ea typeface="標楷體" panose="03000509000000000000" pitchFamily="65" charset="-120"/>
              </a:rPr>
              <a:t>的準確率卻沒有提高。</a:t>
            </a:r>
            <a:endParaRPr lang="en-US" altLang="zh-TW" sz="20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3D51EAE4-14A5-44D5-1F88-7DFA7BA8F327}"/>
              </a:ext>
            </a:extLst>
          </p:cNvPr>
          <p:cNvPicPr>
            <a:picLocks noChangeAspect="1"/>
          </p:cNvPicPr>
          <p:nvPr/>
        </p:nvPicPr>
        <p:blipFill>
          <a:blip r:embed="rId3"/>
          <a:stretch>
            <a:fillRect/>
          </a:stretch>
        </p:blipFill>
        <p:spPr>
          <a:xfrm>
            <a:off x="2283853" y="2417818"/>
            <a:ext cx="7624293" cy="4198513"/>
          </a:xfrm>
          <a:prstGeom prst="rect">
            <a:avLst/>
          </a:prstGeom>
        </p:spPr>
      </p:pic>
    </p:spTree>
    <p:extLst>
      <p:ext uri="{BB962C8B-B14F-4D97-AF65-F5344CB8AC3E}">
        <p14:creationId xmlns:p14="http://schemas.microsoft.com/office/powerpoint/2010/main" val="18610078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7922E-A3F6-9943-AC11-551A5EAA913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6C7A4229-1D5A-FF00-EE0D-489C8CB074FE}"/>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7CE912E7-8DC9-732D-4E76-FD9CDF4E7518}"/>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8F946C32-C4B7-33C6-B119-A9A97D975CCC}"/>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AC744A5B-C6B4-B068-AE89-B4DFC8A93529}"/>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62FC415-4DE1-5F2E-EAC8-0937EEDFB475}"/>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5BFCC679-EF91-B10B-4A52-C1F5FFFC2FEF}"/>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52F0BA58-45D2-68B0-709E-5372FF903301}"/>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6337BFC3-902C-BA5F-4E2A-902357F6D7C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A5D9BDBD-5EDD-1DAB-7E81-FE24F492BC85}"/>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19</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9C137312-E423-D34D-23E5-CCC14FE54143}"/>
              </a:ext>
            </a:extLst>
          </p:cNvPr>
          <p:cNvSpPr/>
          <p:nvPr/>
        </p:nvSpPr>
        <p:spPr>
          <a:xfrm>
            <a:off x="529196" y="1094379"/>
            <a:ext cx="10912643" cy="1323439"/>
          </a:xfrm>
          <a:prstGeom prst="rect">
            <a:avLst/>
          </a:prstGeom>
        </p:spPr>
        <p:txBody>
          <a:bodyPr wrap="square">
            <a:spAutoFit/>
          </a:bodyPr>
          <a:lstStyle/>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CNN10 </a:t>
            </a:r>
            <a:r>
              <a:rPr lang="zh-TW" altLang="en-US" sz="2000" dirty="0">
                <a:latin typeface="標楷體" panose="03000509000000000000" pitchFamily="65" charset="-120"/>
                <a:ea typeface="標楷體" panose="03000509000000000000" pitchFamily="65" charset="-120"/>
              </a:rPr>
              <a:t>為教師模型，藍線是教師模型的準確率，橘線是學生模型 </a:t>
            </a:r>
            <a:r>
              <a:rPr lang="en-US" altLang="zh-TW" sz="2000" dirty="0">
                <a:latin typeface="標楷體" panose="03000509000000000000" pitchFamily="65" charset="-120"/>
                <a:ea typeface="標楷體" panose="03000509000000000000" pitchFamily="65" charset="-120"/>
              </a:rPr>
              <a:t>CNN2</a:t>
            </a:r>
            <a:r>
              <a:rPr lang="zh-TW" altLang="en-US" sz="2000" dirty="0">
                <a:latin typeface="標楷體" panose="03000509000000000000" pitchFamily="65" charset="-120"/>
                <a:ea typeface="標楷體" panose="03000509000000000000" pitchFamily="65" charset="-120"/>
              </a:rPr>
              <a:t>的準確率，灰線是學生模型</a:t>
            </a:r>
            <a:r>
              <a:rPr lang="en-US" altLang="zh-TW" sz="2000" dirty="0">
                <a:latin typeface="標楷體" panose="03000509000000000000" pitchFamily="65" charset="-120"/>
                <a:ea typeface="標楷體" panose="03000509000000000000" pitchFamily="65" charset="-120"/>
              </a:rPr>
              <a:t>CNN4</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可以看出教師模型</a:t>
            </a:r>
            <a:r>
              <a:rPr lang="en-US" altLang="zh-TW" sz="2000" dirty="0">
                <a:latin typeface="標楷體" panose="03000509000000000000" pitchFamily="65" charset="-120"/>
                <a:ea typeface="標楷體" panose="03000509000000000000" pitchFamily="65" charset="-120"/>
              </a:rPr>
              <a:t>CNN10</a:t>
            </a:r>
            <a:r>
              <a:rPr lang="zh-TW" altLang="en-US" sz="2000" dirty="0">
                <a:latin typeface="標楷體" panose="03000509000000000000" pitchFamily="65" charset="-120"/>
                <a:ea typeface="標楷體" panose="03000509000000000000" pitchFamily="65" charset="-120"/>
              </a:rPr>
              <a:t>訓練次數越多，準確率越高，但準確率高的教師模型蒸餾到學生模型</a:t>
            </a:r>
            <a:r>
              <a:rPr lang="en-US" altLang="zh-TW" sz="2000" dirty="0">
                <a:latin typeface="標楷體" panose="03000509000000000000" pitchFamily="65" charset="-120"/>
                <a:ea typeface="標楷體" panose="03000509000000000000" pitchFamily="65" charset="-120"/>
              </a:rPr>
              <a:t>CNN2 </a:t>
            </a:r>
            <a:r>
              <a:rPr lang="zh-TW" altLang="en-US" sz="2000" dirty="0">
                <a:latin typeface="標楷體" panose="03000509000000000000" pitchFamily="65" charset="-120"/>
                <a:ea typeface="標楷體" panose="03000509000000000000" pitchFamily="65" charset="-120"/>
              </a:rPr>
              <a:t>和</a:t>
            </a:r>
            <a:r>
              <a:rPr lang="en-US" altLang="zh-TW" sz="2000" dirty="0">
                <a:latin typeface="標楷體" panose="03000509000000000000" pitchFamily="65" charset="-120"/>
                <a:ea typeface="標楷體" panose="03000509000000000000" pitchFamily="65" charset="-120"/>
              </a:rPr>
              <a:t>CNN4 </a:t>
            </a:r>
            <a:r>
              <a:rPr lang="zh-TW" altLang="en-US" sz="2000" dirty="0">
                <a:latin typeface="標楷體" panose="03000509000000000000" pitchFamily="65" charset="-120"/>
                <a:ea typeface="標楷體" panose="03000509000000000000" pitchFamily="65" charset="-120"/>
              </a:rPr>
              <a:t>的準確率卻沒有提高。</a:t>
            </a:r>
            <a:endParaRPr lang="en-US" altLang="zh-TW" sz="2000" dirty="0">
              <a:latin typeface="標楷體" panose="03000509000000000000" pitchFamily="65" charset="-120"/>
              <a:ea typeface="標楷體" panose="03000509000000000000" pitchFamily="65" charset="-120"/>
            </a:endParaRPr>
          </a:p>
        </p:txBody>
      </p:sp>
      <p:pic>
        <p:nvPicPr>
          <p:cNvPr id="4" name="圖片 3">
            <a:extLst>
              <a:ext uri="{FF2B5EF4-FFF2-40B4-BE49-F238E27FC236}">
                <a16:creationId xmlns:a16="http://schemas.microsoft.com/office/drawing/2014/main" id="{FC93C05C-10E3-E237-634D-CD5113DBE5F5}"/>
              </a:ext>
            </a:extLst>
          </p:cNvPr>
          <p:cNvPicPr>
            <a:picLocks noChangeAspect="1"/>
          </p:cNvPicPr>
          <p:nvPr/>
        </p:nvPicPr>
        <p:blipFill>
          <a:blip r:embed="rId3"/>
          <a:stretch>
            <a:fillRect/>
          </a:stretch>
        </p:blipFill>
        <p:spPr>
          <a:xfrm>
            <a:off x="2477036" y="2389724"/>
            <a:ext cx="7237927" cy="3986011"/>
          </a:xfrm>
          <a:prstGeom prst="rect">
            <a:avLst/>
          </a:prstGeom>
        </p:spPr>
      </p:pic>
    </p:spTree>
    <p:extLst>
      <p:ext uri="{BB962C8B-B14F-4D97-AF65-F5344CB8AC3E}">
        <p14:creationId xmlns:p14="http://schemas.microsoft.com/office/powerpoint/2010/main" val="77785177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099A-933D-194A-E320-8F3F1F0B6465}"/>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9131CACC-8BB8-6D41-DA0B-4C4F42CCF70B}"/>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CCBB1F4B-3D99-EACD-4F7C-47CDE8F89D1B}"/>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91EC3266-3ED5-94F9-2F44-4F9CC61752E9}"/>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B22F88E2-E984-7011-8772-590724D689D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DBCF5FB7-E3B6-E08F-9CC2-A7D47C43BDFF}"/>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E69093CD-DA6C-3DE8-DFE2-659078B458C8}"/>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C91FBDB8-F7C5-0D1B-9D79-B90EF3BDB54D}"/>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1FE0244-CAEF-5623-EB01-707D1F92060B}"/>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393D5AE1-01DC-99BE-1030-98A99C1D21A9}"/>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20</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14ABF135-D84A-2926-8DE4-F57ADA94D73A}"/>
              </a:ext>
            </a:extLst>
          </p:cNvPr>
          <p:cNvSpPr/>
          <p:nvPr/>
        </p:nvSpPr>
        <p:spPr>
          <a:xfrm>
            <a:off x="529196" y="1094379"/>
            <a:ext cx="10912643" cy="1323439"/>
          </a:xfrm>
          <a:prstGeom prst="rect">
            <a:avLst/>
          </a:prstGeom>
        </p:spPr>
        <p:txBody>
          <a:bodyPr wrap="square">
            <a:spAutoFit/>
          </a:bodyPr>
          <a:lstStyle/>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CNN8 </a:t>
            </a:r>
            <a:r>
              <a:rPr lang="zh-TW" altLang="en-US" sz="2000" dirty="0">
                <a:latin typeface="標楷體" panose="03000509000000000000" pitchFamily="65" charset="-120"/>
                <a:ea typeface="標楷體" panose="03000509000000000000" pitchFamily="65" charset="-120"/>
              </a:rPr>
              <a:t>為教師模型，藍線是教師模型的準確率，橘線是學生模型 </a:t>
            </a:r>
            <a:r>
              <a:rPr lang="en-US" altLang="zh-TW" sz="2000" dirty="0">
                <a:latin typeface="標楷體" panose="03000509000000000000" pitchFamily="65" charset="-120"/>
                <a:ea typeface="標楷體" panose="03000509000000000000" pitchFamily="65" charset="-120"/>
              </a:rPr>
              <a:t>CNN2</a:t>
            </a:r>
            <a:r>
              <a:rPr lang="zh-TW" altLang="en-US" sz="2000" dirty="0">
                <a:latin typeface="標楷體" panose="03000509000000000000" pitchFamily="65" charset="-120"/>
                <a:ea typeface="標楷體" panose="03000509000000000000" pitchFamily="65" charset="-120"/>
              </a:rPr>
              <a:t>的準確率，灰線是學生模型</a:t>
            </a:r>
            <a:r>
              <a:rPr lang="en-US" altLang="zh-TW" sz="2000" dirty="0">
                <a:latin typeface="標楷體" panose="03000509000000000000" pitchFamily="65" charset="-120"/>
                <a:ea typeface="標楷體" panose="03000509000000000000" pitchFamily="65" charset="-120"/>
              </a:rPr>
              <a:t>CNN4</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可以看出教師模型</a:t>
            </a:r>
            <a:r>
              <a:rPr lang="en-US" altLang="zh-TW" sz="2000" dirty="0">
                <a:latin typeface="標楷體" panose="03000509000000000000" pitchFamily="65" charset="-120"/>
                <a:ea typeface="標楷體" panose="03000509000000000000" pitchFamily="65" charset="-120"/>
              </a:rPr>
              <a:t>CNN8</a:t>
            </a:r>
            <a:r>
              <a:rPr lang="zh-TW" altLang="en-US" sz="2000" dirty="0">
                <a:latin typeface="標楷體" panose="03000509000000000000" pitchFamily="65" charset="-120"/>
                <a:ea typeface="標楷體" panose="03000509000000000000" pitchFamily="65" charset="-120"/>
              </a:rPr>
              <a:t>訓練次數越多，準確率越高，但準確率高的教師模型蒸餾到學生模型</a:t>
            </a:r>
            <a:r>
              <a:rPr lang="en-US" altLang="zh-TW" sz="2000" dirty="0">
                <a:latin typeface="標楷體" panose="03000509000000000000" pitchFamily="65" charset="-120"/>
                <a:ea typeface="標楷體" panose="03000509000000000000" pitchFamily="65" charset="-120"/>
              </a:rPr>
              <a:t>CNN2 </a:t>
            </a:r>
            <a:r>
              <a:rPr lang="zh-TW" altLang="en-US" sz="2000" dirty="0">
                <a:latin typeface="標楷體" panose="03000509000000000000" pitchFamily="65" charset="-120"/>
                <a:ea typeface="標楷體" panose="03000509000000000000" pitchFamily="65" charset="-120"/>
              </a:rPr>
              <a:t>和</a:t>
            </a:r>
            <a:r>
              <a:rPr lang="en-US" altLang="zh-TW" sz="2000" dirty="0">
                <a:latin typeface="標楷體" panose="03000509000000000000" pitchFamily="65" charset="-120"/>
                <a:ea typeface="標楷體" panose="03000509000000000000" pitchFamily="65" charset="-120"/>
              </a:rPr>
              <a:t>CNN4 </a:t>
            </a:r>
            <a:r>
              <a:rPr lang="zh-TW" altLang="en-US" sz="2000" dirty="0">
                <a:latin typeface="標楷體" panose="03000509000000000000" pitchFamily="65" charset="-120"/>
                <a:ea typeface="標楷體" panose="03000509000000000000" pitchFamily="65" charset="-120"/>
              </a:rPr>
              <a:t>的準確率卻沒有提高。</a:t>
            </a:r>
            <a:endParaRPr lang="en-US" altLang="zh-TW" sz="20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18D278C1-ADE5-D1A2-86B8-D03B6693CC64}"/>
              </a:ext>
            </a:extLst>
          </p:cNvPr>
          <p:cNvPicPr>
            <a:picLocks noChangeAspect="1"/>
          </p:cNvPicPr>
          <p:nvPr/>
        </p:nvPicPr>
        <p:blipFill>
          <a:blip r:embed="rId3"/>
          <a:stretch>
            <a:fillRect/>
          </a:stretch>
        </p:blipFill>
        <p:spPr>
          <a:xfrm>
            <a:off x="2477036" y="2448718"/>
            <a:ext cx="7237927" cy="3986011"/>
          </a:xfrm>
          <a:prstGeom prst="rect">
            <a:avLst/>
          </a:prstGeom>
        </p:spPr>
      </p:pic>
    </p:spTree>
    <p:extLst>
      <p:ext uri="{BB962C8B-B14F-4D97-AF65-F5344CB8AC3E}">
        <p14:creationId xmlns:p14="http://schemas.microsoft.com/office/powerpoint/2010/main" val="39401669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A071-B880-FBD9-DCF8-08DA38F8DAB3}"/>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A13F2413-558C-A22B-8AF5-E251E177525B}"/>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A77EBDDA-8356-02C8-CEFA-1F48F8203796}"/>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0499B7E3-657C-A763-27EB-94855178BCE5}"/>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C08EB5D1-F137-92D8-5E7F-DC51E693519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06B14808-B954-4610-5617-ED6FCA47C3ED}"/>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25C4F58B-F22A-BF48-AA90-8EF1066DAA1A}"/>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ED3B8B5D-2674-7335-B329-7220B5497294}"/>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6405A70-3DEB-FBDD-F671-D2DCD6A76E77}"/>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F08246A5-7D33-A328-3ABD-5664287FBF84}"/>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21</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1B2E064A-564F-C037-850C-50CBB9824916}"/>
              </a:ext>
            </a:extLst>
          </p:cNvPr>
          <p:cNvSpPr/>
          <p:nvPr/>
        </p:nvSpPr>
        <p:spPr>
          <a:xfrm>
            <a:off x="529196" y="1094379"/>
            <a:ext cx="10912643" cy="707886"/>
          </a:xfrm>
          <a:prstGeom prst="rect">
            <a:avLst/>
          </a:prstGeom>
        </p:spPr>
        <p:txBody>
          <a:bodyPr wrap="square">
            <a:spAutoFit/>
          </a:bodyPr>
          <a:lstStyle/>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以</a:t>
            </a:r>
            <a:r>
              <a:rPr lang="en-US" altLang="zh-TW" sz="2000" dirty="0">
                <a:latin typeface="標楷體" panose="03000509000000000000" pitchFamily="65" charset="-120"/>
                <a:ea typeface="標楷體" panose="03000509000000000000" pitchFamily="65" charset="-120"/>
              </a:rPr>
              <a:t>ResNet110</a:t>
            </a:r>
            <a:r>
              <a:rPr lang="zh-TW" altLang="en-US" sz="2000" dirty="0">
                <a:latin typeface="標楷體" panose="03000509000000000000" pitchFamily="65" charset="-120"/>
                <a:ea typeface="標楷體" panose="03000509000000000000" pitchFamily="65" charset="-120"/>
              </a:rPr>
              <a:t>為教師模型，藍線是教師模型的準確率，橘線是學生模 型</a:t>
            </a:r>
            <a:r>
              <a:rPr lang="en-US" altLang="zh-TW" sz="2000" dirty="0">
                <a:latin typeface="標楷體" panose="03000509000000000000" pitchFamily="65" charset="-120"/>
                <a:ea typeface="標楷體" panose="03000509000000000000" pitchFamily="65" charset="-120"/>
              </a:rPr>
              <a:t>ResNet20 </a:t>
            </a:r>
            <a:r>
              <a:rPr lang="zh-TW" altLang="en-US" sz="2000" dirty="0">
                <a:latin typeface="標楷體" panose="03000509000000000000" pitchFamily="65" charset="-120"/>
                <a:ea typeface="標楷體" panose="03000509000000000000" pitchFamily="65" charset="-120"/>
              </a:rPr>
              <a:t>的準確率，灰線是學生模型</a:t>
            </a:r>
            <a:r>
              <a:rPr lang="en-US" altLang="zh-TW" sz="2000" dirty="0">
                <a:latin typeface="標楷體" panose="03000509000000000000" pitchFamily="65" charset="-120"/>
                <a:ea typeface="標楷體" panose="03000509000000000000" pitchFamily="65" charset="-120"/>
              </a:rPr>
              <a:t>ResNet32</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p:txBody>
      </p:sp>
      <p:pic>
        <p:nvPicPr>
          <p:cNvPr id="4" name="圖片 3">
            <a:extLst>
              <a:ext uri="{FF2B5EF4-FFF2-40B4-BE49-F238E27FC236}">
                <a16:creationId xmlns:a16="http://schemas.microsoft.com/office/drawing/2014/main" id="{32A3E5BA-BDE2-0629-F58A-5259DEBFE2F3}"/>
              </a:ext>
            </a:extLst>
          </p:cNvPr>
          <p:cNvPicPr>
            <a:picLocks noChangeAspect="1"/>
          </p:cNvPicPr>
          <p:nvPr/>
        </p:nvPicPr>
        <p:blipFill>
          <a:blip r:embed="rId3"/>
          <a:stretch>
            <a:fillRect/>
          </a:stretch>
        </p:blipFill>
        <p:spPr>
          <a:xfrm>
            <a:off x="2477036" y="2429053"/>
            <a:ext cx="7237927" cy="3986011"/>
          </a:xfrm>
          <a:prstGeom prst="rect">
            <a:avLst/>
          </a:prstGeom>
        </p:spPr>
      </p:pic>
    </p:spTree>
    <p:extLst>
      <p:ext uri="{BB962C8B-B14F-4D97-AF65-F5344CB8AC3E}">
        <p14:creationId xmlns:p14="http://schemas.microsoft.com/office/powerpoint/2010/main" val="8769958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677D2-F07B-27D8-298C-9039C31D8A8B}"/>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7D13EE7E-D9DC-8629-5992-45BECF8CECA9}"/>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B9894C58-69FA-8CC4-DD22-270A33860F9B}"/>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EA7CDC76-0203-48B8-E42F-3F775B51918C}"/>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C4B047C3-0D00-DC8F-CE4F-57B15575531F}"/>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CFDFDD97-A654-D44E-2745-EA748A09ABFE}"/>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2CF253BB-1B41-2BA0-70AB-D1E3B170E0AC}"/>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F2BF2798-1C24-B000-57D7-5C4954945DA3}"/>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DF0F4B0-3109-A3A0-B531-D41E9CD47E16}"/>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2C41BCB4-66D8-3C26-1828-85503DB18045}"/>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22</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F641540F-9CFF-F0E1-BDCF-04F951A61E83}"/>
              </a:ext>
            </a:extLst>
          </p:cNvPr>
          <p:cNvSpPr/>
          <p:nvPr/>
        </p:nvSpPr>
        <p:spPr>
          <a:xfrm>
            <a:off x="529196" y="1094379"/>
            <a:ext cx="10912643" cy="707886"/>
          </a:xfrm>
          <a:prstGeom prst="rect">
            <a:avLst/>
          </a:prstGeom>
        </p:spPr>
        <p:txBody>
          <a:bodyPr wrap="square">
            <a:spAutoFit/>
          </a:bodyPr>
          <a:lstStyle/>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以</a:t>
            </a:r>
            <a:r>
              <a:rPr lang="en-US" altLang="zh-TW" sz="2000" dirty="0">
                <a:latin typeface="標楷體" panose="03000509000000000000" pitchFamily="65" charset="-120"/>
                <a:ea typeface="標楷體" panose="03000509000000000000" pitchFamily="65" charset="-120"/>
              </a:rPr>
              <a:t>ResNet56</a:t>
            </a:r>
            <a:r>
              <a:rPr lang="zh-TW" altLang="en-US" sz="2000" dirty="0">
                <a:latin typeface="標楷體" panose="03000509000000000000" pitchFamily="65" charset="-120"/>
                <a:ea typeface="標楷體" panose="03000509000000000000" pitchFamily="65" charset="-120"/>
              </a:rPr>
              <a:t>為教師模型，藍線是教師模型的準確率，橘線是學生模 型</a:t>
            </a:r>
            <a:r>
              <a:rPr lang="en-US" altLang="zh-TW" sz="2000" dirty="0">
                <a:latin typeface="標楷體" panose="03000509000000000000" pitchFamily="65" charset="-120"/>
                <a:ea typeface="標楷體" panose="03000509000000000000" pitchFamily="65" charset="-120"/>
              </a:rPr>
              <a:t>ResNet20 </a:t>
            </a:r>
            <a:r>
              <a:rPr lang="zh-TW" altLang="en-US" sz="2000" dirty="0">
                <a:latin typeface="標楷體" panose="03000509000000000000" pitchFamily="65" charset="-120"/>
                <a:ea typeface="標楷體" panose="03000509000000000000" pitchFamily="65" charset="-120"/>
              </a:rPr>
              <a:t>的準確率，灰線是學生模型</a:t>
            </a:r>
            <a:r>
              <a:rPr lang="en-US" altLang="zh-TW" sz="2000" dirty="0">
                <a:latin typeface="標楷體" panose="03000509000000000000" pitchFamily="65" charset="-120"/>
                <a:ea typeface="標楷體" panose="03000509000000000000" pitchFamily="65" charset="-120"/>
              </a:rPr>
              <a:t>ResNet32</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A530CF4A-65F7-AE5F-6676-652B8C1001AF}"/>
              </a:ext>
            </a:extLst>
          </p:cNvPr>
          <p:cNvPicPr>
            <a:picLocks noChangeAspect="1"/>
          </p:cNvPicPr>
          <p:nvPr/>
        </p:nvPicPr>
        <p:blipFill>
          <a:blip r:embed="rId3"/>
          <a:stretch>
            <a:fillRect/>
          </a:stretch>
        </p:blipFill>
        <p:spPr>
          <a:xfrm>
            <a:off x="2173370" y="2193726"/>
            <a:ext cx="7624293" cy="4185634"/>
          </a:xfrm>
          <a:prstGeom prst="rect">
            <a:avLst/>
          </a:prstGeom>
        </p:spPr>
      </p:pic>
    </p:spTree>
    <p:extLst>
      <p:ext uri="{BB962C8B-B14F-4D97-AF65-F5344CB8AC3E}">
        <p14:creationId xmlns:p14="http://schemas.microsoft.com/office/powerpoint/2010/main" val="2229207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E31FE-C883-94CB-2F54-843047255BA7}"/>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2D3A3D76-A7E0-4E3F-438C-E021A559203A}"/>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A7D6736C-4C5C-F5C3-18A8-A5DCA5AF7D67}"/>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CD3F0D87-D4EC-CBC1-B286-E668B3996C58}"/>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5F2C2974-1741-7C57-3896-71F96919F16D}"/>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BECDFF9-08A0-2ADF-726C-E50EB1C102EB}"/>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ECEEDF81-C6B0-9755-782D-D18DAE8CF882}"/>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7D0F5E9B-2BD2-7117-DE55-EBA8F171F255}"/>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AF1F40C0-FB29-1CF3-92DE-E1D6A89FB28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8F2FDF96-BB4A-58BF-2E26-6C0428582093}"/>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23</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2DD736D7-137C-BAF1-51F2-63A889CD1F80}"/>
              </a:ext>
            </a:extLst>
          </p:cNvPr>
          <p:cNvSpPr/>
          <p:nvPr/>
        </p:nvSpPr>
        <p:spPr>
          <a:xfrm>
            <a:off x="529196" y="1094379"/>
            <a:ext cx="10912643" cy="1631216"/>
          </a:xfrm>
          <a:prstGeom prst="rect">
            <a:avLst/>
          </a:prstGeom>
        </p:spPr>
        <p:txBody>
          <a:bodyPr wrap="square">
            <a:spAutoFit/>
          </a:bodyPr>
          <a:lstStyle/>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同一教師模型，訓練次數越高，教師模型準確率越高。</a:t>
            </a:r>
          </a:p>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對於蒸餾學生模型，訓練次數高，準確率高的教師模型，和訓練次數低，準確率低的教師模型，效果是一樣的。</a:t>
            </a:r>
          </a:p>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所以用訓練次數低的未完整訓練教師模型去蒸餾學生模型，雖然無法提高學生模型的準確率，但可以大幅縮短教師模型的訓練時間。</a:t>
            </a:r>
            <a:endParaRPr lang="en-US" altLang="zh-TW" sz="2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9499115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DC50F-A4C0-BE37-8219-5C588A069699}"/>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FF86B79F-BFC3-A006-6935-FA0D410F95FB}"/>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8877AF9B-262A-7473-EADC-28518CCE95A0}"/>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DE17CDBC-3ED1-50D0-9FED-3C10C54400CF}"/>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372DC309-C268-CACD-BFBF-A45E679AEF5E}"/>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8C7F272C-9B96-5D89-0E87-CD9E2477EE99}"/>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63892E7F-903C-BAB8-0B32-CA14AE6716FD}"/>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F3D156A0-243D-A2DE-7E5F-5B549DE8641F}"/>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9A7D1104-2D55-E6AE-0175-6EAC0C05F51F}"/>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DC70FC02-6745-70B9-3853-5F71417C17B4}"/>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24</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DD55549E-41E9-3D78-7BBC-8FFD3FC83329}"/>
              </a:ext>
            </a:extLst>
          </p:cNvPr>
          <p:cNvSpPr/>
          <p:nvPr/>
        </p:nvSpPr>
        <p:spPr>
          <a:xfrm>
            <a:off x="529196" y="1094379"/>
            <a:ext cx="10912643" cy="2862322"/>
          </a:xfrm>
          <a:prstGeom prst="rect">
            <a:avLst/>
          </a:prstGeom>
        </p:spPr>
        <p:txBody>
          <a:bodyPr wrap="square">
            <a:spAutoFit/>
          </a:bodyPr>
          <a:lstStyle/>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S(m)</a:t>
            </a:r>
            <a:r>
              <a:rPr lang="zh-TW" altLang="en-US" sz="2000" dirty="0">
                <a:latin typeface="標楷體" panose="03000509000000000000" pitchFamily="65" charset="-120"/>
                <a:ea typeface="標楷體" panose="03000509000000000000" pitchFamily="65" charset="-120"/>
              </a:rPr>
              <a:t>：學生模型</a:t>
            </a:r>
            <a:r>
              <a:rPr lang="en-US" altLang="zh-TW" sz="2000" dirty="0">
                <a:latin typeface="標楷體" panose="03000509000000000000" pitchFamily="65" charset="-120"/>
                <a:ea typeface="標楷體" panose="03000509000000000000" pitchFamily="65" charset="-120"/>
              </a:rPr>
              <a:t>m </a:t>
            </a:r>
            <a:r>
              <a:rPr lang="zh-TW" altLang="en-US" sz="2000" dirty="0">
                <a:latin typeface="標楷體" panose="03000509000000000000" pitchFamily="65" charset="-120"/>
                <a:ea typeface="標楷體" panose="03000509000000000000" pitchFamily="65" charset="-120"/>
              </a:rPr>
              <a:t>直接訓練的準確率。</a:t>
            </a:r>
          </a:p>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T(m)</a:t>
            </a:r>
            <a:r>
              <a:rPr lang="zh-TW" altLang="en-US" sz="2000" dirty="0">
                <a:latin typeface="標楷體" panose="03000509000000000000" pitchFamily="65" charset="-120"/>
                <a:ea typeface="標楷體" panose="03000509000000000000" pitchFamily="65" charset="-120"/>
              </a:rPr>
              <a:t>：以教師模型</a:t>
            </a:r>
            <a:r>
              <a:rPr lang="en-US" altLang="zh-TW" sz="2000" dirty="0">
                <a:latin typeface="標楷體" panose="03000509000000000000" pitchFamily="65" charset="-120"/>
                <a:ea typeface="標楷體" panose="03000509000000000000" pitchFamily="65" charset="-120"/>
              </a:rPr>
              <a:t>m </a:t>
            </a:r>
            <a:r>
              <a:rPr lang="zh-TW" altLang="en-US" sz="2000" dirty="0">
                <a:latin typeface="標楷體" panose="03000509000000000000" pitchFamily="65" charset="-120"/>
                <a:ea typeface="標楷體" panose="03000509000000000000" pitchFamily="65" charset="-120"/>
              </a:rPr>
              <a:t>蒸餾學生模型</a:t>
            </a:r>
            <a:r>
              <a:rPr lang="en-US" altLang="zh-TW" sz="2000" dirty="0">
                <a:latin typeface="標楷體" panose="03000509000000000000" pitchFamily="65" charset="-120"/>
                <a:ea typeface="標楷體" panose="03000509000000000000" pitchFamily="65" charset="-120"/>
              </a:rPr>
              <a:t>S </a:t>
            </a:r>
            <a:r>
              <a:rPr lang="zh-TW" altLang="en-US" sz="2000" dirty="0">
                <a:latin typeface="標楷體" panose="03000509000000000000" pitchFamily="65" charset="-120"/>
                <a:ea typeface="標楷體" panose="03000509000000000000" pitchFamily="65" charset="-120"/>
              </a:rPr>
              <a:t>的準確率。</a:t>
            </a:r>
          </a:p>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MT(m1/m2/…mx)</a:t>
            </a:r>
            <a:r>
              <a:rPr lang="zh-TW" altLang="en-US" sz="2000" dirty="0">
                <a:latin typeface="標楷體" panose="03000509000000000000" pitchFamily="65" charset="-120"/>
                <a:ea typeface="標楷體" panose="03000509000000000000" pitchFamily="65" charset="-120"/>
              </a:rPr>
              <a:t>：多教師架構，以</a:t>
            </a:r>
            <a:r>
              <a:rPr lang="en-US" altLang="zh-TW" sz="2000" dirty="0">
                <a:latin typeface="標楷體" panose="03000509000000000000" pitchFamily="65" charset="-120"/>
                <a:ea typeface="標楷體" panose="03000509000000000000" pitchFamily="65" charset="-120"/>
              </a:rPr>
              <a:t>m1</a:t>
            </a:r>
            <a:r>
              <a:rPr lang="zh-TW" altLang="en-US" sz="2000" dirty="0">
                <a:latin typeface="標楷體" panose="03000509000000000000" pitchFamily="65" charset="-120"/>
                <a:ea typeface="標楷體" panose="03000509000000000000" pitchFamily="65" charset="-120"/>
              </a:rPr>
              <a:t>、</a:t>
            </a:r>
            <a:r>
              <a:rPr lang="en-US" altLang="zh-TW" sz="2000" dirty="0">
                <a:latin typeface="標楷體" panose="03000509000000000000" pitchFamily="65" charset="-120"/>
                <a:ea typeface="標楷體" panose="03000509000000000000" pitchFamily="65" charset="-120"/>
              </a:rPr>
              <a:t>m2…mx </a:t>
            </a:r>
            <a:r>
              <a:rPr lang="zh-TW" altLang="en-US" sz="2000" dirty="0">
                <a:latin typeface="標楷體" panose="03000509000000000000" pitchFamily="65" charset="-120"/>
                <a:ea typeface="標楷體" panose="03000509000000000000" pitchFamily="65" charset="-120"/>
              </a:rPr>
              <a:t>共同蒸餾學生模型</a:t>
            </a:r>
            <a:r>
              <a:rPr lang="en-US" altLang="zh-TW" sz="2000" dirty="0">
                <a:latin typeface="標楷體" panose="03000509000000000000" pitchFamily="65" charset="-120"/>
                <a:ea typeface="標楷體" panose="03000509000000000000" pitchFamily="65" charset="-120"/>
              </a:rPr>
              <a:t>S </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TA(m1/m2/…mx)</a:t>
            </a:r>
            <a:r>
              <a:rPr lang="zh-TW" altLang="en-US" sz="2000" dirty="0">
                <a:latin typeface="標楷體" panose="03000509000000000000" pitchFamily="65" charset="-120"/>
                <a:ea typeface="標楷體" panose="03000509000000000000" pitchFamily="65" charset="-120"/>
              </a:rPr>
              <a:t>：助教架構，以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m2</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m2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m3…</a:t>
            </a:r>
            <a:r>
              <a:rPr lang="zh-TW" altLang="en-US" sz="2000" dirty="0">
                <a:latin typeface="標楷體" panose="03000509000000000000" pitchFamily="65" charset="-120"/>
                <a:ea typeface="標楷體" panose="03000509000000000000" pitchFamily="65" charset="-120"/>
              </a:rPr>
              <a:t>依序蒸餾到</a:t>
            </a:r>
            <a:r>
              <a:rPr lang="en-US" altLang="zh-TW" sz="2000" dirty="0">
                <a:latin typeface="標楷體" panose="03000509000000000000" pitchFamily="65" charset="-120"/>
                <a:ea typeface="標楷體" panose="03000509000000000000" pitchFamily="65" charset="-120"/>
              </a:rPr>
              <a:t>mx</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mx </a:t>
            </a:r>
            <a:r>
              <a:rPr lang="zh-TW" altLang="en-US" sz="2000" dirty="0">
                <a:latin typeface="標楷體" panose="03000509000000000000" pitchFamily="65" charset="-120"/>
                <a:ea typeface="標楷體" panose="03000509000000000000" pitchFamily="65" charset="-120"/>
              </a:rPr>
              <a:t>蒸餾學生模型</a:t>
            </a:r>
            <a:r>
              <a:rPr lang="en-US" altLang="zh-TW" sz="2000" dirty="0">
                <a:latin typeface="標楷體" panose="03000509000000000000" pitchFamily="65" charset="-120"/>
                <a:ea typeface="標楷體" panose="03000509000000000000" pitchFamily="65" charset="-120"/>
              </a:rPr>
              <a:t>S </a:t>
            </a:r>
            <a:r>
              <a:rPr lang="zh-TW" altLang="en-US" sz="2000" dirty="0">
                <a:latin typeface="標楷體" panose="03000509000000000000" pitchFamily="65" charset="-120"/>
                <a:ea typeface="標楷體" panose="03000509000000000000" pitchFamily="65" charset="-120"/>
              </a:rPr>
              <a:t>的準確率。</a:t>
            </a:r>
          </a:p>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MTA(m1/m2/…mx)</a:t>
            </a:r>
            <a:r>
              <a:rPr lang="zh-TW" altLang="en-US" sz="2000" dirty="0">
                <a:latin typeface="標楷體" panose="03000509000000000000" pitchFamily="65" charset="-120"/>
                <a:ea typeface="標楷體" panose="03000509000000000000" pitchFamily="65" charset="-120"/>
              </a:rPr>
              <a:t>：多教師助教架構，以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m2</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m3…</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mx</a:t>
            </a:r>
            <a:r>
              <a:rPr lang="zh-TW" altLang="en-US" sz="2000" dirty="0">
                <a:latin typeface="標楷體" panose="03000509000000000000" pitchFamily="65" charset="-120"/>
                <a:ea typeface="標楷體" panose="03000509000000000000" pitchFamily="65" charset="-120"/>
              </a:rPr>
              <a:t>，最後以</a:t>
            </a:r>
            <a:r>
              <a:rPr lang="en-US" altLang="zh-TW" sz="2000" dirty="0">
                <a:latin typeface="標楷體" panose="03000509000000000000" pitchFamily="65" charset="-120"/>
                <a:ea typeface="標楷體" panose="03000509000000000000" pitchFamily="65" charset="-120"/>
              </a:rPr>
              <a:t>m2…mx </a:t>
            </a:r>
            <a:r>
              <a:rPr lang="zh-TW" altLang="en-US" sz="2000" dirty="0">
                <a:latin typeface="標楷體" panose="03000509000000000000" pitchFamily="65" charset="-120"/>
                <a:ea typeface="標楷體" panose="03000509000000000000" pitchFamily="65" charset="-120"/>
              </a:rPr>
              <a:t>共同蒸餾學生模型</a:t>
            </a:r>
            <a:r>
              <a:rPr lang="en-US" altLang="zh-TW" sz="2000" dirty="0">
                <a:latin typeface="標楷體" panose="03000509000000000000" pitchFamily="65" charset="-120"/>
                <a:ea typeface="標楷體" panose="03000509000000000000" pitchFamily="65" charset="-120"/>
              </a:rPr>
              <a:t>S </a:t>
            </a:r>
            <a:r>
              <a:rPr lang="zh-TW" altLang="en-US" sz="2000" dirty="0">
                <a:latin typeface="標楷體" panose="03000509000000000000" pitchFamily="65" charset="-120"/>
                <a:ea typeface="標楷體" panose="03000509000000000000" pitchFamily="65" charset="-120"/>
              </a:rPr>
              <a:t>的準確率。</a:t>
            </a:r>
          </a:p>
          <a:p>
            <a:pPr marL="285750" indent="-285750">
              <a:buFont typeface="Arial" panose="020B0604020202020204" pitchFamily="34" charset="0"/>
              <a:buChar char="•"/>
            </a:pPr>
            <a:r>
              <a:rPr lang="en-US" altLang="zh-TW" sz="2000" dirty="0">
                <a:latin typeface="標楷體" panose="03000509000000000000" pitchFamily="65" charset="-120"/>
                <a:ea typeface="標楷體" panose="03000509000000000000" pitchFamily="65" charset="-120"/>
              </a:rPr>
              <a:t>MTTA(m1/m2/…mx)</a:t>
            </a:r>
            <a:r>
              <a:rPr lang="zh-TW" altLang="en-US" sz="2000" dirty="0">
                <a:latin typeface="標楷體" panose="03000509000000000000" pitchFamily="65" charset="-120"/>
                <a:ea typeface="標楷體" panose="03000509000000000000" pitchFamily="65" charset="-120"/>
              </a:rPr>
              <a:t>：多教師助教架構，以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m2</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m3…</a:t>
            </a:r>
            <a:r>
              <a:rPr lang="zh-TW" altLang="en-US" sz="2000" dirty="0">
                <a:latin typeface="標楷體" panose="03000509000000000000" pitchFamily="65" charset="-120"/>
                <a:ea typeface="標楷體" panose="03000509000000000000" pitchFamily="65" charset="-120"/>
              </a:rPr>
              <a:t>再以</a:t>
            </a:r>
            <a:r>
              <a:rPr lang="en-US" altLang="zh-TW" sz="2000" dirty="0">
                <a:latin typeface="標楷體" panose="03000509000000000000" pitchFamily="65" charset="-120"/>
                <a:ea typeface="標楷體" panose="03000509000000000000" pitchFamily="65" charset="-120"/>
              </a:rPr>
              <a:t>m1 </a:t>
            </a:r>
            <a:r>
              <a:rPr lang="zh-TW" altLang="en-US" sz="2000" dirty="0">
                <a:latin typeface="標楷體" panose="03000509000000000000" pitchFamily="65" charset="-120"/>
                <a:ea typeface="標楷體" panose="03000509000000000000" pitchFamily="65" charset="-120"/>
              </a:rPr>
              <a:t>蒸餾</a:t>
            </a:r>
            <a:r>
              <a:rPr lang="en-US" altLang="zh-TW" sz="2000" dirty="0">
                <a:latin typeface="標楷體" panose="03000509000000000000" pitchFamily="65" charset="-120"/>
                <a:ea typeface="標楷體" panose="03000509000000000000" pitchFamily="65" charset="-120"/>
              </a:rPr>
              <a:t>mx</a:t>
            </a:r>
            <a:r>
              <a:rPr lang="zh-TW" altLang="en-US" sz="2000" dirty="0">
                <a:latin typeface="標楷體" panose="03000509000000000000" pitchFamily="65" charset="-120"/>
                <a:ea typeface="標楷體" panose="03000509000000000000" pitchFamily="65" charset="-120"/>
              </a:rPr>
              <a:t>，最後以</a:t>
            </a:r>
            <a:r>
              <a:rPr lang="en-US" altLang="zh-TW" sz="2000" dirty="0">
                <a:latin typeface="標楷體" panose="03000509000000000000" pitchFamily="65" charset="-120"/>
                <a:ea typeface="標楷體" panose="03000509000000000000" pitchFamily="65" charset="-120"/>
              </a:rPr>
              <a:t>m1</a:t>
            </a:r>
            <a:r>
              <a:rPr lang="zh-TW" altLang="en-US" sz="2000" dirty="0">
                <a:latin typeface="標楷體" panose="03000509000000000000" pitchFamily="65" charset="-120"/>
                <a:ea typeface="標楷體" panose="03000509000000000000" pitchFamily="65" charset="-120"/>
              </a:rPr>
              <a:t>、</a:t>
            </a:r>
            <a:r>
              <a:rPr lang="en-US" altLang="zh-TW" sz="2000" dirty="0">
                <a:latin typeface="標楷體" panose="03000509000000000000" pitchFamily="65" charset="-120"/>
                <a:ea typeface="標楷體" panose="03000509000000000000" pitchFamily="65" charset="-120"/>
              </a:rPr>
              <a:t>m2…mx </a:t>
            </a:r>
            <a:r>
              <a:rPr lang="zh-TW" altLang="en-US" sz="2000" dirty="0">
                <a:latin typeface="標楷體" panose="03000509000000000000" pitchFamily="65" charset="-120"/>
                <a:ea typeface="標楷體" panose="03000509000000000000" pitchFamily="65" charset="-120"/>
              </a:rPr>
              <a:t>共同蒸餾學生模型</a:t>
            </a:r>
            <a:r>
              <a:rPr lang="en-US" altLang="zh-TW" sz="2000" dirty="0">
                <a:latin typeface="標楷體" panose="03000509000000000000" pitchFamily="65" charset="-120"/>
                <a:ea typeface="標楷體" panose="03000509000000000000" pitchFamily="65" charset="-120"/>
              </a:rPr>
              <a:t>S </a:t>
            </a:r>
            <a:r>
              <a:rPr lang="zh-TW" altLang="en-US" sz="2000" dirty="0">
                <a:latin typeface="標楷體" panose="03000509000000000000" pitchFamily="65" charset="-120"/>
                <a:ea typeface="標楷體" panose="03000509000000000000" pitchFamily="65" charset="-120"/>
              </a:rPr>
              <a:t>的準確率。</a:t>
            </a:r>
            <a:endParaRPr lang="en-US" altLang="zh-TW" sz="20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8273156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D340-0F20-C98A-3EA5-33C97286319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E2643125-3F02-878B-FCDA-CED270AE58BC}"/>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8F1B0AB5-B55E-49B7-0A0F-8BD63459E964}"/>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0211991D-6929-F3E2-50DD-9E5AE7662AC9}"/>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8245DCC2-1AC5-E7B6-1621-AF21B0277466}"/>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24F3A7EE-7A57-BC8E-17C9-E971179997B8}"/>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7B6741BE-3ED4-670D-41AC-8E33F44E0941}"/>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3CBC725D-9FAD-3947-5D63-942AFF900C48}"/>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A51A9CF-7E93-1000-5277-44F9BD84A889}"/>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10E0EF41-8B37-257F-82B0-93516B4CD34C}"/>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25</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B3D5E9F2-2FB9-AAE3-BC08-12E7E6BF7BF4}"/>
              </a:ext>
            </a:extLst>
          </p:cNvPr>
          <p:cNvSpPr/>
          <p:nvPr/>
        </p:nvSpPr>
        <p:spPr>
          <a:xfrm>
            <a:off x="529196" y="1094379"/>
            <a:ext cx="10912643" cy="400110"/>
          </a:xfrm>
          <a:prstGeom prst="rect">
            <a:avLst/>
          </a:prstGeom>
        </p:spPr>
        <p:txBody>
          <a:bodyPr wrap="square">
            <a:spAutoFit/>
          </a:bodyPr>
          <a:lstStyle/>
          <a:p>
            <a:pPr marL="285750" indent="-285750">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實驗結果顯示多教師助教架構蒸餾效果優於其他架構。</a:t>
            </a:r>
            <a:endParaRPr lang="en-US" altLang="zh-TW" sz="20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1132669B-3852-82BF-3CE6-9158D1516247}"/>
              </a:ext>
            </a:extLst>
          </p:cNvPr>
          <p:cNvPicPr>
            <a:picLocks noChangeAspect="1"/>
          </p:cNvPicPr>
          <p:nvPr/>
        </p:nvPicPr>
        <p:blipFill>
          <a:blip r:embed="rId3"/>
          <a:stretch>
            <a:fillRect/>
          </a:stretch>
        </p:blipFill>
        <p:spPr>
          <a:xfrm>
            <a:off x="359499" y="1899633"/>
            <a:ext cx="5844660" cy="2928495"/>
          </a:xfrm>
          <a:prstGeom prst="rect">
            <a:avLst/>
          </a:prstGeom>
        </p:spPr>
      </p:pic>
      <p:pic>
        <p:nvPicPr>
          <p:cNvPr id="5" name="圖片 4">
            <a:extLst>
              <a:ext uri="{FF2B5EF4-FFF2-40B4-BE49-F238E27FC236}">
                <a16:creationId xmlns:a16="http://schemas.microsoft.com/office/drawing/2014/main" id="{4310C195-4957-C22F-CE88-D1C33BDA98AA}"/>
              </a:ext>
            </a:extLst>
          </p:cNvPr>
          <p:cNvPicPr>
            <a:picLocks noChangeAspect="1"/>
          </p:cNvPicPr>
          <p:nvPr/>
        </p:nvPicPr>
        <p:blipFill>
          <a:blip r:embed="rId4"/>
          <a:stretch>
            <a:fillRect/>
          </a:stretch>
        </p:blipFill>
        <p:spPr>
          <a:xfrm>
            <a:off x="6292645" y="1902854"/>
            <a:ext cx="5844660" cy="2922330"/>
          </a:xfrm>
          <a:prstGeom prst="rect">
            <a:avLst/>
          </a:prstGeom>
        </p:spPr>
      </p:pic>
    </p:spTree>
    <p:extLst>
      <p:ext uri="{BB962C8B-B14F-4D97-AF65-F5344CB8AC3E}">
        <p14:creationId xmlns:p14="http://schemas.microsoft.com/office/powerpoint/2010/main" val="29745465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48BD-1346-5A43-1502-51B19270809F}"/>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3074EEED-F7C9-E077-5E7E-FD02EA40AE54}"/>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042CEAF6-ED19-1B76-58EF-325A20AD607C}"/>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ED8A78DF-7B93-DC0A-E0AF-B176BE70A37A}"/>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BC97D24C-E129-DE1F-CFCD-F16C78D73B5B}"/>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D477E164-F6AB-16A8-5AB9-E5F6AA3B9E70}"/>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26FD4051-5909-6B05-C39B-82D9F56164CB}"/>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 </a:t>
            </a:r>
            <a:r>
              <a:rPr lang="en-US" altLang="zh-TW" sz="2800" b="1" dirty="0">
                <a:latin typeface="微软雅黑" pitchFamily="34" charset="-122"/>
                <a:ea typeface="微软雅黑" pitchFamily="34" charset="-122"/>
              </a:rPr>
              <a:t>CNN2</a:t>
            </a:r>
            <a:r>
              <a:rPr lang="zh-TW" altLang="en-US" sz="2800" b="1" dirty="0">
                <a:latin typeface="微软雅黑" pitchFamily="34" charset="-122"/>
                <a:ea typeface="微软雅黑" pitchFamily="34" charset="-122"/>
              </a:rPr>
              <a:t>模型</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321D35B8-15A3-AD8F-BE5E-BFAB730558D3}"/>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DB92CBB6-7296-5163-EBFF-26BE180C9C7A}"/>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AA2B653E-F957-8661-16F0-AD8ECAA01CFB}"/>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26</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D83BD9DF-93F6-A2C8-AAD0-583E8DA7DFAC}"/>
              </a:ext>
            </a:extLst>
          </p:cNvPr>
          <p:cNvSpPr/>
          <p:nvPr/>
        </p:nvSpPr>
        <p:spPr>
          <a:xfrm>
            <a:off x="529196" y="1094379"/>
            <a:ext cx="10912643" cy="400110"/>
          </a:xfrm>
          <a:prstGeom prst="rect">
            <a:avLst/>
          </a:prstGeom>
        </p:spPr>
        <p:txBody>
          <a:bodyPr wrap="square">
            <a:spAutoFit/>
          </a:bodyPr>
          <a:lstStyle/>
          <a:p>
            <a:pPr marL="285750" indent="-285750" algn="just">
              <a:buFont typeface="Arial" panose="020B0604020202020204" pitchFamily="34" charset="0"/>
              <a:buChar char="•"/>
            </a:pPr>
            <a:r>
              <a:rPr lang="zh-TW" altLang="en-US" sz="2000" dirty="0">
                <a:latin typeface="標楷體" panose="03000509000000000000" pitchFamily="65" charset="-120"/>
                <a:ea typeface="標楷體" panose="03000509000000000000" pitchFamily="65" charset="-120"/>
              </a:rPr>
              <a:t>實驗結果顯示教師訓練時間不同對於學生蒸餾效果幾乎沒有差別，但訓練時間可以大幅下降。</a:t>
            </a:r>
            <a:endParaRPr lang="en-US" altLang="zh-TW" sz="2000" dirty="0">
              <a:latin typeface="標楷體" panose="03000509000000000000" pitchFamily="65" charset="-120"/>
              <a:ea typeface="標楷體" panose="03000509000000000000" pitchFamily="65" charset="-120"/>
            </a:endParaRPr>
          </a:p>
        </p:txBody>
      </p:sp>
      <p:pic>
        <p:nvPicPr>
          <p:cNvPr id="4" name="圖片 3">
            <a:extLst>
              <a:ext uri="{FF2B5EF4-FFF2-40B4-BE49-F238E27FC236}">
                <a16:creationId xmlns:a16="http://schemas.microsoft.com/office/drawing/2014/main" id="{7323FF3F-941B-DD66-33C2-34A861AE5552}"/>
              </a:ext>
            </a:extLst>
          </p:cNvPr>
          <p:cNvPicPr>
            <a:picLocks noChangeAspect="1"/>
          </p:cNvPicPr>
          <p:nvPr/>
        </p:nvPicPr>
        <p:blipFill>
          <a:blip r:embed="rId3"/>
          <a:stretch>
            <a:fillRect/>
          </a:stretch>
        </p:blipFill>
        <p:spPr>
          <a:xfrm>
            <a:off x="153018" y="1902854"/>
            <a:ext cx="5579188" cy="2789594"/>
          </a:xfrm>
          <a:prstGeom prst="rect">
            <a:avLst/>
          </a:prstGeom>
        </p:spPr>
      </p:pic>
      <p:pic>
        <p:nvPicPr>
          <p:cNvPr id="16" name="圖片 15">
            <a:extLst>
              <a:ext uri="{FF2B5EF4-FFF2-40B4-BE49-F238E27FC236}">
                <a16:creationId xmlns:a16="http://schemas.microsoft.com/office/drawing/2014/main" id="{ACF9DBFC-26B2-C242-3097-145B8612784F}"/>
              </a:ext>
            </a:extLst>
          </p:cNvPr>
          <p:cNvPicPr>
            <a:picLocks noChangeAspect="1"/>
          </p:cNvPicPr>
          <p:nvPr/>
        </p:nvPicPr>
        <p:blipFill>
          <a:blip r:embed="rId4"/>
          <a:stretch>
            <a:fillRect/>
          </a:stretch>
        </p:blipFill>
        <p:spPr>
          <a:xfrm>
            <a:off x="6086169" y="1902854"/>
            <a:ext cx="5579188" cy="2789594"/>
          </a:xfrm>
          <a:prstGeom prst="rect">
            <a:avLst/>
          </a:prstGeom>
        </p:spPr>
      </p:pic>
    </p:spTree>
    <p:extLst>
      <p:ext uri="{BB962C8B-B14F-4D97-AF65-F5344CB8AC3E}">
        <p14:creationId xmlns:p14="http://schemas.microsoft.com/office/powerpoint/2010/main" val="34817804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41BA-DE0E-DD86-901A-9F3D34F1C913}"/>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CEE82B7E-966D-7633-3067-C5E53188F9A8}"/>
              </a:ext>
            </a:extLst>
          </p:cNvPr>
          <p:cNvSpPr/>
          <p:nvPr/>
        </p:nvSpPr>
        <p:spPr>
          <a:xfrm>
            <a:off x="0" y="492426"/>
            <a:ext cx="192628" cy="17684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8" name="矩形 7">
            <a:extLst>
              <a:ext uri="{FF2B5EF4-FFF2-40B4-BE49-F238E27FC236}">
                <a16:creationId xmlns:a16="http://schemas.microsoft.com/office/drawing/2014/main" id="{4F1A84B1-76A8-D47B-0939-3CBB61D7E229}"/>
              </a:ext>
            </a:extLst>
          </p:cNvPr>
          <p:cNvSpPr/>
          <p:nvPr/>
        </p:nvSpPr>
        <p:spPr>
          <a:xfrm>
            <a:off x="264599" y="492426"/>
            <a:ext cx="192627" cy="176843"/>
          </a:xfrm>
          <a:prstGeom prst="rect">
            <a:avLst/>
          </a:prstGeom>
          <a:solidFill>
            <a:srgbClr val="35A0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9" name="矩形 8">
            <a:extLst>
              <a:ext uri="{FF2B5EF4-FFF2-40B4-BE49-F238E27FC236}">
                <a16:creationId xmlns:a16="http://schemas.microsoft.com/office/drawing/2014/main" id="{2430A658-0690-C2E1-59FA-03E9069A2B4D}"/>
              </a:ext>
            </a:extLst>
          </p:cNvPr>
          <p:cNvSpPr/>
          <p:nvPr/>
        </p:nvSpPr>
        <p:spPr>
          <a:xfrm>
            <a:off x="529196" y="492426"/>
            <a:ext cx="190510" cy="1768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0" name="矩形 9">
            <a:extLst>
              <a:ext uri="{FF2B5EF4-FFF2-40B4-BE49-F238E27FC236}">
                <a16:creationId xmlns:a16="http://schemas.microsoft.com/office/drawing/2014/main" id="{A2EAABA0-81B6-A8FF-AEA2-1AE3A15F4D5D}"/>
              </a:ext>
            </a:extLst>
          </p:cNvPr>
          <p:cNvSpPr/>
          <p:nvPr/>
        </p:nvSpPr>
        <p:spPr>
          <a:xfrm>
            <a:off x="791677" y="492426"/>
            <a:ext cx="192628" cy="176843"/>
          </a:xfrm>
          <a:prstGeom prst="rect">
            <a:avLst/>
          </a:prstGeom>
          <a:solidFill>
            <a:srgbClr val="66B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1" name="矩形 10">
            <a:extLst>
              <a:ext uri="{FF2B5EF4-FFF2-40B4-BE49-F238E27FC236}">
                <a16:creationId xmlns:a16="http://schemas.microsoft.com/office/drawing/2014/main" id="{43BCF15B-DB38-13FC-B6B5-C42A328A355D}"/>
              </a:ext>
            </a:extLst>
          </p:cNvPr>
          <p:cNvSpPr/>
          <p:nvPr/>
        </p:nvSpPr>
        <p:spPr>
          <a:xfrm>
            <a:off x="1056275" y="492426"/>
            <a:ext cx="192627" cy="176843"/>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p>
        </p:txBody>
      </p:sp>
      <p:sp>
        <p:nvSpPr>
          <p:cNvPr id="12" name="TextBox 49">
            <a:extLst>
              <a:ext uri="{FF2B5EF4-FFF2-40B4-BE49-F238E27FC236}">
                <a16:creationId xmlns:a16="http://schemas.microsoft.com/office/drawing/2014/main" id="{962F4D91-0B6B-D086-819A-3FE806E7D07C}"/>
              </a:ext>
            </a:extLst>
          </p:cNvPr>
          <p:cNvSpPr txBox="1">
            <a:spLocks noChangeArrowheads="1"/>
          </p:cNvSpPr>
          <p:nvPr/>
        </p:nvSpPr>
        <p:spPr bwMode="auto">
          <a:xfrm>
            <a:off x="1344155" y="354451"/>
            <a:ext cx="4878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800" b="1" dirty="0">
                <a:latin typeface="微软雅黑" pitchFamily="34" charset="-122"/>
                <a:ea typeface="微软雅黑" pitchFamily="34" charset="-122"/>
              </a:rPr>
              <a:t>實驗結果</a:t>
            </a:r>
            <a:r>
              <a:rPr lang="en-US" altLang="zh-TW" sz="2800" b="1" dirty="0">
                <a:latin typeface="微软雅黑" pitchFamily="34" charset="-122"/>
                <a:ea typeface="微软雅黑" pitchFamily="34" charset="-122"/>
              </a:rPr>
              <a:t>ResNet20</a:t>
            </a:r>
            <a:r>
              <a:rPr lang="zh-TW" altLang="en-US" sz="2800" b="1" dirty="0">
                <a:latin typeface="微软雅黑" pitchFamily="34" charset="-122"/>
                <a:ea typeface="微软雅黑" pitchFamily="34" charset="-122"/>
              </a:rPr>
              <a:t>模型</a:t>
            </a:r>
            <a:endParaRPr lang="en-US" altLang="zh-TW" sz="2800" b="1" dirty="0">
              <a:latin typeface="微软雅黑" pitchFamily="34" charset="-122"/>
              <a:ea typeface="微软雅黑" pitchFamily="34" charset="-122"/>
            </a:endParaRPr>
          </a:p>
        </p:txBody>
      </p:sp>
      <p:cxnSp>
        <p:nvCxnSpPr>
          <p:cNvPr id="13" name="直接连接符 51">
            <a:extLst>
              <a:ext uri="{FF2B5EF4-FFF2-40B4-BE49-F238E27FC236}">
                <a16:creationId xmlns:a16="http://schemas.microsoft.com/office/drawing/2014/main" id="{209F921C-5EEB-39C0-A96D-1DFF94365F1B}"/>
              </a:ext>
            </a:extLst>
          </p:cNvPr>
          <p:cNvCxnSpPr>
            <a:cxnSpLocks/>
            <a:endCxn id="12" idx="3"/>
          </p:cNvCxnSpPr>
          <p:nvPr/>
        </p:nvCxnSpPr>
        <p:spPr>
          <a:xfrm flipH="1" flipV="1">
            <a:off x="6223000" y="616061"/>
            <a:ext cx="5683690" cy="25302"/>
          </a:xfrm>
          <a:prstGeom prst="line">
            <a:avLst/>
          </a:prstGeom>
          <a:ln>
            <a:solidFill>
              <a:schemeClr val="tx2"/>
            </a:solidFill>
            <a:prstDash val="dashDot"/>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0D74E8E5-AF2E-6CBA-7AEA-D7B16CCF0FD4}"/>
              </a:ext>
            </a:extLst>
          </p:cNvPr>
          <p:cNvSpPr/>
          <p:nvPr/>
        </p:nvSpPr>
        <p:spPr>
          <a:xfrm>
            <a:off x="11784130" y="300038"/>
            <a:ext cx="408538" cy="377004"/>
          </a:xfrm>
          <a:prstGeom prst="rect">
            <a:avLst/>
          </a:prstGeom>
          <a:solidFill>
            <a:srgbClr val="3090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2000" dirty="0"/>
          </a:p>
        </p:txBody>
      </p:sp>
      <p:sp>
        <p:nvSpPr>
          <p:cNvPr id="15" name="矩形 95">
            <a:extLst>
              <a:ext uri="{FF2B5EF4-FFF2-40B4-BE49-F238E27FC236}">
                <a16:creationId xmlns:a16="http://schemas.microsoft.com/office/drawing/2014/main" id="{A609DD89-2C78-67B5-E404-F03DD3BD3FEC}"/>
              </a:ext>
            </a:extLst>
          </p:cNvPr>
          <p:cNvSpPr>
            <a:spLocks noChangeArrowheads="1"/>
          </p:cNvSpPr>
          <p:nvPr/>
        </p:nvSpPr>
        <p:spPr bwMode="auto">
          <a:xfrm>
            <a:off x="11784130" y="399353"/>
            <a:ext cx="407870" cy="25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1200"/>
              </a:lnSpc>
            </a:pPr>
            <a:fld id="{DC618BD4-6F58-45FA-8BCD-3E2F07B48716}" type="slidenum">
              <a:rPr lang="en-US" altLang="zh-CN" sz="1400" smtClean="0">
                <a:solidFill>
                  <a:schemeClr val="bg1"/>
                </a:solidFill>
                <a:latin typeface="微软雅黑" pitchFamily="34" charset="-122"/>
                <a:ea typeface="微软雅黑" pitchFamily="34" charset="-122"/>
              </a:rPr>
              <a:pPr algn="ctr">
                <a:lnSpc>
                  <a:spcPts val="1200"/>
                </a:lnSpc>
              </a:pPr>
              <a:t>27</a:t>
            </a:fld>
            <a:endParaRPr lang="en-US" altLang="zh-CN" sz="1400" dirty="0">
              <a:solidFill>
                <a:schemeClr val="bg1"/>
              </a:solidFill>
              <a:latin typeface="微软雅黑" pitchFamily="34" charset="-122"/>
              <a:ea typeface="微软雅黑" pitchFamily="34" charset="-122"/>
            </a:endParaRPr>
          </a:p>
        </p:txBody>
      </p:sp>
      <p:sp>
        <p:nvSpPr>
          <p:cNvPr id="22" name="矩形 21">
            <a:extLst>
              <a:ext uri="{FF2B5EF4-FFF2-40B4-BE49-F238E27FC236}">
                <a16:creationId xmlns:a16="http://schemas.microsoft.com/office/drawing/2014/main" id="{2D1E711E-9AD2-BA08-5F85-2D90FBA9E9AD}"/>
              </a:ext>
            </a:extLst>
          </p:cNvPr>
          <p:cNvSpPr/>
          <p:nvPr/>
        </p:nvSpPr>
        <p:spPr>
          <a:xfrm>
            <a:off x="450540" y="1094379"/>
            <a:ext cx="10912643" cy="400110"/>
          </a:xfrm>
          <a:prstGeom prst="rect">
            <a:avLst/>
          </a:prstGeom>
        </p:spPr>
        <p:txBody>
          <a:bodyPr wrap="square">
            <a:spAutoFit/>
          </a:bodyPr>
          <a:lstStyle/>
          <a:p>
            <a:pPr algn="just"/>
            <a:r>
              <a:rPr lang="en-US" altLang="zh-TW" sz="2000" dirty="0">
                <a:latin typeface="標楷體" panose="03000509000000000000" pitchFamily="65" charset="-120"/>
                <a:ea typeface="標楷體" panose="03000509000000000000" pitchFamily="65" charset="-120"/>
              </a:rPr>
              <a:t>•</a:t>
            </a:r>
            <a:r>
              <a:rPr lang="zh-TW" altLang="en-US" sz="2000" dirty="0"/>
              <a:t> </a:t>
            </a:r>
            <a:r>
              <a:rPr lang="zh-TW" altLang="en-US" sz="2000" dirty="0">
                <a:latin typeface="標楷體" panose="03000509000000000000" pitchFamily="65" charset="-120"/>
                <a:ea typeface="標楷體" panose="03000509000000000000" pitchFamily="65" charset="-120"/>
              </a:rPr>
              <a:t>實驗結果顯示教師訓練時間不同對於學生蒸餾效果幾乎沒有差別，訓練時間亦可以大幅下降。</a:t>
            </a:r>
            <a:endParaRPr lang="en-US" altLang="zh-TW" sz="2000" dirty="0">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A452CBBD-20B1-A12F-DDEF-6E1C3737305D}"/>
              </a:ext>
            </a:extLst>
          </p:cNvPr>
          <p:cNvPicPr>
            <a:picLocks noChangeAspect="1"/>
          </p:cNvPicPr>
          <p:nvPr/>
        </p:nvPicPr>
        <p:blipFill>
          <a:blip r:embed="rId3"/>
          <a:stretch>
            <a:fillRect/>
          </a:stretch>
        </p:blipFill>
        <p:spPr>
          <a:xfrm>
            <a:off x="428320" y="1902853"/>
            <a:ext cx="6104586" cy="3052293"/>
          </a:xfrm>
          <a:prstGeom prst="rect">
            <a:avLst/>
          </a:prstGeom>
        </p:spPr>
      </p:pic>
      <p:pic>
        <p:nvPicPr>
          <p:cNvPr id="6" name="圖片 5">
            <a:extLst>
              <a:ext uri="{FF2B5EF4-FFF2-40B4-BE49-F238E27FC236}">
                <a16:creationId xmlns:a16="http://schemas.microsoft.com/office/drawing/2014/main" id="{F654D25C-9B06-43F5-AEA0-70C2071278DD}"/>
              </a:ext>
            </a:extLst>
          </p:cNvPr>
          <p:cNvPicPr>
            <a:picLocks noChangeAspect="1"/>
          </p:cNvPicPr>
          <p:nvPr/>
        </p:nvPicPr>
        <p:blipFill>
          <a:blip r:embed="rId4"/>
          <a:stretch>
            <a:fillRect/>
          </a:stretch>
        </p:blipFill>
        <p:spPr>
          <a:xfrm>
            <a:off x="5816410" y="1899634"/>
            <a:ext cx="6104586" cy="3058732"/>
          </a:xfrm>
          <a:prstGeom prst="rect">
            <a:avLst/>
          </a:prstGeom>
        </p:spPr>
      </p:pic>
    </p:spTree>
    <p:extLst>
      <p:ext uri="{BB962C8B-B14F-4D97-AF65-F5344CB8AC3E}">
        <p14:creationId xmlns:p14="http://schemas.microsoft.com/office/powerpoint/2010/main" val="133562926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1577</Words>
  <Application>Microsoft Office PowerPoint</Application>
  <PresentationFormat>寬螢幕</PresentationFormat>
  <Paragraphs>149</Paragraphs>
  <Slides>27</Slides>
  <Notes>26</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27</vt:i4>
      </vt:variant>
    </vt:vector>
  </HeadingPairs>
  <TitlesOfParts>
    <vt:vector size="36" baseType="lpstr">
      <vt:lpstr>ElsevierGulliver</vt:lpstr>
      <vt:lpstr>微软雅黑</vt:lpstr>
      <vt:lpstr>標楷體</vt:lpstr>
      <vt:lpstr>Arial</vt:lpstr>
      <vt:lpstr>Calibri</vt:lpstr>
      <vt:lpstr>Calibri Light</vt:lpstr>
      <vt:lpstr>Times New Roman</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鼎祐 林</dc:creator>
  <cp:lastModifiedBy>鼎祐 林</cp:lastModifiedBy>
  <cp:revision>17</cp:revision>
  <dcterms:created xsi:type="dcterms:W3CDTF">2026-01-13T12:59:30Z</dcterms:created>
  <dcterms:modified xsi:type="dcterms:W3CDTF">2026-03-05T15:17:46Z</dcterms:modified>
</cp:coreProperties>
</file>