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592" r:id="rId2"/>
    <p:sldId id="657" r:id="rId3"/>
    <p:sldId id="658" r:id="rId4"/>
    <p:sldId id="665" r:id="rId5"/>
    <p:sldId id="666" r:id="rId6"/>
    <p:sldId id="660" r:id="rId7"/>
    <p:sldId id="662" r:id="rId8"/>
    <p:sldId id="661" r:id="rId9"/>
    <p:sldId id="664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廷安 張" initials="廷安" lastIdx="1" clrIdx="0">
    <p:extLst>
      <p:ext uri="{19B8F6BF-5375-455C-9EA6-DF929625EA0E}">
        <p15:presenceInfo xmlns:p15="http://schemas.microsoft.com/office/powerpoint/2012/main" userId="55319b3ea971a31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FC1D7"/>
    <a:srgbClr val="3FABC9"/>
    <a:srgbClr val="0000FF"/>
    <a:srgbClr val="FF99CC"/>
    <a:srgbClr val="35A0BD"/>
    <a:srgbClr val="2E75B6"/>
    <a:srgbClr val="FF3300"/>
    <a:srgbClr val="5B9BD5"/>
    <a:srgbClr val="2F5597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淺色樣式 1 - 輔色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13" autoAdjust="0"/>
    <p:restoredTop sz="96336" autoAdjust="0"/>
  </p:normalViewPr>
  <p:slideViewPr>
    <p:cSldViewPr snapToGrid="0">
      <p:cViewPr varScale="1">
        <p:scale>
          <a:sx n="92" d="100"/>
          <a:sy n="92" d="100"/>
        </p:scale>
        <p:origin x="387" y="69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0B572E-CF79-4C4C-A82D-2C13A60E0D18}" type="datetimeFigureOut">
              <a:rPr lang="zh-TW" altLang="en-US" smtClean="0"/>
              <a:t>2023/9/24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4304F7-8D10-485E-BC6D-5EF96811EF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9744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2686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74086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24580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27024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79971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14995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65018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304F7-8D10-485E-BC6D-5EF96811EFF4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76185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D3F97-3AC4-43B4-8BBB-AD635F9A6FED}" type="datetimeFigureOut">
              <a:rPr lang="zh-TW" altLang="en-US" smtClean="0"/>
              <a:t>2023/9/24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F0A26-8658-45AC-9DD6-E8C49AF690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7133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D3F97-3AC4-43B4-8BBB-AD635F9A6FED}" type="datetimeFigureOut">
              <a:rPr lang="zh-TW" altLang="en-US" smtClean="0"/>
              <a:t>2023/9/24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F0A26-8658-45AC-9DD6-E8C49AF690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5879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D3F97-3AC4-43B4-8BBB-AD635F9A6FED}" type="datetimeFigureOut">
              <a:rPr lang="zh-TW" altLang="en-US" smtClean="0"/>
              <a:t>2023/9/24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F0A26-8658-45AC-9DD6-E8C49AF690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2546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D3F97-3AC4-43B4-8BBB-AD635F9A6FED}" type="datetimeFigureOut">
              <a:rPr lang="zh-TW" altLang="en-US" smtClean="0"/>
              <a:t>2023/9/24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F0A26-8658-45AC-9DD6-E8C49AF690F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0" y="6724651"/>
            <a:ext cx="12192000" cy="133349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1707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CD3F97-3AC4-43B4-8BBB-AD635F9A6FED}" type="datetimeFigureOut">
              <a:rPr lang="zh-TW" altLang="en-US" smtClean="0"/>
              <a:t>2023/9/24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9F0A26-8658-45AC-9DD6-E8C49AF690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9817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"/>
          <p:cNvSpPr txBox="1"/>
          <p:nvPr/>
        </p:nvSpPr>
        <p:spPr>
          <a:xfrm>
            <a:off x="2327743" y="716692"/>
            <a:ext cx="7536513" cy="830960"/>
          </a:xfrm>
          <a:prstGeom prst="rect">
            <a:avLst/>
          </a:prstGeom>
          <a:noFill/>
          <a:effectLst/>
        </p:spPr>
        <p:txBody>
          <a:bodyPr wrap="square" lIns="91403" tIns="45702" rIns="91403" bIns="45702">
            <a:spAutoFit/>
          </a:bodyPr>
          <a:lstStyle/>
          <a:p>
            <a:pPr algn="ctr" defTabSz="91399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4800" b="1" dirty="0">
                <a:ln w="19050">
                  <a:noFill/>
                </a:ln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TW" sz="4800" b="1" dirty="0">
                <a:ln w="19050">
                  <a:noFill/>
                </a:ln>
                <a:solidFill>
                  <a:srgbClr val="44ADC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ediaCore Lab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D59B92E0-9576-D533-5BE2-81ECF2C4FB7B}"/>
              </a:ext>
            </a:extLst>
          </p:cNvPr>
          <p:cNvSpPr txBox="1"/>
          <p:nvPr/>
        </p:nvSpPr>
        <p:spPr>
          <a:xfrm>
            <a:off x="2327742" y="3672182"/>
            <a:ext cx="7536513" cy="2653062"/>
          </a:xfrm>
          <a:prstGeom prst="rect">
            <a:avLst/>
          </a:prstGeom>
          <a:noFill/>
          <a:effectLst/>
        </p:spPr>
        <p:txBody>
          <a:bodyPr wrap="square" lIns="91403" tIns="45702" rIns="91403" bIns="45702">
            <a:spAutoFit/>
          </a:bodyPr>
          <a:lstStyle/>
          <a:p>
            <a:pPr algn="ctr" defTabSz="913996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000" dirty="0">
                <a:ln w="19050">
                  <a:noFill/>
                </a:ln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Department of Electrical Engineering</a:t>
            </a:r>
          </a:p>
          <a:p>
            <a:pPr algn="ctr" defTabSz="913996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000" dirty="0">
                <a:ln w="19050">
                  <a:noFill/>
                </a:ln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National Yunlin University of Science and Technology</a:t>
            </a:r>
          </a:p>
          <a:p>
            <a:pPr algn="ctr" defTabSz="913996"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zh-TW" sz="2000" dirty="0">
              <a:ln w="19050">
                <a:noFill/>
              </a:ln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 defTabSz="913996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000" dirty="0">
                <a:ln w="19050">
                  <a:noFill/>
                </a:ln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Lecturer : OOO</a:t>
            </a:r>
          </a:p>
          <a:p>
            <a:pPr algn="ctr" defTabSz="913996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000" dirty="0">
                <a:ln w="19050">
                  <a:noFill/>
                </a:ln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Advisor : Ting-An Chang</a:t>
            </a:r>
          </a:p>
          <a:p>
            <a:pPr algn="ctr" defTabSz="913996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000">
                <a:ln w="19050">
                  <a:noFill/>
                </a:ln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2023.09.24</a:t>
            </a:r>
            <a:endParaRPr lang="en-US" altLang="zh-TW" sz="2000" dirty="0">
              <a:ln w="19050">
                <a:noFill/>
              </a:ln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327742" y="2091222"/>
            <a:ext cx="7536513" cy="646294"/>
          </a:xfrm>
          <a:prstGeom prst="rect">
            <a:avLst/>
          </a:prstGeom>
          <a:noFill/>
          <a:effectLst/>
        </p:spPr>
        <p:txBody>
          <a:bodyPr wrap="square" lIns="91403" tIns="45702" rIns="91403" bIns="45702">
            <a:spAutoFit/>
          </a:bodyPr>
          <a:lstStyle/>
          <a:p>
            <a:pPr algn="ctr" defTabSz="91399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3600" b="1" dirty="0">
                <a:ln w="19050">
                  <a:noFill/>
                </a:ln>
                <a:solidFill>
                  <a:srgbClr val="3FABC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Progress Report</a:t>
            </a:r>
          </a:p>
        </p:txBody>
      </p:sp>
    </p:spTree>
    <p:extLst>
      <p:ext uri="{BB962C8B-B14F-4D97-AF65-F5344CB8AC3E}">
        <p14:creationId xmlns:p14="http://schemas.microsoft.com/office/powerpoint/2010/main" val="2827891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/>
          <p:cNvSpPr txBox="1">
            <a:spLocks noChangeArrowheads="1"/>
          </p:cNvSpPr>
          <p:nvPr/>
        </p:nvSpPr>
        <p:spPr bwMode="auto">
          <a:xfrm>
            <a:off x="1344155" y="354451"/>
            <a:ext cx="174617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微软雅黑" pitchFamily="34" charset="-122"/>
                <a:ea typeface="微软雅黑" pitchFamily="34" charset="-122"/>
              </a:rPr>
              <a:t>Outline</a:t>
            </a:r>
          </a:p>
        </p:txBody>
      </p:sp>
      <p:cxnSp>
        <p:nvCxnSpPr>
          <p:cNvPr id="13" name="直接连接符 51"/>
          <p:cNvCxnSpPr>
            <a:cxnSpLocks/>
            <a:endCxn id="12" idx="3"/>
          </p:cNvCxnSpPr>
          <p:nvPr/>
        </p:nvCxnSpPr>
        <p:spPr>
          <a:xfrm flipH="1" flipV="1">
            <a:off x="3090333" y="616061"/>
            <a:ext cx="8816356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/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2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9FEFE1-80CA-4737-ADC9-F82EDDBB912C}"/>
              </a:ext>
            </a:extLst>
          </p:cNvPr>
          <p:cNvSpPr/>
          <p:nvPr/>
        </p:nvSpPr>
        <p:spPr>
          <a:xfrm>
            <a:off x="529196" y="1094379"/>
            <a:ext cx="10912643" cy="41996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en-US" altLang="zh-TW" sz="2000" dirty="0">
                <a:ea typeface="微軟正黑體" panose="020B0604030504040204" pitchFamily="34" charset="-120"/>
              </a:rPr>
              <a:t> Datasets</a:t>
            </a:r>
          </a:p>
          <a:p>
            <a:pPr marL="285750" lvl="1" indent="-28575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en-US" altLang="zh-TW" sz="2000" dirty="0">
                <a:ea typeface="微軟正黑體" panose="020B0604030504040204" pitchFamily="34" charset="-120"/>
              </a:rPr>
              <a:t>Algorithm</a:t>
            </a:r>
          </a:p>
          <a:p>
            <a:pPr marL="285750" lvl="1" indent="-28575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en-US" altLang="zh-TW" sz="2000" dirty="0">
                <a:ea typeface="微軟正黑體" panose="020B0604030504040204" pitchFamily="34" charset="-120"/>
              </a:rPr>
              <a:t>Progress 1</a:t>
            </a:r>
          </a:p>
          <a:p>
            <a:pPr marL="285750" lvl="1" indent="-28575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en-US" altLang="zh-TW" sz="2000" dirty="0">
                <a:ea typeface="微軟正黑體" panose="020B0604030504040204" pitchFamily="34" charset="-120"/>
              </a:rPr>
              <a:t>Progress 2</a:t>
            </a:r>
          </a:p>
          <a:p>
            <a:pPr marL="285750" lvl="1" indent="-28575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en-US" altLang="zh-TW" sz="2000" dirty="0">
                <a:ea typeface="微軟正黑體" panose="020B0604030504040204" pitchFamily="34" charset="-120"/>
              </a:rPr>
              <a:t>Experimental Results</a:t>
            </a:r>
          </a:p>
          <a:p>
            <a:pPr marL="285750" lvl="1" indent="-28575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en-US" altLang="zh-TW" sz="2000" dirty="0">
                <a:ea typeface="微軟正黑體" panose="020B0604030504040204" pitchFamily="34" charset="-120"/>
              </a:rPr>
              <a:t>Analysis &amp; Discussions</a:t>
            </a:r>
          </a:p>
          <a:p>
            <a:pPr marL="285750" lvl="1" indent="-28575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en-US" altLang="zh-TW" sz="2000" dirty="0">
                <a:ea typeface="微軟正黑體" panose="020B0604030504040204" pitchFamily="34" charset="-120"/>
              </a:rPr>
              <a:t>Future Work</a:t>
            </a:r>
          </a:p>
          <a:p>
            <a:pPr marL="285750" lvl="1" indent="-28575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endParaRPr lang="en-US" altLang="zh-TW" sz="2000" dirty="0">
              <a:ea typeface="微軟正黑體" panose="020B0604030504040204" pitchFamily="34" charset="-120"/>
            </a:endParaRPr>
          </a:p>
          <a:p>
            <a:pPr marL="285750" lvl="1" indent="-28575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endParaRPr lang="en-US" altLang="zh-TW" sz="2000" dirty="0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85410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/>
          <p:cNvSpPr txBox="1">
            <a:spLocks noChangeArrowheads="1"/>
          </p:cNvSpPr>
          <p:nvPr/>
        </p:nvSpPr>
        <p:spPr bwMode="auto">
          <a:xfrm>
            <a:off x="1344155" y="354451"/>
            <a:ext cx="221250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微软雅黑" pitchFamily="34" charset="-122"/>
                <a:ea typeface="微软雅黑" pitchFamily="34" charset="-122"/>
              </a:rPr>
              <a:t> Datasets</a:t>
            </a:r>
          </a:p>
        </p:txBody>
      </p:sp>
      <p:cxnSp>
        <p:nvCxnSpPr>
          <p:cNvPr id="13" name="直接连接符 51"/>
          <p:cNvCxnSpPr>
            <a:cxnSpLocks/>
            <a:endCxn id="12" idx="3"/>
          </p:cNvCxnSpPr>
          <p:nvPr/>
        </p:nvCxnSpPr>
        <p:spPr>
          <a:xfrm flipH="1" flipV="1">
            <a:off x="3556660" y="616061"/>
            <a:ext cx="8350030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/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3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9FEFE1-80CA-4737-ADC9-F82EDDBB912C}"/>
              </a:ext>
            </a:extLst>
          </p:cNvPr>
          <p:cNvSpPr/>
          <p:nvPr/>
        </p:nvSpPr>
        <p:spPr>
          <a:xfrm>
            <a:off x="529196" y="1094379"/>
            <a:ext cx="10912643" cy="506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en-US" altLang="zh-TW" sz="2000" dirty="0">
                <a:ea typeface="微軟正黑體" panose="020B0604030504040204" pitchFamily="34" charset="-120"/>
              </a:rPr>
              <a:t> Computing Patch Priorities</a:t>
            </a:r>
          </a:p>
        </p:txBody>
      </p:sp>
    </p:spTree>
    <p:extLst>
      <p:ext uri="{BB962C8B-B14F-4D97-AF65-F5344CB8AC3E}">
        <p14:creationId xmlns:p14="http://schemas.microsoft.com/office/powerpoint/2010/main" val="1079629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/>
          <p:cNvSpPr txBox="1">
            <a:spLocks noChangeArrowheads="1"/>
          </p:cNvSpPr>
          <p:nvPr/>
        </p:nvSpPr>
        <p:spPr bwMode="auto">
          <a:xfrm>
            <a:off x="1344155" y="354451"/>
            <a:ext cx="241438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微软雅黑" pitchFamily="34" charset="-122"/>
                <a:ea typeface="微软雅黑" pitchFamily="34" charset="-122"/>
              </a:rPr>
              <a:t>Algorithm</a:t>
            </a:r>
          </a:p>
        </p:txBody>
      </p:sp>
      <p:cxnSp>
        <p:nvCxnSpPr>
          <p:cNvPr id="13" name="直接连接符 51"/>
          <p:cNvCxnSpPr>
            <a:cxnSpLocks/>
            <a:endCxn id="12" idx="3"/>
          </p:cNvCxnSpPr>
          <p:nvPr/>
        </p:nvCxnSpPr>
        <p:spPr>
          <a:xfrm flipH="1" flipV="1">
            <a:off x="3758540" y="616061"/>
            <a:ext cx="8148150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/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4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9FEFE1-80CA-4737-ADC9-F82EDDBB912C}"/>
              </a:ext>
            </a:extLst>
          </p:cNvPr>
          <p:cNvSpPr/>
          <p:nvPr/>
        </p:nvSpPr>
        <p:spPr>
          <a:xfrm>
            <a:off x="529196" y="1094379"/>
            <a:ext cx="10912643" cy="506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en-US" altLang="zh-TW" sz="2000" dirty="0">
                <a:ea typeface="微軟正黑體" panose="020B0604030504040204" pitchFamily="34" charset="-120"/>
              </a:rPr>
              <a:t> Computing Patch Priorities</a:t>
            </a:r>
          </a:p>
        </p:txBody>
      </p:sp>
    </p:spTree>
    <p:extLst>
      <p:ext uri="{BB962C8B-B14F-4D97-AF65-F5344CB8AC3E}">
        <p14:creationId xmlns:p14="http://schemas.microsoft.com/office/powerpoint/2010/main" val="4181486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/>
          <p:cNvSpPr txBox="1">
            <a:spLocks noChangeArrowheads="1"/>
          </p:cNvSpPr>
          <p:nvPr/>
        </p:nvSpPr>
        <p:spPr bwMode="auto">
          <a:xfrm>
            <a:off x="1344156" y="354451"/>
            <a:ext cx="237282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微软雅黑" pitchFamily="34" charset="-122"/>
                <a:ea typeface="微软雅黑" pitchFamily="34" charset="-122"/>
              </a:rPr>
              <a:t>Progress 1</a:t>
            </a:r>
          </a:p>
        </p:txBody>
      </p:sp>
      <p:cxnSp>
        <p:nvCxnSpPr>
          <p:cNvPr id="13" name="直接连接符 51"/>
          <p:cNvCxnSpPr>
            <a:cxnSpLocks/>
            <a:endCxn id="12" idx="3"/>
          </p:cNvCxnSpPr>
          <p:nvPr/>
        </p:nvCxnSpPr>
        <p:spPr>
          <a:xfrm flipH="1" flipV="1">
            <a:off x="3716978" y="616061"/>
            <a:ext cx="8189712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/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5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9FEFE1-80CA-4737-ADC9-F82EDDBB912C}"/>
              </a:ext>
            </a:extLst>
          </p:cNvPr>
          <p:cNvSpPr/>
          <p:nvPr/>
        </p:nvSpPr>
        <p:spPr>
          <a:xfrm>
            <a:off x="529196" y="1094379"/>
            <a:ext cx="10912643" cy="506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en-US" altLang="zh-TW" sz="2000" dirty="0">
                <a:ea typeface="微軟正黑體" panose="020B0604030504040204" pitchFamily="34" charset="-120"/>
              </a:rPr>
              <a:t> Computing Patch Priorities</a:t>
            </a:r>
          </a:p>
        </p:txBody>
      </p:sp>
    </p:spTree>
    <p:extLst>
      <p:ext uri="{BB962C8B-B14F-4D97-AF65-F5344CB8AC3E}">
        <p14:creationId xmlns:p14="http://schemas.microsoft.com/office/powerpoint/2010/main" val="4043579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/>
          <p:cNvSpPr txBox="1">
            <a:spLocks noChangeArrowheads="1"/>
          </p:cNvSpPr>
          <p:nvPr/>
        </p:nvSpPr>
        <p:spPr bwMode="auto">
          <a:xfrm>
            <a:off x="1344155" y="354451"/>
            <a:ext cx="24500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微软雅黑" pitchFamily="34" charset="-122"/>
                <a:ea typeface="微软雅黑" pitchFamily="34" charset="-122"/>
              </a:rPr>
              <a:t>Progress 2</a:t>
            </a:r>
          </a:p>
        </p:txBody>
      </p:sp>
      <p:cxnSp>
        <p:nvCxnSpPr>
          <p:cNvPr id="13" name="直接连接符 51"/>
          <p:cNvCxnSpPr>
            <a:cxnSpLocks/>
            <a:endCxn id="12" idx="3"/>
          </p:cNvCxnSpPr>
          <p:nvPr/>
        </p:nvCxnSpPr>
        <p:spPr>
          <a:xfrm flipH="1" flipV="1">
            <a:off x="3794167" y="616061"/>
            <a:ext cx="8112524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/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6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9FEFE1-80CA-4737-ADC9-F82EDDBB912C}"/>
              </a:ext>
            </a:extLst>
          </p:cNvPr>
          <p:cNvSpPr/>
          <p:nvPr/>
        </p:nvSpPr>
        <p:spPr>
          <a:xfrm>
            <a:off x="529196" y="1094379"/>
            <a:ext cx="10912643" cy="506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en-US" altLang="zh-TW" sz="2000" dirty="0">
                <a:ea typeface="微軟正黑體" panose="020B0604030504040204" pitchFamily="34" charset="-120"/>
              </a:rPr>
              <a:t> Computing Patch Priorities</a:t>
            </a:r>
          </a:p>
        </p:txBody>
      </p:sp>
    </p:spTree>
    <p:extLst>
      <p:ext uri="{BB962C8B-B14F-4D97-AF65-F5344CB8AC3E}">
        <p14:creationId xmlns:p14="http://schemas.microsoft.com/office/powerpoint/2010/main" val="576164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/>
          <p:cNvSpPr txBox="1">
            <a:spLocks noChangeArrowheads="1"/>
          </p:cNvSpPr>
          <p:nvPr/>
        </p:nvSpPr>
        <p:spPr bwMode="auto">
          <a:xfrm>
            <a:off x="1344155" y="354451"/>
            <a:ext cx="43031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微软雅黑" pitchFamily="34" charset="-122"/>
                <a:ea typeface="微软雅黑" pitchFamily="34" charset="-122"/>
              </a:rPr>
              <a:t>Experimental Results</a:t>
            </a:r>
          </a:p>
        </p:txBody>
      </p:sp>
      <p:cxnSp>
        <p:nvCxnSpPr>
          <p:cNvPr id="13" name="直接连接符 51"/>
          <p:cNvCxnSpPr>
            <a:cxnSpLocks/>
            <a:endCxn id="12" idx="3"/>
          </p:cNvCxnSpPr>
          <p:nvPr/>
        </p:nvCxnSpPr>
        <p:spPr>
          <a:xfrm flipH="1" flipV="1">
            <a:off x="5647267" y="616061"/>
            <a:ext cx="6259424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/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7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9FEFE1-80CA-4737-ADC9-F82EDDBB912C}"/>
              </a:ext>
            </a:extLst>
          </p:cNvPr>
          <p:cNvSpPr/>
          <p:nvPr/>
        </p:nvSpPr>
        <p:spPr>
          <a:xfrm>
            <a:off x="529196" y="1094379"/>
            <a:ext cx="10912643" cy="506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en-US" altLang="zh-TW" sz="2000" dirty="0">
                <a:ea typeface="微軟正黑體" panose="020B0604030504040204" pitchFamily="34" charset="-120"/>
              </a:rPr>
              <a:t> Computing Patch Priorities</a:t>
            </a:r>
          </a:p>
        </p:txBody>
      </p:sp>
    </p:spTree>
    <p:extLst>
      <p:ext uri="{BB962C8B-B14F-4D97-AF65-F5344CB8AC3E}">
        <p14:creationId xmlns:p14="http://schemas.microsoft.com/office/powerpoint/2010/main" val="1704970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/>
          <p:cNvSpPr txBox="1">
            <a:spLocks noChangeArrowheads="1"/>
          </p:cNvSpPr>
          <p:nvPr/>
        </p:nvSpPr>
        <p:spPr bwMode="auto">
          <a:xfrm>
            <a:off x="1344155" y="354451"/>
            <a:ext cx="47518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微软雅黑" pitchFamily="34" charset="-122"/>
                <a:ea typeface="微软雅黑" pitchFamily="34" charset="-122"/>
              </a:rPr>
              <a:t>Analysis &amp; Discussions</a:t>
            </a:r>
          </a:p>
        </p:txBody>
      </p:sp>
      <p:cxnSp>
        <p:nvCxnSpPr>
          <p:cNvPr id="13" name="直接连接符 51"/>
          <p:cNvCxnSpPr>
            <a:cxnSpLocks/>
            <a:endCxn id="12" idx="3"/>
          </p:cNvCxnSpPr>
          <p:nvPr/>
        </p:nvCxnSpPr>
        <p:spPr>
          <a:xfrm flipH="1" flipV="1">
            <a:off x="6096000" y="616061"/>
            <a:ext cx="5810690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/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8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9FEFE1-80CA-4737-ADC9-F82EDDBB912C}"/>
              </a:ext>
            </a:extLst>
          </p:cNvPr>
          <p:cNvSpPr/>
          <p:nvPr/>
        </p:nvSpPr>
        <p:spPr>
          <a:xfrm>
            <a:off x="529196" y="1094379"/>
            <a:ext cx="10912643" cy="506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en-US" altLang="zh-TW" sz="2000" dirty="0">
                <a:ea typeface="微軟正黑體" panose="020B0604030504040204" pitchFamily="34" charset="-120"/>
              </a:rPr>
              <a:t> Computing Patch Priorities</a:t>
            </a:r>
          </a:p>
        </p:txBody>
      </p:sp>
    </p:spTree>
    <p:extLst>
      <p:ext uri="{BB962C8B-B14F-4D97-AF65-F5344CB8AC3E}">
        <p14:creationId xmlns:p14="http://schemas.microsoft.com/office/powerpoint/2010/main" val="1861007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492426"/>
            <a:ext cx="192628" cy="1768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64599" y="492426"/>
            <a:ext cx="192627" cy="176843"/>
          </a:xfrm>
          <a:prstGeom prst="rect">
            <a:avLst/>
          </a:prstGeom>
          <a:solidFill>
            <a:srgbClr val="35A0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29196" y="492426"/>
            <a:ext cx="190510" cy="1768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91677" y="492426"/>
            <a:ext cx="192628" cy="176843"/>
          </a:xfrm>
          <a:prstGeom prst="rect">
            <a:avLst/>
          </a:prstGeom>
          <a:solidFill>
            <a:srgbClr val="66BC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056275" y="492426"/>
            <a:ext cx="192627" cy="1768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/>
          </a:p>
        </p:txBody>
      </p:sp>
      <p:sp>
        <p:nvSpPr>
          <p:cNvPr id="12" name="TextBox 49"/>
          <p:cNvSpPr txBox="1">
            <a:spLocks noChangeArrowheads="1"/>
          </p:cNvSpPr>
          <p:nvPr/>
        </p:nvSpPr>
        <p:spPr bwMode="auto">
          <a:xfrm>
            <a:off x="1344155" y="354451"/>
            <a:ext cx="27283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微软雅黑" pitchFamily="34" charset="-122"/>
                <a:ea typeface="微软雅黑" pitchFamily="34" charset="-122"/>
              </a:rPr>
              <a:t>Future Work</a:t>
            </a:r>
          </a:p>
        </p:txBody>
      </p:sp>
      <p:cxnSp>
        <p:nvCxnSpPr>
          <p:cNvPr id="13" name="直接连接符 51"/>
          <p:cNvCxnSpPr>
            <a:cxnSpLocks/>
            <a:endCxn id="12" idx="3"/>
          </p:cNvCxnSpPr>
          <p:nvPr/>
        </p:nvCxnSpPr>
        <p:spPr>
          <a:xfrm flipH="1" flipV="1">
            <a:off x="4072467" y="616061"/>
            <a:ext cx="7834224" cy="25302"/>
          </a:xfrm>
          <a:prstGeom prst="line">
            <a:avLst/>
          </a:prstGeom>
          <a:ln>
            <a:solidFill>
              <a:schemeClr val="tx2"/>
            </a:solidFill>
            <a:prstDash val="dashDot"/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1784130" y="300038"/>
            <a:ext cx="408538" cy="377004"/>
          </a:xfrm>
          <a:prstGeom prst="rect">
            <a:avLst/>
          </a:prstGeom>
          <a:solidFill>
            <a:srgbClr val="309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15" name="矩形 95"/>
          <p:cNvSpPr>
            <a:spLocks noChangeArrowheads="1"/>
          </p:cNvSpPr>
          <p:nvPr/>
        </p:nvSpPr>
        <p:spPr bwMode="auto">
          <a:xfrm>
            <a:off x="11784130" y="399353"/>
            <a:ext cx="407870" cy="2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</a:pPr>
            <a:fld id="{DC618BD4-6F58-45FA-8BCD-3E2F07B48716}" type="slidenum"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ts val="1200"/>
                </a:lnSpc>
              </a:pPr>
              <a:t>9</a:t>
            </a:fld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9FEFE1-80CA-4737-ADC9-F82EDDBB912C}"/>
              </a:ext>
            </a:extLst>
          </p:cNvPr>
          <p:cNvSpPr/>
          <p:nvPr/>
        </p:nvSpPr>
        <p:spPr>
          <a:xfrm>
            <a:off x="529196" y="1094379"/>
            <a:ext cx="10912643" cy="506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50000"/>
              </a:lnSpc>
              <a:buClr>
                <a:srgbClr val="35A0BD"/>
              </a:buClr>
              <a:buFont typeface="Wingdings" panose="05000000000000000000" pitchFamily="2" charset="2"/>
              <a:buChar char="l"/>
            </a:pPr>
            <a:r>
              <a:rPr lang="en-US" altLang="zh-TW" sz="2000" dirty="0">
                <a:ea typeface="微軟正黑體" panose="020B0604030504040204" pitchFamily="34" charset="-120"/>
              </a:rPr>
              <a:t> Computing Patch Priorities</a:t>
            </a:r>
          </a:p>
        </p:txBody>
      </p:sp>
    </p:spTree>
    <p:extLst>
      <p:ext uri="{BB962C8B-B14F-4D97-AF65-F5344CB8AC3E}">
        <p14:creationId xmlns:p14="http://schemas.microsoft.com/office/powerpoint/2010/main" val="3579637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34388</TotalTime>
  <Words>96</Words>
  <Application>Microsoft Office PowerPoint</Application>
  <PresentationFormat>寬螢幕</PresentationFormat>
  <Paragraphs>46</Paragraphs>
  <Slides>9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6" baseType="lpstr">
      <vt:lpstr>微软雅黑</vt:lpstr>
      <vt:lpstr>Arial</vt:lpstr>
      <vt:lpstr>Calibri</vt:lpstr>
      <vt:lpstr>Calibri Light</vt:lpstr>
      <vt:lpstr>Times New Roman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張廷安</dc:creator>
  <cp:lastModifiedBy>廷安 張</cp:lastModifiedBy>
  <cp:revision>1073</cp:revision>
  <dcterms:created xsi:type="dcterms:W3CDTF">2021-08-31T00:13:08Z</dcterms:created>
  <dcterms:modified xsi:type="dcterms:W3CDTF">2023-09-24T13:25:14Z</dcterms:modified>
</cp:coreProperties>
</file>