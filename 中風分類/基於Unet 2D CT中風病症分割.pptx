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25" r:id="rId3"/>
    <p:sldId id="326" r:id="rId4"/>
    <p:sldId id="327" r:id="rId5"/>
    <p:sldId id="328" r:id="rId6"/>
    <p:sldId id="329" r:id="rId7"/>
    <p:sldId id="330" r:id="rId8"/>
    <p:sldId id="331" r:id="rId9"/>
    <p:sldId id="332" r:id="rId10"/>
    <p:sldId id="333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309" r:id="rId26"/>
    <p:sldId id="317" r:id="rId27"/>
    <p:sldId id="310" r:id="rId28"/>
    <p:sldId id="311" r:id="rId29"/>
    <p:sldId id="313" r:id="rId30"/>
    <p:sldId id="314" r:id="rId31"/>
    <p:sldId id="315" r:id="rId3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950AA8-7D87-42D6-A97A-49A84A90F4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B924FB1-E57E-48B4-B0CF-189D68BBE7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CC99413-0437-432A-AB74-DA48FA799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D32D1-BD9E-4BD6-B048-F0EC63AC4A83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68DD38B-3EEF-49F8-A617-8F103B3C0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FB6F6E0-FA6A-4E19-8045-C6C550963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998F9-DDB8-4873-A03B-A0480D3C68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5831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A47964-F52A-4148-BF62-07CB70A83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3E1726-E0CE-4BF4-9E19-A6053E3A9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F1DF9A-5706-4EEF-AA6C-942481A1F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D32D1-BD9E-4BD6-B048-F0EC63AC4A83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50FC860-7063-4B6B-AADC-0831A608B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C829E0-B760-4905-9C0C-EC1800137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998F9-DDB8-4873-A03B-A0480D3C68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7173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594FAD-68F1-471A-8BE4-7C0C7F817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0A86B98-67F0-4F0F-8FDE-F637FD4A3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B3B46BA-2B41-40D6-91A9-B0A5E5576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D32D1-BD9E-4BD6-B048-F0EC63AC4A83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855013C-04CE-4B2F-BCB2-53AD1A259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7F66A25-F58D-4C73-8E4C-6DA59E850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998F9-DDB8-4873-A03B-A0480D3C68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1829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FA0293-216B-4777-A506-CB3223BF4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94540DF-C347-4407-BD36-736905C288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8BB9F86-ED94-4E96-A103-31CE118BDE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5363807-85BE-43C2-BAFD-2BB6CCD69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D32D1-BD9E-4BD6-B048-F0EC63AC4A83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0CA3438-2982-4326-AE6F-74DE9B979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7427D96-33A8-4AE0-A6B8-5F9B189E1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998F9-DDB8-4873-A03B-A0480D3C68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0112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613183-F4CE-4BCF-A595-E3E62F5C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627BF68-9BC2-4B27-A097-468505BD4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CF1E4BE-BB98-4707-B818-44463EACF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6DF7FD8-23FF-4B47-A046-849664516A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D9CEECC-3A2B-4680-A539-C6E03BE029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6BD29CF-2CBD-4491-AC2A-128D9DD54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D32D1-BD9E-4BD6-B048-F0EC63AC4A83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75F3FC2-EDD5-4397-8F9E-6C26EAEBA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5F4F2CE-F8CA-4263-83CA-C57B9375F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998F9-DDB8-4873-A03B-A0480D3C68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2859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5B97FB-5667-4C5C-A170-603EFE9B5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D01C9BA-9129-4B0B-8B51-4B2547BEC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D32D1-BD9E-4BD6-B048-F0EC63AC4A83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3573716-E52E-4199-B5A8-C8341DF17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D93ED25-F0D4-4B8E-9FB7-DB622A3BC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998F9-DDB8-4873-A03B-A0480D3C68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0971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5F12D4B-558A-4FCC-8E04-36525BB76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D32D1-BD9E-4BD6-B048-F0EC63AC4A83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2691131-30E7-4795-AC5A-2CF70EC0B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1EB447F-FF14-48AB-9597-4126A8855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998F9-DDB8-4873-A03B-A0480D3C68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3717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C09E74-EAA9-4433-8C9A-86C898006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DD7131E-C1A4-4813-9C0A-21DB5D1E0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DEDC090-E262-4A4D-B90F-546A0C435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BE03B15-F54A-48F9-A4EF-D615FB2D4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D32D1-BD9E-4BD6-B048-F0EC63AC4A83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271D9F4-BD96-491F-8171-ACC2E8311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917D1ED-7C07-493B-81FD-418092C05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998F9-DDB8-4873-A03B-A0480D3C68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273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294D23-E2BD-47B8-908B-5739F4359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0A9303D-E56A-473C-8506-C4FDCC12A8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3FFE249-22CC-4BA4-9D1A-394CE22C7E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35DB55D-DF45-4E40-9CB2-E7C60C116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D32D1-BD9E-4BD6-B048-F0EC63AC4A83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61F472C-AEE9-4CBF-BFF7-10356D87D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B7A6730-53FD-48F2-8343-4129EAB6C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998F9-DDB8-4873-A03B-A0480D3C68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6309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60ED3A-1017-44FE-84EA-458A2A204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B9258D3-D482-4A4E-9666-313DF61F85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700C5C7-3124-47AC-8806-CA1DFD3E9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D32D1-BD9E-4BD6-B048-F0EC63AC4A83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9EA37A8-85AC-4666-98C6-CA23EC9BE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86B5B42-92E6-4041-B7A8-25680AEA5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998F9-DDB8-4873-A03B-A0480D3C68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0411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2421917-65AB-49A0-BE9D-82A2CEBFE3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231E565-7B9B-4E1D-9A7D-73ADE0AD94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25D1AA2-5D70-4362-81FE-E304A9EDF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D32D1-BD9E-4BD6-B048-F0EC63AC4A83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3557E75-D22E-4508-B1F5-D6FD642F1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6C97143-DE8F-4A5E-BB70-9A018BE97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998F9-DDB8-4873-A03B-A0480D3C68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5874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878BAB5-F690-4CA3-87B1-1926D03A1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BB3C71E-5714-4EB3-9643-D93323D18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D13FF65-F25D-473D-819F-7F55459861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FD32D1-BD9E-4BD6-B048-F0EC63AC4A83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61D6333-691F-43A9-9F5E-7248AE2B7E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6F93CC-F54B-4671-91E9-C911248340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D998F9-DDB8-4873-A03B-A0480D3C68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0602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www.anaconda.com/download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code.visualstudio.com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pytorch.org/get-started/locally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5502F678-7667-4C53-82BF-A9527118EB23}"/>
              </a:ext>
            </a:extLst>
          </p:cNvPr>
          <p:cNvSpPr txBox="1"/>
          <p:nvPr/>
        </p:nvSpPr>
        <p:spPr>
          <a:xfrm>
            <a:off x="3185583" y="1807402"/>
            <a:ext cx="72104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5400" b="1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影像分析期末報告</a:t>
            </a:r>
            <a:endParaRPr lang="en-US" altLang="zh-TW" sz="5400" b="1" spc="1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149DA49-D6EA-4768-987A-33978D4C280F}"/>
              </a:ext>
            </a:extLst>
          </p:cNvPr>
          <p:cNvSpPr txBox="1"/>
          <p:nvPr/>
        </p:nvSpPr>
        <p:spPr>
          <a:xfrm>
            <a:off x="1096962" y="3132666"/>
            <a:ext cx="117157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b="1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題目</a:t>
            </a:r>
            <a:r>
              <a:rPr lang="en-US" altLang="zh-TW" sz="4800" b="1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4800" b="1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基於</a:t>
            </a:r>
            <a:r>
              <a:rPr lang="en-US" altLang="zh-TW" sz="4800" b="1" spc="15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Unet</a:t>
            </a:r>
            <a:r>
              <a:rPr lang="en-US" altLang="zh-TW" sz="4800" b="1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2D CT</a:t>
            </a:r>
            <a:r>
              <a:rPr lang="zh-TW" altLang="en-US" sz="4800" b="1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中風病症分割</a:t>
            </a:r>
            <a:endParaRPr lang="en-US" altLang="zh-TW" sz="4800" b="1" spc="1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78761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6EAFB64B-B991-48A5-AE1E-35EDBDABB13C}"/>
              </a:ext>
            </a:extLst>
          </p:cNvPr>
          <p:cNvSpPr txBox="1"/>
          <p:nvPr/>
        </p:nvSpPr>
        <p:spPr>
          <a:xfrm>
            <a:off x="203201" y="228600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資料集</a:t>
            </a:r>
            <a:r>
              <a:rPr lang="en-US" altLang="zh-TW" dirty="0"/>
              <a:t>: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36FF9A5-5599-4DA9-85D2-65B75D283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1" y="597932"/>
            <a:ext cx="8441267" cy="1522092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39F7993D-5580-4110-BAF2-FA44B427EC2C}"/>
              </a:ext>
            </a:extLst>
          </p:cNvPr>
          <p:cNvSpPr txBox="1"/>
          <p:nvPr/>
        </p:nvSpPr>
        <p:spPr>
          <a:xfrm>
            <a:off x="203201" y="2120024"/>
            <a:ext cx="789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/>
              <a:t>https://www.kaggle.com/datasets/ozguraslank/brain-stroke-ct-dataset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209F2B8-DCD9-4402-9FB6-6BEA0DB19A30}"/>
              </a:ext>
            </a:extLst>
          </p:cNvPr>
          <p:cNvSpPr txBox="1"/>
          <p:nvPr/>
        </p:nvSpPr>
        <p:spPr>
          <a:xfrm>
            <a:off x="203201" y="2692400"/>
            <a:ext cx="3581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先把資料及下載並解壓縮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3FE88CF6-3F8D-4EB6-9FA4-24B076D90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78" y="3264776"/>
            <a:ext cx="3651689" cy="2777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597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60AEF75D-5316-4D72-AD04-577D95AD4A9F}"/>
              </a:ext>
            </a:extLst>
          </p:cNvPr>
          <p:cNvSpPr txBox="1"/>
          <p:nvPr/>
        </p:nvSpPr>
        <p:spPr>
          <a:xfrm>
            <a:off x="143934" y="203201"/>
            <a:ext cx="2319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資料集描述</a:t>
            </a:r>
            <a:r>
              <a:rPr lang="en-US" altLang="zh-TW" dirty="0"/>
              <a:t>: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A7204A2-44D3-44AD-B977-5F8B376D5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161" y="2266788"/>
            <a:ext cx="4610743" cy="116221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0C7B420-50E7-4844-920A-4987F5C43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648" y="1716025"/>
            <a:ext cx="4753638" cy="885949"/>
          </a:xfrm>
          <a:prstGeom prst="rect">
            <a:avLst/>
          </a:prstGeom>
        </p:spPr>
      </p:pic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10AAD10A-435C-4886-B99C-711E8E501E40}"/>
              </a:ext>
            </a:extLst>
          </p:cNvPr>
          <p:cNvCxnSpPr/>
          <p:nvPr/>
        </p:nvCxnSpPr>
        <p:spPr>
          <a:xfrm flipV="1">
            <a:off x="4904514" y="1883832"/>
            <a:ext cx="728134" cy="550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1464C43-57DE-400E-8E56-06B7EB2FA201}"/>
              </a:ext>
            </a:extLst>
          </p:cNvPr>
          <p:cNvSpPr txBox="1"/>
          <p:nvPr/>
        </p:nvSpPr>
        <p:spPr>
          <a:xfrm>
            <a:off x="319295" y="3789866"/>
            <a:ext cx="106196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/>
              <a:t>我們今天要做病症分割，會用到的資料夾有</a:t>
            </a:r>
            <a:r>
              <a:rPr lang="en-US" altLang="zh-TW" sz="1600" dirty="0"/>
              <a:t>Bleeding(</a:t>
            </a:r>
            <a:r>
              <a:rPr lang="zh-TW" altLang="en-US" sz="1600" dirty="0"/>
              <a:t>出血</a:t>
            </a:r>
            <a:r>
              <a:rPr lang="en-US" altLang="zh-TW" sz="1600" dirty="0"/>
              <a:t>)</a:t>
            </a:r>
            <a:r>
              <a:rPr lang="zh-TW" altLang="en-US" sz="1600" dirty="0"/>
              <a:t>、</a:t>
            </a:r>
            <a:r>
              <a:rPr lang="en-US" altLang="zh-TW" sz="1600" dirty="0"/>
              <a:t>Ischemia(</a:t>
            </a:r>
            <a:r>
              <a:rPr lang="zh-TW" altLang="en-US" sz="1600" dirty="0"/>
              <a:t>缺血</a:t>
            </a:r>
            <a:r>
              <a:rPr lang="en-US" altLang="zh-TW" sz="1600" dirty="0"/>
              <a:t>)</a:t>
            </a:r>
            <a:r>
              <a:rPr lang="zh-TW" altLang="en-US" sz="1600" dirty="0"/>
              <a:t>、</a:t>
            </a:r>
            <a:r>
              <a:rPr lang="en-US" altLang="zh-TW" sz="1600" dirty="0"/>
              <a:t>External(</a:t>
            </a:r>
            <a:r>
              <a:rPr lang="zh-TW" altLang="en-US" sz="1600" dirty="0"/>
              <a:t>用於模型評估</a:t>
            </a:r>
            <a:r>
              <a:rPr lang="en-US" altLang="zh-TW" sz="1600" dirty="0"/>
              <a:t>)</a:t>
            </a:r>
          </a:p>
          <a:p>
            <a:endParaRPr lang="en-US" altLang="zh-TW" sz="1600" dirty="0"/>
          </a:p>
          <a:p>
            <a:r>
              <a:rPr lang="en-US" altLang="zh-TW" sz="1600" dirty="0"/>
              <a:t>Bleeding</a:t>
            </a:r>
            <a:r>
              <a:rPr lang="zh-TW" altLang="en-US" sz="1600" dirty="0"/>
              <a:t>打開會有</a:t>
            </a:r>
            <a:r>
              <a:rPr lang="en-US" altLang="zh-TW" sz="1600" dirty="0"/>
              <a:t>DICOM</a:t>
            </a:r>
            <a:r>
              <a:rPr lang="zh-TW" altLang="en-US" sz="1600" dirty="0"/>
              <a:t>、</a:t>
            </a:r>
            <a:r>
              <a:rPr lang="en-US" altLang="zh-TW" sz="1600" dirty="0"/>
              <a:t>OVERLAY</a:t>
            </a:r>
            <a:r>
              <a:rPr lang="zh-TW" altLang="en-US" sz="1600" dirty="0"/>
              <a:t>、</a:t>
            </a:r>
            <a:r>
              <a:rPr lang="en-US" altLang="zh-TW" sz="1600" dirty="0"/>
              <a:t>PNG</a:t>
            </a:r>
            <a:r>
              <a:rPr lang="zh-TW" altLang="en-US" sz="1600" dirty="0"/>
              <a:t>，</a:t>
            </a:r>
            <a:r>
              <a:rPr lang="en-US" altLang="zh-TW" sz="1600" dirty="0"/>
              <a:t>DICOM</a:t>
            </a:r>
            <a:r>
              <a:rPr lang="zh-TW" altLang="en-US" sz="1600" dirty="0"/>
              <a:t>是</a:t>
            </a:r>
            <a:r>
              <a:rPr lang="en-US" altLang="zh-TW" sz="1600" dirty="0"/>
              <a:t>CT</a:t>
            </a:r>
            <a:r>
              <a:rPr lang="zh-TW" altLang="en-US" sz="1600" dirty="0"/>
              <a:t>掃描出來的格式，不會用到，所以用</a:t>
            </a:r>
            <a:r>
              <a:rPr lang="en-US" altLang="zh-TW" sz="1600" dirty="0"/>
              <a:t>OVERLAY</a:t>
            </a:r>
            <a:r>
              <a:rPr lang="zh-TW" altLang="en-US" sz="1600" dirty="0"/>
              <a:t>、</a:t>
            </a:r>
            <a:r>
              <a:rPr lang="en-US" altLang="zh-TW" sz="1600" dirty="0"/>
              <a:t>PNG</a:t>
            </a:r>
            <a:r>
              <a:rPr lang="zh-TW" altLang="en-US" sz="1600" dirty="0"/>
              <a:t>就好</a:t>
            </a:r>
          </a:p>
        </p:txBody>
      </p:sp>
    </p:spTree>
    <p:extLst>
      <p:ext uri="{BB962C8B-B14F-4D97-AF65-F5344CB8AC3E}">
        <p14:creationId xmlns:p14="http://schemas.microsoft.com/office/powerpoint/2010/main" val="3998155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D73FC43C-0EF5-4868-B79B-FB1585DD79CE}"/>
              </a:ext>
            </a:extLst>
          </p:cNvPr>
          <p:cNvSpPr txBox="1"/>
          <p:nvPr/>
        </p:nvSpPr>
        <p:spPr>
          <a:xfrm>
            <a:off x="1669533" y="435001"/>
            <a:ext cx="109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PNG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E09B809-6F01-4F0A-A966-52BDB0F2C0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93" y="804333"/>
            <a:ext cx="3934480" cy="393448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3F3FDF7D-09DC-475E-B958-A839F4138E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060" y="804333"/>
            <a:ext cx="3934480" cy="393448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6972C905-0D5B-4FF3-A7A0-A23ACD3BEDF3}"/>
              </a:ext>
            </a:extLst>
          </p:cNvPr>
          <p:cNvSpPr txBox="1"/>
          <p:nvPr/>
        </p:nvSpPr>
        <p:spPr>
          <a:xfrm>
            <a:off x="6018200" y="435001"/>
            <a:ext cx="109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OVERLAY</a:t>
            </a:r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2540FE4-93C0-4681-9DF3-801989ABEC07}"/>
              </a:ext>
            </a:extLst>
          </p:cNvPr>
          <p:cNvSpPr txBox="1"/>
          <p:nvPr/>
        </p:nvSpPr>
        <p:spPr>
          <a:xfrm>
            <a:off x="248393" y="4800600"/>
            <a:ext cx="363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PNG</a:t>
            </a:r>
            <a:r>
              <a:rPr lang="zh-TW" altLang="en-US" dirty="0"/>
              <a:t>是由</a:t>
            </a:r>
            <a:r>
              <a:rPr lang="en-US" altLang="zh-TW" dirty="0"/>
              <a:t>DICOM</a:t>
            </a:r>
            <a:r>
              <a:rPr lang="zh-TW" altLang="en-US" dirty="0"/>
              <a:t>轉檔過來的圖片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71820FE-E128-4B20-B684-61A38003F847}"/>
              </a:ext>
            </a:extLst>
          </p:cNvPr>
          <p:cNvSpPr txBox="1"/>
          <p:nvPr/>
        </p:nvSpPr>
        <p:spPr>
          <a:xfrm>
            <a:off x="4978400" y="4755065"/>
            <a:ext cx="40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OVERLAY</a:t>
            </a:r>
            <a:r>
              <a:rPr lang="zh-TW" altLang="en-US" dirty="0"/>
              <a:t>由醫師標註的病症區域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E26D722-8B55-4BAD-910E-B98F2920518F}"/>
              </a:ext>
            </a:extLst>
          </p:cNvPr>
          <p:cNvSpPr txBox="1"/>
          <p:nvPr/>
        </p:nvSpPr>
        <p:spPr>
          <a:xfrm>
            <a:off x="1206500" y="5757334"/>
            <a:ext cx="78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訓練圖片是灰階的，但</a:t>
            </a:r>
            <a:r>
              <a:rPr lang="en-US" altLang="zh-TW" dirty="0"/>
              <a:t>OVERLAY</a:t>
            </a:r>
            <a:r>
              <a:rPr lang="zh-TW" altLang="en-US" dirty="0"/>
              <a:t>是彩色的，需要先轉成二質化</a:t>
            </a:r>
            <a:r>
              <a:rPr lang="en-US" altLang="zh-TW" dirty="0"/>
              <a:t>(</a:t>
            </a:r>
            <a:r>
              <a:rPr lang="zh-TW" altLang="en-US" dirty="0"/>
              <a:t>灰階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98950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0999005E-0880-4F19-8D96-C0841594FA44}"/>
              </a:ext>
            </a:extLst>
          </p:cNvPr>
          <p:cNvSpPr txBox="1"/>
          <p:nvPr/>
        </p:nvSpPr>
        <p:spPr>
          <a:xfrm>
            <a:off x="93133" y="176367"/>
            <a:ext cx="1490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使用</a:t>
            </a:r>
            <a:r>
              <a:rPr lang="en-US" altLang="zh-TW" dirty="0"/>
              <a:t>maskseg.py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AD2CC1A-AEF7-4E48-8BDE-EAF5F9992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33" y="1328100"/>
            <a:ext cx="5163271" cy="1543265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5B9CA330-D129-4F7C-8067-F9859A887261}"/>
              </a:ext>
            </a:extLst>
          </p:cNvPr>
          <p:cNvSpPr txBox="1"/>
          <p:nvPr/>
        </p:nvSpPr>
        <p:spPr>
          <a:xfrm>
            <a:off x="93133" y="909098"/>
            <a:ext cx="5359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1.</a:t>
            </a:r>
            <a:r>
              <a:rPr lang="zh-TW" altLang="en-US" dirty="0"/>
              <a:t>創立資料夾，用來存放二質化</a:t>
            </a:r>
            <a:r>
              <a:rPr lang="en-US" altLang="zh-TW" dirty="0"/>
              <a:t>OVERLAY</a:t>
            </a:r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ACC5BF21-AD6C-440B-AE38-C0CD13FD0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33" y="3240373"/>
            <a:ext cx="6400952" cy="2564596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24C70EB3-BE1E-4CF1-A40A-F06692E81822}"/>
              </a:ext>
            </a:extLst>
          </p:cNvPr>
          <p:cNvSpPr txBox="1"/>
          <p:nvPr/>
        </p:nvSpPr>
        <p:spPr>
          <a:xfrm>
            <a:off x="93132" y="2821938"/>
            <a:ext cx="5359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2.</a:t>
            </a:r>
            <a:r>
              <a:rPr lang="zh-TW" altLang="en-US" dirty="0"/>
              <a:t>更改為你的路徑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6D0E9D8A-66AD-4C0C-8B3A-D9317C8D17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9334" y="918545"/>
            <a:ext cx="2321828" cy="2321828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04AB574A-E23B-4587-ACD1-12CBED82B1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209" y="909098"/>
            <a:ext cx="2321828" cy="2321828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B8FB192E-D2E2-4BE6-AEF3-287F50672A42}"/>
              </a:ext>
            </a:extLst>
          </p:cNvPr>
          <p:cNvSpPr txBox="1"/>
          <p:nvPr/>
        </p:nvSpPr>
        <p:spPr>
          <a:xfrm>
            <a:off x="6660209" y="453366"/>
            <a:ext cx="5359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3.</a:t>
            </a:r>
            <a:r>
              <a:rPr lang="zh-TW" altLang="en-US" dirty="0"/>
              <a:t>轉完會變這樣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FC3B0703-88C5-452D-9487-AC1F77D29DD9}"/>
              </a:ext>
            </a:extLst>
          </p:cNvPr>
          <p:cNvSpPr txBox="1"/>
          <p:nvPr/>
        </p:nvSpPr>
        <p:spPr>
          <a:xfrm>
            <a:off x="4792285" y="6307667"/>
            <a:ext cx="340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另一個缺血也是同樣做法</a:t>
            </a:r>
          </a:p>
        </p:txBody>
      </p:sp>
    </p:spTree>
    <p:extLst>
      <p:ext uri="{BB962C8B-B14F-4D97-AF65-F5344CB8AC3E}">
        <p14:creationId xmlns:p14="http://schemas.microsoft.com/office/powerpoint/2010/main" val="4057278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CE53EA1-72D9-45E1-AE50-621D110EDCB3}"/>
              </a:ext>
            </a:extLst>
          </p:cNvPr>
          <p:cNvSpPr txBox="1"/>
          <p:nvPr/>
        </p:nvSpPr>
        <p:spPr>
          <a:xfrm>
            <a:off x="93132" y="160867"/>
            <a:ext cx="33358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使用</a:t>
            </a:r>
            <a:endParaRPr lang="en-US" altLang="zh-TW" dirty="0"/>
          </a:p>
          <a:p>
            <a:r>
              <a:rPr lang="en-US" altLang="zh-TW" dirty="0"/>
              <a:t>slipdataset.py</a:t>
            </a:r>
          </a:p>
          <a:p>
            <a:r>
              <a:rPr lang="zh-TW" altLang="en-US" dirty="0"/>
              <a:t>來分訓練集跟測試集</a:t>
            </a:r>
            <a:endParaRPr lang="en-US" altLang="zh-TW" dirty="0"/>
          </a:p>
          <a:p>
            <a:r>
              <a:rPr lang="zh-TW" altLang="en-US" dirty="0"/>
              <a:t>訓練集</a:t>
            </a:r>
            <a:r>
              <a:rPr lang="en-US" altLang="zh-TW" dirty="0"/>
              <a:t>80%</a:t>
            </a:r>
            <a:r>
              <a:rPr lang="zh-TW" altLang="en-US" dirty="0"/>
              <a:t>測試集</a:t>
            </a:r>
            <a:r>
              <a:rPr lang="en-US" altLang="zh-TW" dirty="0"/>
              <a:t>20%</a:t>
            </a:r>
          </a:p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CA0177A-3DF3-489F-96F7-8A7294C247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54"/>
          <a:stretch/>
        </p:blipFill>
        <p:spPr>
          <a:xfrm>
            <a:off x="220132" y="1788399"/>
            <a:ext cx="2734057" cy="65193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6E99D0A9-B636-43C4-8775-F0ABD36F7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132" y="2590538"/>
            <a:ext cx="8897592" cy="2629267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D7DEF429-D208-4BE5-A12B-AC6AA1C3D2CC}"/>
              </a:ext>
            </a:extLst>
          </p:cNvPr>
          <p:cNvSpPr txBox="1"/>
          <p:nvPr/>
        </p:nvSpPr>
        <p:spPr>
          <a:xfrm>
            <a:off x="846666" y="1414728"/>
            <a:ext cx="1278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Bleeding</a:t>
            </a:r>
            <a:endParaRPr lang="zh-TW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33C879E5-9199-457B-9DBB-4D7B1DC225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054" y="2097385"/>
            <a:ext cx="2686425" cy="342948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08BF342A-0677-4BE3-A491-CDE5004D5C52}"/>
              </a:ext>
            </a:extLst>
          </p:cNvPr>
          <p:cNvSpPr txBox="1"/>
          <p:nvPr/>
        </p:nvSpPr>
        <p:spPr>
          <a:xfrm>
            <a:off x="4351866" y="1414728"/>
            <a:ext cx="1278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0" dirty="0"/>
              <a:t>Ischemia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28CC1A5-F638-496C-BAA9-5FD5378B5950}"/>
              </a:ext>
            </a:extLst>
          </p:cNvPr>
          <p:cNvSpPr txBox="1"/>
          <p:nvPr/>
        </p:nvSpPr>
        <p:spPr>
          <a:xfrm>
            <a:off x="220132" y="5443272"/>
            <a:ext cx="4670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Train</a:t>
            </a:r>
            <a:r>
              <a:rPr lang="zh-TW" altLang="en-US" dirty="0"/>
              <a:t>總共有</a:t>
            </a:r>
            <a:r>
              <a:rPr lang="en-US" altLang="zh-TW" dirty="0"/>
              <a:t>1778</a:t>
            </a:r>
            <a:r>
              <a:rPr lang="zh-TW" altLang="en-US" dirty="0"/>
              <a:t>，</a:t>
            </a:r>
            <a:r>
              <a:rPr lang="en-US" altLang="zh-TW" dirty="0"/>
              <a:t>test</a:t>
            </a:r>
            <a:r>
              <a:rPr lang="zh-TW" altLang="en-US" dirty="0"/>
              <a:t>總共有</a:t>
            </a:r>
            <a:r>
              <a:rPr lang="en-US" altLang="zh-TW" dirty="0"/>
              <a:t>445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5496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F565764E-203C-49F5-96BF-F356404D74CB}"/>
              </a:ext>
            </a:extLst>
          </p:cNvPr>
          <p:cNvSpPr txBox="1"/>
          <p:nvPr/>
        </p:nvSpPr>
        <p:spPr>
          <a:xfrm>
            <a:off x="237067" y="279400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模型訓練</a:t>
            </a:r>
            <a:endParaRPr lang="en-US" altLang="zh-TW" dirty="0"/>
          </a:p>
          <a:p>
            <a:r>
              <a:rPr lang="en-US" altLang="zh-TW" dirty="0"/>
              <a:t>train.py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E1C493B-95D2-415B-98AE-A9B37918D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680" y="1067795"/>
            <a:ext cx="7020905" cy="895475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85170560-DAD8-4C16-AB8A-15BA5BE26A69}"/>
              </a:ext>
            </a:extLst>
          </p:cNvPr>
          <p:cNvSpPr txBox="1"/>
          <p:nvPr/>
        </p:nvSpPr>
        <p:spPr>
          <a:xfrm>
            <a:off x="392680" y="2105334"/>
            <a:ext cx="2929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改成</a:t>
            </a:r>
            <a:r>
              <a:rPr lang="en-US" altLang="zh-TW" dirty="0"/>
              <a:t>train</a:t>
            </a:r>
            <a:r>
              <a:rPr lang="zh-TW" altLang="en-US" dirty="0"/>
              <a:t>跟</a:t>
            </a:r>
            <a:r>
              <a:rPr lang="en-US" altLang="zh-TW" dirty="0"/>
              <a:t>test</a:t>
            </a:r>
            <a:r>
              <a:rPr lang="zh-TW" altLang="en-US" dirty="0"/>
              <a:t>路徑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51202BDA-86F9-4F67-8AB7-9F7266160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680" y="3656404"/>
            <a:ext cx="10031225" cy="828791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0681DDD0-0B63-45C2-8588-5C584E4278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680" y="2666043"/>
            <a:ext cx="10964805" cy="285790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A48AFA7B-FFCB-4813-AC4D-05FE435DA954}"/>
              </a:ext>
            </a:extLst>
          </p:cNvPr>
          <p:cNvSpPr txBox="1"/>
          <p:nvPr/>
        </p:nvSpPr>
        <p:spPr>
          <a:xfrm>
            <a:off x="299546" y="3088067"/>
            <a:ext cx="5032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這邊可以設定一些模型的參數可能可以提升效能</a:t>
            </a: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846CE7FE-58EB-4CA8-BF81-5301AA6ED3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680" y="4772902"/>
            <a:ext cx="7868748" cy="1257475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F8543608-4012-4885-98E0-005E4BC341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0221" y="4908272"/>
            <a:ext cx="3927368" cy="1122105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258BE1C8-4A26-4B8A-B7D9-76D6B8C54A88}"/>
              </a:ext>
            </a:extLst>
          </p:cNvPr>
          <p:cNvSpPr txBox="1"/>
          <p:nvPr/>
        </p:nvSpPr>
        <p:spPr>
          <a:xfrm>
            <a:off x="299545" y="6133418"/>
            <a:ext cx="3154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訓練結束 會有一個權重檔</a:t>
            </a:r>
            <a:r>
              <a:rPr lang="en-US" altLang="zh-TW" dirty="0"/>
              <a:t>.</a:t>
            </a:r>
            <a:r>
              <a:rPr lang="en-US" altLang="zh-TW" dirty="0" err="1"/>
              <a:t>pth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71817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F80B0781-A361-43CF-B9B5-9217E68FE1B7}"/>
              </a:ext>
            </a:extLst>
          </p:cNvPr>
          <p:cNvSpPr txBox="1"/>
          <p:nvPr/>
        </p:nvSpPr>
        <p:spPr>
          <a:xfrm>
            <a:off x="237067" y="279400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模型訓練</a:t>
            </a:r>
            <a:endParaRPr lang="en-US" altLang="zh-TW" dirty="0"/>
          </a:p>
          <a:p>
            <a:r>
              <a:rPr lang="en-US" altLang="zh-TW" dirty="0"/>
              <a:t>test.py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F57B5E0-38B4-425D-9E1C-0EF23116A75F}"/>
              </a:ext>
            </a:extLst>
          </p:cNvPr>
          <p:cNvSpPr txBox="1"/>
          <p:nvPr/>
        </p:nvSpPr>
        <p:spPr>
          <a:xfrm>
            <a:off x="237067" y="925731"/>
            <a:ext cx="482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我們要使用</a:t>
            </a:r>
            <a:r>
              <a:rPr lang="en-US" altLang="zh-TW" dirty="0" err="1"/>
              <a:t>External_Test</a:t>
            </a:r>
            <a:r>
              <a:rPr lang="en-US" altLang="zh-TW" dirty="0"/>
              <a:t> </a:t>
            </a:r>
            <a:r>
              <a:rPr lang="zh-TW" altLang="en-US" dirty="0"/>
              <a:t>的資料夾做測試</a:t>
            </a:r>
            <a:endParaRPr lang="en-US" altLang="zh-TW" dirty="0"/>
          </a:p>
          <a:p>
            <a:endParaRPr lang="en-US" altLang="zh-TW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4373507-C38B-433E-BF8C-A896A94A4654}"/>
              </a:ext>
            </a:extLst>
          </p:cNvPr>
          <p:cNvSpPr txBox="1"/>
          <p:nvPr/>
        </p:nvSpPr>
        <p:spPr>
          <a:xfrm>
            <a:off x="177799" y="1428129"/>
            <a:ext cx="6070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1.</a:t>
            </a:r>
            <a:r>
              <a:rPr lang="zh-TW" altLang="en-US" dirty="0"/>
              <a:t>全部有</a:t>
            </a:r>
            <a:r>
              <a:rPr lang="en-US" altLang="zh-TW" dirty="0"/>
              <a:t>200</a:t>
            </a:r>
            <a:r>
              <a:rPr lang="zh-TW" altLang="en-US" dirty="0"/>
              <a:t>張影像，先把正常的刪掉，留下有病的</a:t>
            </a:r>
            <a:r>
              <a:rPr lang="en-US" altLang="zh-TW" dirty="0"/>
              <a:t>63</a:t>
            </a:r>
            <a:r>
              <a:rPr lang="zh-TW" altLang="en-US" dirty="0"/>
              <a:t>張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BE2D00D-AA98-436F-ADBE-3BDC743FD5EC}"/>
              </a:ext>
            </a:extLst>
          </p:cNvPr>
          <p:cNvSpPr txBox="1"/>
          <p:nvPr/>
        </p:nvSpPr>
        <p:spPr>
          <a:xfrm>
            <a:off x="177799" y="2033727"/>
            <a:ext cx="6070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2.</a:t>
            </a:r>
            <a:r>
              <a:rPr lang="zh-TW" altLang="en-US" dirty="0"/>
              <a:t>把</a:t>
            </a:r>
            <a:r>
              <a:rPr lang="en-US" altLang="zh-TW" dirty="0"/>
              <a:t>mask</a:t>
            </a:r>
            <a:r>
              <a:rPr lang="zh-TW" altLang="en-US" dirty="0"/>
              <a:t>二質化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F484522C-BE85-4369-BD29-8F0B42EB2733}"/>
              </a:ext>
            </a:extLst>
          </p:cNvPr>
          <p:cNvSpPr txBox="1"/>
          <p:nvPr/>
        </p:nvSpPr>
        <p:spPr>
          <a:xfrm>
            <a:off x="177799" y="2541558"/>
            <a:ext cx="6070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3.</a:t>
            </a:r>
            <a:r>
              <a:rPr lang="zh-TW" altLang="en-US" dirty="0"/>
              <a:t>開啟</a:t>
            </a:r>
            <a:r>
              <a:rPr lang="en-US" altLang="zh-TW" dirty="0"/>
              <a:t>test.py</a:t>
            </a:r>
            <a:endParaRPr lang="zh-TW" altLang="en-US" dirty="0"/>
          </a:p>
          <a:p>
            <a:endParaRPr lang="en-US" altLang="zh-TW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631168FD-286B-4285-97B5-FA2DB66166CA}"/>
              </a:ext>
            </a:extLst>
          </p:cNvPr>
          <p:cNvSpPr txBox="1"/>
          <p:nvPr/>
        </p:nvSpPr>
        <p:spPr>
          <a:xfrm>
            <a:off x="177799" y="2988902"/>
            <a:ext cx="6070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4.</a:t>
            </a:r>
            <a:r>
              <a:rPr lang="zh-TW" altLang="en-US" dirty="0"/>
              <a:t>更改路徑</a:t>
            </a:r>
          </a:p>
          <a:p>
            <a:endParaRPr lang="en-US" altLang="zh-TW" dirty="0"/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38772B89-0E31-4450-8663-21B35C1D3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99" y="3429000"/>
            <a:ext cx="8373644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865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CA8C131D-80CA-4DAD-AD43-0544522E5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08" y="3581400"/>
            <a:ext cx="8686849" cy="3151052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2D443643-CFCF-4D4A-874B-A35824A280AE}"/>
              </a:ext>
            </a:extLst>
          </p:cNvPr>
          <p:cNvSpPr txBox="1"/>
          <p:nvPr/>
        </p:nvSpPr>
        <p:spPr>
          <a:xfrm>
            <a:off x="347108" y="3276600"/>
            <a:ext cx="1634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6.</a:t>
            </a:r>
            <a:r>
              <a:rPr lang="zh-TW" altLang="en-US" dirty="0"/>
              <a:t>分割結果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92E7E6B-F32D-417E-B4D9-58E9EB11C847}"/>
              </a:ext>
            </a:extLst>
          </p:cNvPr>
          <p:cNvSpPr txBox="1"/>
          <p:nvPr/>
        </p:nvSpPr>
        <p:spPr>
          <a:xfrm>
            <a:off x="347108" y="340561"/>
            <a:ext cx="2548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5.</a:t>
            </a:r>
            <a:r>
              <a:rPr lang="zh-TW" altLang="en-US" dirty="0"/>
              <a:t>分割預測完畢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F318F9C-6165-41C9-92C6-0FA377714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108" y="873882"/>
            <a:ext cx="4163006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534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6D0857D9-A1EB-4403-A4FC-1B1C61323257}"/>
              </a:ext>
            </a:extLst>
          </p:cNvPr>
          <p:cNvSpPr txBox="1"/>
          <p:nvPr/>
        </p:nvSpPr>
        <p:spPr>
          <a:xfrm>
            <a:off x="123824" y="0"/>
            <a:ext cx="2390775" cy="74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模型優化</a:t>
            </a:r>
            <a:endPara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165FA00-FCE7-485D-9945-93D1A20EB7F2}"/>
              </a:ext>
            </a:extLst>
          </p:cNvPr>
          <p:cNvSpPr txBox="1"/>
          <p:nvPr/>
        </p:nvSpPr>
        <p:spPr>
          <a:xfrm>
            <a:off x="123824" y="866775"/>
            <a:ext cx="11763376" cy="3649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可以改改看</a:t>
            </a:r>
            <a:r>
              <a:rPr lang="en-US" altLang="zh-TW" spc="15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lr</a:t>
            </a:r>
            <a:r>
              <a:rPr lang="zh-TW" altLang="en-US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pc="15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batch_size</a:t>
            </a:r>
            <a:r>
              <a:rPr lang="zh-TW" altLang="en-US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pc="15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image_size</a:t>
            </a:r>
            <a:r>
              <a:rPr lang="zh-TW" altLang="en-US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epochs</a:t>
            </a:r>
            <a:r>
              <a:rPr lang="zh-TW" altLang="en-US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之類的參數</a:t>
            </a:r>
            <a:r>
              <a:rPr lang="en-US" altLang="zh-TW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簡易</a:t>
            </a:r>
            <a:r>
              <a:rPr lang="en-US" altLang="zh-TW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zh-TW" spc="1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調整原始影像的亮度使用</a:t>
            </a:r>
            <a:r>
              <a:rPr lang="en-US" altLang="zh-TW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CLAHE</a:t>
            </a:r>
            <a:r>
              <a:rPr lang="zh-TW" altLang="en-US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或找找看其他影像處理方法</a:t>
            </a:r>
            <a:r>
              <a:rPr lang="en-US" altLang="zh-TW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中等</a:t>
            </a:r>
            <a:r>
              <a:rPr lang="en-US" altLang="zh-TW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zh-TW" spc="1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lang="zh-TW" altLang="en-US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找其他醫學影像分割模型看看，比如</a:t>
            </a:r>
            <a:r>
              <a:rPr lang="en-US" altLang="zh-TW" spc="15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unet</a:t>
            </a:r>
            <a:r>
              <a:rPr lang="en-US" altLang="zh-TW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++</a:t>
            </a:r>
            <a:r>
              <a:rPr lang="zh-TW" altLang="en-US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、或著改改看</a:t>
            </a:r>
            <a:r>
              <a:rPr lang="en-US" altLang="zh-TW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segment\unet_42-master\model\unet_parts.py</a:t>
            </a:r>
            <a:r>
              <a:rPr lang="zh-TW" altLang="en-US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，中的模型，加深看看</a:t>
            </a:r>
            <a:r>
              <a:rPr lang="en-US" altLang="zh-TW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進階</a:t>
            </a:r>
            <a:r>
              <a:rPr lang="en-US" altLang="zh-TW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zh-TW" spc="1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200" b="1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主要是讓</a:t>
            </a:r>
            <a:r>
              <a:rPr lang="en-US" altLang="zh-TW" sz="3200" b="1" spc="15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iou</a:t>
            </a:r>
            <a:r>
              <a:rPr lang="zh-TW" altLang="en-US" sz="3200" b="1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跟</a:t>
            </a:r>
            <a:r>
              <a:rPr lang="en-US" altLang="zh-TW" sz="3200" b="1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dice</a:t>
            </a:r>
            <a:r>
              <a:rPr lang="zh-TW" altLang="en-US" sz="3200" b="1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的性能趴數盡可能提高</a:t>
            </a:r>
            <a:r>
              <a:rPr lang="en-US" altLang="zh-TW" sz="3200" b="1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!!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141368F-CDAD-4A0C-A082-BA074A943957}"/>
              </a:ext>
            </a:extLst>
          </p:cNvPr>
          <p:cNvSpPr txBox="1"/>
          <p:nvPr/>
        </p:nvSpPr>
        <p:spPr>
          <a:xfrm>
            <a:off x="1202267" y="5991225"/>
            <a:ext cx="9389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資料夾的部分，我已經先弄好了，但是各位可以照著教學步驟來做，比較方便後續修改</a:t>
            </a:r>
          </a:p>
        </p:txBody>
      </p:sp>
    </p:spTree>
    <p:extLst>
      <p:ext uri="{BB962C8B-B14F-4D97-AF65-F5344CB8AC3E}">
        <p14:creationId xmlns:p14="http://schemas.microsoft.com/office/powerpoint/2010/main" val="3418150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2BDB04F-1291-4037-9573-648CADEA8254}"/>
              </a:ext>
            </a:extLst>
          </p:cNvPr>
          <p:cNvSpPr txBox="1"/>
          <p:nvPr/>
        </p:nvSpPr>
        <p:spPr>
          <a:xfrm>
            <a:off x="95251" y="133350"/>
            <a:ext cx="2581274" cy="771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400" b="1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操作順序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B02BE66-DB39-47DE-B8F0-5D38D7486554}"/>
              </a:ext>
            </a:extLst>
          </p:cNvPr>
          <p:cNvSpPr txBox="1"/>
          <p:nvPr/>
        </p:nvSpPr>
        <p:spPr>
          <a:xfrm>
            <a:off x="171451" y="1026558"/>
            <a:ext cx="99059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建置環境</a:t>
            </a:r>
            <a:endParaRPr lang="en-US" altLang="zh-TW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模型建置</a:t>
            </a:r>
            <a:endParaRPr lang="en-US" altLang="zh-TW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endParaRPr lang="en-US" altLang="zh-TW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199284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E19B17C2-F73C-4B17-89B3-C1CEAD1B5DD8}"/>
              </a:ext>
            </a:extLst>
          </p:cNvPr>
          <p:cNvSpPr txBox="1"/>
          <p:nvPr/>
        </p:nvSpPr>
        <p:spPr>
          <a:xfrm>
            <a:off x="190499" y="162065"/>
            <a:ext cx="2390775" cy="74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建置環境</a:t>
            </a:r>
            <a:endPara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5358E4E-600F-488A-B19D-B78688959866}"/>
              </a:ext>
            </a:extLst>
          </p:cNvPr>
          <p:cNvSpPr txBox="1"/>
          <p:nvPr/>
        </p:nvSpPr>
        <p:spPr>
          <a:xfrm>
            <a:off x="190499" y="971833"/>
            <a:ext cx="8982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下載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anaconda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連結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en-US" altLang="zh-TW" dirty="0">
                <a:hlinkClick r:id="rId2"/>
              </a:rPr>
              <a:t>https://www.anaconda.com/download</a:t>
            </a:r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90957CB3-52BD-4A12-9A62-40BDDEED0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61" y="1532859"/>
            <a:ext cx="8743950" cy="4562891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9E6E4BED-BE06-4B6E-A7E4-084B1ACCB63E}"/>
              </a:ext>
            </a:extLst>
          </p:cNvPr>
          <p:cNvSpPr/>
          <p:nvPr/>
        </p:nvSpPr>
        <p:spPr>
          <a:xfrm>
            <a:off x="6096000" y="4667250"/>
            <a:ext cx="952500" cy="1619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2627631-947D-4152-A98D-7A174C04A9EC}"/>
              </a:ext>
            </a:extLst>
          </p:cNvPr>
          <p:cNvSpPr txBox="1"/>
          <p:nvPr/>
        </p:nvSpPr>
        <p:spPr>
          <a:xfrm>
            <a:off x="9705975" y="4038600"/>
            <a:ext cx="1628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可跳過註冊</a:t>
            </a: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AC56B05E-BFD9-480A-970A-F38521A18DF9}"/>
              </a:ext>
            </a:extLst>
          </p:cNvPr>
          <p:cNvCxnSpPr>
            <a:stCxn id="9" idx="3"/>
            <a:endCxn id="10" idx="1"/>
          </p:cNvCxnSpPr>
          <p:nvPr/>
        </p:nvCxnSpPr>
        <p:spPr>
          <a:xfrm flipV="1">
            <a:off x="7048500" y="4223266"/>
            <a:ext cx="2657475" cy="52494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4573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8E075FC-3405-4C20-9B92-6DCB50642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32" y="256916"/>
            <a:ext cx="9727443" cy="4916962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FE51716-5205-40A3-91F6-B1D60FF7EB84}"/>
              </a:ext>
            </a:extLst>
          </p:cNvPr>
          <p:cNvSpPr/>
          <p:nvPr/>
        </p:nvSpPr>
        <p:spPr>
          <a:xfrm>
            <a:off x="627440" y="1181100"/>
            <a:ext cx="9496425" cy="406717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E329D0F-3D48-4AC1-96D2-F19F9DA9B028}"/>
              </a:ext>
            </a:extLst>
          </p:cNvPr>
          <p:cNvSpPr txBox="1"/>
          <p:nvPr/>
        </p:nvSpPr>
        <p:spPr>
          <a:xfrm>
            <a:off x="2486025" y="6098062"/>
            <a:ext cx="598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選擇自己的作業系統，此篇以</a:t>
            </a:r>
            <a:r>
              <a:rPr lang="en-US" altLang="zh-TW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windows</a:t>
            </a:r>
            <a:r>
              <a:rPr lang="zh-TW" altLang="en-US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為例</a:t>
            </a: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8A4BDCBD-9DB6-4A30-ADEF-BA6CF87F4002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5375653" y="5248275"/>
            <a:ext cx="101222" cy="84978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6972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F0ED0A39-19D3-42F4-BA08-B76B4071750B}"/>
              </a:ext>
            </a:extLst>
          </p:cNvPr>
          <p:cNvSpPr txBox="1"/>
          <p:nvPr/>
        </p:nvSpPr>
        <p:spPr>
          <a:xfrm>
            <a:off x="114299" y="133633"/>
            <a:ext cx="11258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下載具有</a:t>
            </a:r>
            <a:r>
              <a:rPr lang="en-US" altLang="zh-TW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TW" altLang="en-US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語法的</a:t>
            </a:r>
            <a:r>
              <a:rPr lang="en-US" altLang="zh-TW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IDE</a:t>
            </a:r>
            <a:r>
              <a:rPr lang="zh-TW" altLang="en-US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，舉凡</a:t>
            </a:r>
            <a:r>
              <a:rPr lang="en-US" altLang="zh-TW" spc="15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vscode</a:t>
            </a:r>
            <a:r>
              <a:rPr lang="zh-TW" altLang="en-US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pc="15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spyder</a:t>
            </a:r>
            <a:r>
              <a:rPr lang="zh-TW" altLang="en-US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pc="15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pycharm</a:t>
            </a:r>
            <a:r>
              <a:rPr lang="zh-TW" altLang="en-US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等</a:t>
            </a:r>
            <a:r>
              <a:rPr lang="en-US" altLang="zh-TW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…..</a:t>
            </a:r>
            <a:r>
              <a:rPr lang="zh-TW" altLang="en-US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此篇以</a:t>
            </a:r>
            <a:r>
              <a:rPr lang="en-US" altLang="zh-TW" spc="15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vscode</a:t>
            </a:r>
            <a:r>
              <a:rPr lang="zh-TW" altLang="en-US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為例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3F2F23A-163F-4843-BE18-1D7113F733F2}"/>
              </a:ext>
            </a:extLst>
          </p:cNvPr>
          <p:cNvSpPr txBox="1"/>
          <p:nvPr/>
        </p:nvSpPr>
        <p:spPr>
          <a:xfrm>
            <a:off x="114299" y="722041"/>
            <a:ext cx="8067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Vscode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下載連結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2"/>
              </a:rPr>
              <a:t>https://code.visualstudio.com/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07FBCB1-BAC2-4126-B26D-CB8F1F116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3" y="1210954"/>
            <a:ext cx="11172825" cy="519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6756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BE8C60F0-92CF-46FF-AE4E-CDF6EAFBD1B8}"/>
              </a:ext>
            </a:extLst>
          </p:cNvPr>
          <p:cNvSpPr txBox="1"/>
          <p:nvPr/>
        </p:nvSpPr>
        <p:spPr>
          <a:xfrm>
            <a:off x="114300" y="105058"/>
            <a:ext cx="2905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lang="zh-TW" altLang="en-US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建置環境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757FD09-22A0-4CAE-BB97-2EF5DE7DE62F}"/>
              </a:ext>
            </a:extLst>
          </p:cNvPr>
          <p:cNvSpPr txBox="1"/>
          <p:nvPr/>
        </p:nvSpPr>
        <p:spPr>
          <a:xfrm>
            <a:off x="114300" y="541066"/>
            <a:ext cx="8067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當下載完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anaconda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時，你會有一個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anaconda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prompt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84563FC-2744-4568-826E-D0069DB24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4" y="1240907"/>
            <a:ext cx="5187411" cy="520751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BBFADCD4-07C9-4C38-930B-45C7676B0300}"/>
              </a:ext>
            </a:extLst>
          </p:cNvPr>
          <p:cNvSpPr/>
          <p:nvPr/>
        </p:nvSpPr>
        <p:spPr>
          <a:xfrm>
            <a:off x="723900" y="6057900"/>
            <a:ext cx="1400175" cy="3905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48DF086-4B77-4B0E-A0E4-DD2878346D8E}"/>
              </a:ext>
            </a:extLst>
          </p:cNvPr>
          <p:cNvSpPr txBox="1"/>
          <p:nvPr/>
        </p:nvSpPr>
        <p:spPr>
          <a:xfrm>
            <a:off x="7315200" y="2514600"/>
            <a:ext cx="2676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在電腦的搜尋可以找到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D627022C-1038-496D-A029-0E843748EEFB}"/>
              </a:ext>
            </a:extLst>
          </p:cNvPr>
          <p:cNvCxnSpPr>
            <a:stCxn id="8" idx="3"/>
            <a:endCxn id="9" idx="1"/>
          </p:cNvCxnSpPr>
          <p:nvPr/>
        </p:nvCxnSpPr>
        <p:spPr>
          <a:xfrm flipV="1">
            <a:off x="2124075" y="2699266"/>
            <a:ext cx="5191125" cy="35538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9594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A70315B5-85E1-4F20-B24B-A4AF9EC2E8B6}"/>
              </a:ext>
            </a:extLst>
          </p:cNvPr>
          <p:cNvSpPr txBox="1"/>
          <p:nvPr/>
        </p:nvSpPr>
        <p:spPr>
          <a:xfrm>
            <a:off x="133350" y="179116"/>
            <a:ext cx="8067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接著把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anaconda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prompt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打開，開始建置環境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66C056C-736C-42E2-8EF4-90497C63D6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92" b="47341"/>
          <a:stretch/>
        </p:blipFill>
        <p:spPr>
          <a:xfrm>
            <a:off x="247650" y="548448"/>
            <a:ext cx="9182100" cy="2500698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27C1212E-13EF-405B-BBC8-3DA68160F804}"/>
              </a:ext>
            </a:extLst>
          </p:cNvPr>
          <p:cNvSpPr txBox="1"/>
          <p:nvPr/>
        </p:nvSpPr>
        <p:spPr>
          <a:xfrm>
            <a:off x="247650" y="4086224"/>
            <a:ext cx="117252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輸入指令，</a:t>
            </a:r>
            <a:r>
              <a:rPr lang="en-US" altLang="zh-TW" sz="2000" spc="15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conda</a:t>
            </a:r>
            <a:r>
              <a:rPr lang="en-US" altLang="zh-TW" sz="20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create –n test(test</a:t>
            </a:r>
            <a:r>
              <a:rPr lang="zh-TW" altLang="en-US" sz="20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是你的環境名稱，可以自行更改，就是取你的遊戲</a:t>
            </a:r>
            <a:r>
              <a:rPr lang="en-US" altLang="zh-TW" sz="20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ID</a:t>
            </a:r>
            <a:r>
              <a:rPr lang="zh-TW" altLang="en-US" sz="20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，但竟量不要取太長</a:t>
            </a:r>
            <a:r>
              <a:rPr lang="en-US" altLang="zh-TW" sz="20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0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20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python==3.8.0(</a:t>
            </a:r>
            <a:r>
              <a:rPr lang="zh-TW" altLang="en-US" sz="20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表示你要下載的</a:t>
            </a:r>
            <a:r>
              <a:rPr lang="en-US" altLang="zh-TW" sz="20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TW" altLang="en-US" sz="20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版本，所以也是可以更改的</a:t>
            </a:r>
            <a:r>
              <a:rPr lang="en-US" altLang="zh-TW" sz="20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0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。最後案</a:t>
            </a:r>
            <a:r>
              <a:rPr lang="en-US" altLang="zh-TW" sz="20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enter</a:t>
            </a:r>
            <a:r>
              <a:rPr lang="zh-TW" altLang="en-US" sz="20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就會開始跑。</a:t>
            </a:r>
            <a:endParaRPr lang="en-US" altLang="zh-TW" sz="2000" spc="1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6DDADB7-8853-428E-8BD7-00DFEAE2969C}"/>
              </a:ext>
            </a:extLst>
          </p:cNvPr>
          <p:cNvSpPr/>
          <p:nvPr/>
        </p:nvSpPr>
        <p:spPr>
          <a:xfrm>
            <a:off x="247650" y="933450"/>
            <a:ext cx="4410075" cy="3905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F00A7BD0-C341-4699-8EE1-FF53D313E2F3}"/>
              </a:ext>
            </a:extLst>
          </p:cNvPr>
          <p:cNvCxnSpPr>
            <a:stCxn id="8" idx="2"/>
            <a:endCxn id="7" idx="0"/>
          </p:cNvCxnSpPr>
          <p:nvPr/>
        </p:nvCxnSpPr>
        <p:spPr>
          <a:xfrm>
            <a:off x="2452688" y="1323975"/>
            <a:ext cx="3657600" cy="276224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30649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B8B4276D-B542-4C6F-8A79-AD774DF33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38696"/>
            <a:ext cx="10874682" cy="5761219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2EA7503A-A4BC-44A7-9152-E145A183A18E}"/>
              </a:ext>
            </a:extLst>
          </p:cNvPr>
          <p:cNvSpPr txBox="1"/>
          <p:nvPr/>
        </p:nvSpPr>
        <p:spPr>
          <a:xfrm>
            <a:off x="133350" y="179116"/>
            <a:ext cx="8067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跑完之後，照著指令打，打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按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enter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561636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17D6BF6-CA96-4BA8-9F27-4F021BFED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66" y="792230"/>
            <a:ext cx="10999960" cy="5618738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80846BED-5702-4791-A76C-FC4AED6C5519}"/>
              </a:ext>
            </a:extLst>
          </p:cNvPr>
          <p:cNvSpPr txBox="1"/>
          <p:nvPr/>
        </p:nvSpPr>
        <p:spPr>
          <a:xfrm>
            <a:off x="133350" y="179116"/>
            <a:ext cx="8067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一樣，跑完之後，照著指令打，打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conda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activate test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，然後按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enter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D381E5-54C4-4AFC-A41E-CAE0F1298021}"/>
              </a:ext>
            </a:extLst>
          </p:cNvPr>
          <p:cNvSpPr/>
          <p:nvPr/>
        </p:nvSpPr>
        <p:spPr>
          <a:xfrm>
            <a:off x="257174" y="4543425"/>
            <a:ext cx="4238625" cy="18675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FECE7B0B-4438-4DF3-BEC6-52D2A8EC0FDF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2305050" y="548448"/>
            <a:ext cx="1862138" cy="399497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36733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42823F6C-ACBA-471F-92C5-2A1D4A3427B9}"/>
              </a:ext>
            </a:extLst>
          </p:cNvPr>
          <p:cNvSpPr txBox="1"/>
          <p:nvPr/>
        </p:nvSpPr>
        <p:spPr>
          <a:xfrm>
            <a:off x="109537" y="0"/>
            <a:ext cx="11972925" cy="12879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接著以下步驟，</a:t>
            </a:r>
            <a:r>
              <a:rPr lang="zh-TW" altLang="en-US" b="1" spc="15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需確認自己的電腦是否有</a:t>
            </a:r>
            <a:r>
              <a:rPr lang="en-US" altLang="zh-TW" b="1" spc="15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GPU</a:t>
            </a:r>
            <a:r>
              <a:rPr lang="zh-TW" altLang="en-US" b="1" spc="15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，若沒有就只能有</a:t>
            </a:r>
            <a:r>
              <a:rPr lang="en-US" altLang="zh-TW" b="1" spc="15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CPU</a:t>
            </a:r>
            <a:r>
              <a:rPr lang="zh-TW" altLang="en-US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，要有</a:t>
            </a:r>
            <a:r>
              <a:rPr lang="en-US" altLang="zh-TW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GPU</a:t>
            </a:r>
            <a:r>
              <a:rPr lang="zh-TW" altLang="en-US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才可以做以下步驟，否則將出現錯誤，</a:t>
            </a:r>
            <a:r>
              <a:rPr lang="en-US" altLang="zh-TW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GPU</a:t>
            </a:r>
            <a:r>
              <a:rPr lang="zh-TW" altLang="en-US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的速度是</a:t>
            </a:r>
            <a:r>
              <a:rPr lang="en-US" altLang="zh-TW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CPU</a:t>
            </a:r>
            <a:r>
              <a:rPr lang="zh-TW" altLang="en-US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的好幾倍，當然有</a:t>
            </a:r>
            <a:r>
              <a:rPr lang="en-US" altLang="zh-TW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GPU</a:t>
            </a:r>
            <a:r>
              <a:rPr lang="zh-TW" altLang="en-US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會比較好。因為並不知道各位的電腦配置狀況，所以有時候</a:t>
            </a:r>
            <a:r>
              <a:rPr lang="en-US" altLang="zh-TW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GPU</a:t>
            </a:r>
            <a:r>
              <a:rPr lang="zh-TW" altLang="en-US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太舊也會有錯誤，若有疑問，請通知助教或到</a:t>
            </a:r>
            <a:r>
              <a:rPr lang="en-US" altLang="zh-TW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EL405</a:t>
            </a:r>
            <a:r>
              <a:rPr lang="zh-TW" altLang="en-US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詢問。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A4E6ECC-B9EE-4315-8600-B739B43BB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537" y="1534090"/>
            <a:ext cx="9567863" cy="138499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9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Arial Unicode MS"/>
                <a:ea typeface="IBMPlexMono"/>
              </a:rPr>
              <a:t>conda install pytorch torchvision torchaudio pytorch-cuda=11.8 -c pytorch -c nvidia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B6056B8-C0B3-4A79-BE21-198B8A7F65CB}"/>
              </a:ext>
            </a:extLst>
          </p:cNvPr>
          <p:cNvSpPr txBox="1"/>
          <p:nvPr/>
        </p:nvSpPr>
        <p:spPr>
          <a:xfrm>
            <a:off x="2407444" y="1918762"/>
            <a:ext cx="4972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輸入以上指令</a:t>
            </a: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338C367A-DB7A-4C1D-8A11-3F3CB24D16EF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>
          <a:xfrm flipV="1">
            <a:off x="4893469" y="1672589"/>
            <a:ext cx="0" cy="2461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80F3BE3-A85E-4033-8416-72E26FA00898}"/>
              </a:ext>
            </a:extLst>
          </p:cNvPr>
          <p:cNvSpPr txBox="1"/>
          <p:nvPr/>
        </p:nvSpPr>
        <p:spPr>
          <a:xfrm>
            <a:off x="109537" y="2463901"/>
            <a:ext cx="8753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GPU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指令參考網址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en-US" altLang="zh-TW" dirty="0">
                <a:hlinkClick r:id="rId2"/>
              </a:rPr>
              <a:t>https://pytorch.org/get-started/locally/</a:t>
            </a:r>
            <a:endParaRPr lang="zh-TW" altLang="en-US" dirty="0"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D86D30C5-B2CE-4641-AD98-AEC7FEA7A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" y="2833233"/>
            <a:ext cx="7317593" cy="3747915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5E0A8E21-7D8C-4BB9-8780-0FB0678F089F}"/>
              </a:ext>
            </a:extLst>
          </p:cNvPr>
          <p:cNvSpPr/>
          <p:nvPr/>
        </p:nvSpPr>
        <p:spPr>
          <a:xfrm>
            <a:off x="109537" y="6353175"/>
            <a:ext cx="6310313" cy="2279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54764E89-E340-4A12-84B4-31DB7DEE264C}"/>
              </a:ext>
            </a:extLst>
          </p:cNvPr>
          <p:cNvSpPr txBox="1"/>
          <p:nvPr/>
        </p:nvSpPr>
        <p:spPr>
          <a:xfrm>
            <a:off x="8227230" y="3624545"/>
            <a:ext cx="3764745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Arial Unicode MS"/>
                <a:ea typeface="IBMPlexMono"/>
              </a:rPr>
              <a:t>conda install pytorch torchvision torchaudio pytorch-cuda=11.8 -c pytorch -c nvidia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TW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en-US" altLang="zh-TW" sz="1600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0" lang="zh-TW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輸入完按下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enter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給他跑一下，會要跑一段時間。</a:t>
            </a:r>
            <a:endParaRPr kumimoji="0" lang="zh-TW" altLang="zh-TW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/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5718F79D-5669-4EB9-AE5E-EB5189D7F70C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 flipV="1">
            <a:off x="6419850" y="4717152"/>
            <a:ext cx="1807380" cy="17500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68128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34D530BA-68A7-476D-AA8F-B47ED4C97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" y="672213"/>
            <a:ext cx="11255715" cy="5799323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79A57AF0-298F-4C7D-902A-F678519F2195}"/>
              </a:ext>
            </a:extLst>
          </p:cNvPr>
          <p:cNvSpPr txBox="1"/>
          <p:nvPr/>
        </p:nvSpPr>
        <p:spPr>
          <a:xfrm>
            <a:off x="133350" y="179116"/>
            <a:ext cx="8067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跑完之後，打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按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enter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，也要跑一段時間</a:t>
            </a:r>
          </a:p>
        </p:txBody>
      </p:sp>
    </p:spTree>
    <p:extLst>
      <p:ext uri="{BB962C8B-B14F-4D97-AF65-F5344CB8AC3E}">
        <p14:creationId xmlns:p14="http://schemas.microsoft.com/office/powerpoint/2010/main" val="10510111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4EF39AC7-0CC2-434B-9211-B7C50C6D1C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112" b="33579"/>
          <a:stretch/>
        </p:blipFill>
        <p:spPr>
          <a:xfrm>
            <a:off x="356700" y="2373379"/>
            <a:ext cx="10592287" cy="3713096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2F5C6BBE-E329-4C1C-BBBF-765D4E49572E}"/>
              </a:ext>
            </a:extLst>
          </p:cNvPr>
          <p:cNvSpPr txBox="1"/>
          <p:nvPr/>
        </p:nvSpPr>
        <p:spPr>
          <a:xfrm>
            <a:off x="151913" y="90980"/>
            <a:ext cx="10716112" cy="1132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接著為了確認是否有準確抓到</a:t>
            </a:r>
            <a:r>
              <a:rPr lang="en-US" altLang="zh-TW" sz="24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GPU</a:t>
            </a:r>
            <a:r>
              <a:rPr lang="zh-TW" altLang="en-US" sz="24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所以在跑完之後，先進入</a:t>
            </a:r>
            <a:r>
              <a:rPr lang="en-US" altLang="zh-TW" sz="24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TW" altLang="en-US" sz="24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，只要打</a:t>
            </a:r>
            <a:r>
              <a:rPr lang="en-US" altLang="zh-TW" sz="24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TW" altLang="en-US" sz="24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按</a:t>
            </a:r>
            <a:r>
              <a:rPr lang="en-US" altLang="zh-TW" sz="24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enter</a:t>
            </a:r>
            <a:r>
              <a:rPr lang="zh-TW" altLang="en-US" sz="24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即可。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B299439-8B7C-4713-95C3-03C5DF076ABB}"/>
              </a:ext>
            </a:extLst>
          </p:cNvPr>
          <p:cNvSpPr/>
          <p:nvPr/>
        </p:nvSpPr>
        <p:spPr>
          <a:xfrm>
            <a:off x="2257425" y="3133725"/>
            <a:ext cx="619125" cy="1809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17979FB6-F836-4D3F-BF80-535305799396}"/>
              </a:ext>
            </a:extLst>
          </p:cNvPr>
          <p:cNvCxnSpPr>
            <a:stCxn id="9" idx="0"/>
            <a:endCxn id="8" idx="2"/>
          </p:cNvCxnSpPr>
          <p:nvPr/>
        </p:nvCxnSpPr>
        <p:spPr>
          <a:xfrm flipV="1">
            <a:off x="2566988" y="1223470"/>
            <a:ext cx="2942981" cy="191025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57750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B7A9A51-ABD2-4367-9572-66EDD64DC6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27" b="60804"/>
          <a:stretch/>
        </p:blipFill>
        <p:spPr>
          <a:xfrm>
            <a:off x="153819" y="173107"/>
            <a:ext cx="11180931" cy="2246244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2CE83C25-DEA0-4CA2-BE6C-16CEA24C83AF}"/>
              </a:ext>
            </a:extLst>
          </p:cNvPr>
          <p:cNvSpPr txBox="1"/>
          <p:nvPr/>
        </p:nvSpPr>
        <p:spPr>
          <a:xfrm>
            <a:off x="208131" y="3318407"/>
            <a:ext cx="11372850" cy="2240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接著打以下這</a:t>
            </a:r>
            <a:r>
              <a:rPr lang="en-US" altLang="zh-TW" sz="24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24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行</a:t>
            </a:r>
            <a:endParaRPr lang="en-US" altLang="zh-TW" sz="2400" spc="1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4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import torch   </a:t>
            </a:r>
            <a:r>
              <a:rPr lang="zh-TW" altLang="en-US" sz="24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打完按</a:t>
            </a:r>
            <a:r>
              <a:rPr lang="en-US" altLang="zh-TW" sz="24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enter</a:t>
            </a:r>
            <a:r>
              <a:rPr lang="zh-TW" altLang="en-US" sz="24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這一行會跑比較久是正常的等待一下</a:t>
            </a:r>
            <a:endParaRPr lang="en-US" altLang="zh-TW" sz="2400" spc="1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400" spc="15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torch.cuda.is_available</a:t>
            </a:r>
            <a:r>
              <a:rPr lang="en-US" altLang="zh-TW" sz="24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()</a:t>
            </a:r>
            <a:r>
              <a:rPr lang="zh-TW" altLang="en-US" sz="24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接著打這一行，若最後有顯示</a:t>
            </a:r>
            <a:r>
              <a:rPr lang="en-US" altLang="zh-TW" sz="24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True</a:t>
            </a:r>
            <a:r>
              <a:rPr lang="zh-TW" altLang="en-US" sz="24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表示安裝成功，環境就建置完畢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1D01242-D090-4660-92D9-6B3FCCE7DA5C}"/>
              </a:ext>
            </a:extLst>
          </p:cNvPr>
          <p:cNvSpPr/>
          <p:nvPr/>
        </p:nvSpPr>
        <p:spPr>
          <a:xfrm>
            <a:off x="208131" y="1495425"/>
            <a:ext cx="3154194" cy="5619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00E365DE-76E3-4016-ACB5-68B1DFB426FD}"/>
              </a:ext>
            </a:extLst>
          </p:cNvPr>
          <p:cNvCxnSpPr>
            <a:stCxn id="7" idx="2"/>
            <a:endCxn id="6" idx="0"/>
          </p:cNvCxnSpPr>
          <p:nvPr/>
        </p:nvCxnSpPr>
        <p:spPr>
          <a:xfrm>
            <a:off x="1785228" y="2057400"/>
            <a:ext cx="4109328" cy="126100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00598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8D21A485-DDCA-47A0-B198-1CC91CD705D8}"/>
              </a:ext>
            </a:extLst>
          </p:cNvPr>
          <p:cNvSpPr txBox="1"/>
          <p:nvPr/>
        </p:nvSpPr>
        <p:spPr>
          <a:xfrm>
            <a:off x="161925" y="209549"/>
            <a:ext cx="1021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此時打開</a:t>
            </a:r>
            <a:r>
              <a:rPr lang="en-US" altLang="zh-TW" spc="15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anacoda</a:t>
            </a:r>
            <a:r>
              <a:rPr lang="zh-TW" altLang="en-US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，在</a:t>
            </a:r>
            <a:r>
              <a:rPr lang="en-US" altLang="zh-TW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anaconda</a:t>
            </a:r>
            <a:r>
              <a:rPr lang="zh-TW" altLang="en-US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中的</a:t>
            </a:r>
            <a:r>
              <a:rPr lang="en-US" altLang="zh-TW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environments</a:t>
            </a:r>
            <a:r>
              <a:rPr lang="zh-TW" altLang="en-US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中可以看見你剛剛建置的環境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34FFF46-2A18-4E38-8623-058A7BF015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86" t="2366" r="1221" b="1752"/>
          <a:stretch/>
        </p:blipFill>
        <p:spPr>
          <a:xfrm>
            <a:off x="1971674" y="996300"/>
            <a:ext cx="5953125" cy="556642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C315626-766C-40E7-8A29-377BA1B60C73}"/>
              </a:ext>
            </a:extLst>
          </p:cNvPr>
          <p:cNvSpPr/>
          <p:nvPr/>
        </p:nvSpPr>
        <p:spPr>
          <a:xfrm>
            <a:off x="2219325" y="2714625"/>
            <a:ext cx="2276475" cy="3048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09231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3B2C7045-4289-454E-9E83-3CFBC6C10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4" y="876994"/>
            <a:ext cx="10908747" cy="573335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933AAE5-AAC1-4231-8ACC-753046536695}"/>
              </a:ext>
            </a:extLst>
          </p:cNvPr>
          <p:cNvSpPr/>
          <p:nvPr/>
        </p:nvSpPr>
        <p:spPr>
          <a:xfrm>
            <a:off x="238125" y="1895475"/>
            <a:ext cx="1219199" cy="35242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3C0A673-209C-45BE-94D6-D355CE77799A}"/>
              </a:ext>
            </a:extLst>
          </p:cNvPr>
          <p:cNvSpPr/>
          <p:nvPr/>
        </p:nvSpPr>
        <p:spPr>
          <a:xfrm>
            <a:off x="1457324" y="3266381"/>
            <a:ext cx="1628775" cy="35242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309F7C2-9B30-4227-8FB4-8482D60D8976}"/>
              </a:ext>
            </a:extLst>
          </p:cNvPr>
          <p:cNvSpPr txBox="1"/>
          <p:nvPr/>
        </p:nvSpPr>
        <p:spPr>
          <a:xfrm>
            <a:off x="257174" y="274839"/>
            <a:ext cx="11525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此步驟，只是跟各位說明，不做也不影響，點選</a:t>
            </a:r>
            <a:r>
              <a:rPr lang="en-US" altLang="zh-TW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anaconda</a:t>
            </a:r>
            <a:r>
              <a:rPr lang="zh-TW" altLang="en-US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中的</a:t>
            </a:r>
            <a:r>
              <a:rPr lang="en-US" altLang="zh-TW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environments</a:t>
            </a:r>
            <a:r>
              <a:rPr lang="zh-TW" altLang="en-US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即可查看自己裝的環境。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ED00B299-2372-489D-AE0A-3D666EA2931E}"/>
              </a:ext>
            </a:extLst>
          </p:cNvPr>
          <p:cNvCxnSpPr>
            <a:cxnSpLocks/>
            <a:stCxn id="6" idx="0"/>
            <a:endCxn id="8" idx="2"/>
          </p:cNvCxnSpPr>
          <p:nvPr/>
        </p:nvCxnSpPr>
        <p:spPr>
          <a:xfrm flipV="1">
            <a:off x="847725" y="644171"/>
            <a:ext cx="5172075" cy="125130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D91D64EB-BB5F-4647-B8FA-0CF53CC37222}"/>
              </a:ext>
            </a:extLst>
          </p:cNvPr>
          <p:cNvCxnSpPr>
            <a:cxnSpLocks/>
            <a:stCxn id="7" idx="0"/>
            <a:endCxn id="8" idx="2"/>
          </p:cNvCxnSpPr>
          <p:nvPr/>
        </p:nvCxnSpPr>
        <p:spPr>
          <a:xfrm flipV="1">
            <a:off x="2271712" y="644171"/>
            <a:ext cx="3748088" cy="26222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35951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EF227AE7-36EA-4C8C-9ADD-36A4141A2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231098"/>
            <a:ext cx="9734550" cy="5166721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39E2B1FA-CC7D-4EC8-81B2-A28E0FE2D997}"/>
              </a:ext>
            </a:extLst>
          </p:cNvPr>
          <p:cNvSpPr txBox="1"/>
          <p:nvPr/>
        </p:nvSpPr>
        <p:spPr>
          <a:xfrm>
            <a:off x="219074" y="672584"/>
            <a:ext cx="81248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接著打開</a:t>
            </a:r>
            <a:r>
              <a:rPr lang="en-US" altLang="zh-TW" sz="2000" spc="15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vscode</a:t>
            </a:r>
            <a:r>
              <a:rPr lang="zh-TW" altLang="en-US" sz="20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並且按</a:t>
            </a:r>
            <a:r>
              <a:rPr lang="en-US" altLang="zh-TW" sz="2000" spc="15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File</a:t>
            </a:r>
            <a:r>
              <a:rPr lang="en-US" altLang="zh-TW" sz="2000" spc="150" dirty="0" err="1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Open</a:t>
            </a:r>
            <a:r>
              <a:rPr lang="en-US" altLang="zh-TW" sz="2000" spc="15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Folder</a:t>
            </a:r>
            <a:endParaRPr lang="zh-TW" altLang="en-US" sz="2000" spc="1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1099D76-3E6A-49FB-9D7A-A0D10A191D9C}"/>
              </a:ext>
            </a:extLst>
          </p:cNvPr>
          <p:cNvSpPr/>
          <p:nvPr/>
        </p:nvSpPr>
        <p:spPr>
          <a:xfrm>
            <a:off x="590550" y="2514600"/>
            <a:ext cx="2181225" cy="2857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1679265-4200-49EE-BCE5-97336937C666}"/>
              </a:ext>
            </a:extLst>
          </p:cNvPr>
          <p:cNvSpPr/>
          <p:nvPr/>
        </p:nvSpPr>
        <p:spPr>
          <a:xfrm>
            <a:off x="476250" y="1231098"/>
            <a:ext cx="361950" cy="2857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BB175C8-4C8F-40AC-9CAA-CA621D5F26A3}"/>
              </a:ext>
            </a:extLst>
          </p:cNvPr>
          <p:cNvSpPr txBox="1"/>
          <p:nvPr/>
        </p:nvSpPr>
        <p:spPr>
          <a:xfrm>
            <a:off x="219074" y="-67940"/>
            <a:ext cx="2390775" cy="74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模型建置</a:t>
            </a:r>
            <a:endPara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509012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971B2CD9-4334-42E9-A2B9-DC96A2C69B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31" t="1220"/>
          <a:stretch/>
        </p:blipFill>
        <p:spPr>
          <a:xfrm>
            <a:off x="390525" y="1238250"/>
            <a:ext cx="8524874" cy="495036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4A85A1B-22FD-4F4F-9654-8DF41F23B416}"/>
              </a:ext>
            </a:extLst>
          </p:cNvPr>
          <p:cNvSpPr/>
          <p:nvPr/>
        </p:nvSpPr>
        <p:spPr>
          <a:xfrm>
            <a:off x="6486525" y="5810250"/>
            <a:ext cx="1095376" cy="2762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53D2E5D-9B55-41BC-B705-A817C94CF290}"/>
              </a:ext>
            </a:extLst>
          </p:cNvPr>
          <p:cNvSpPr txBox="1"/>
          <p:nvPr/>
        </p:nvSpPr>
        <p:spPr>
          <a:xfrm>
            <a:off x="257174" y="248305"/>
            <a:ext cx="7877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segment/unet_42-master</a:t>
            </a:r>
            <a:r>
              <a:rPr lang="zh-TW" altLang="en-US" sz="28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然後選擇資料夾</a:t>
            </a:r>
          </a:p>
        </p:txBody>
      </p:sp>
    </p:spTree>
    <p:extLst>
      <p:ext uri="{BB962C8B-B14F-4D97-AF65-F5344CB8AC3E}">
        <p14:creationId xmlns:p14="http://schemas.microsoft.com/office/powerpoint/2010/main" val="36662385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AC71398E-1836-4CF4-893E-ADAD10087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5" y="1146565"/>
            <a:ext cx="10496550" cy="562571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617B4F23-E31A-4729-8554-00741724F737}"/>
              </a:ext>
            </a:extLst>
          </p:cNvPr>
          <p:cNvSpPr txBox="1"/>
          <p:nvPr/>
        </p:nvSpPr>
        <p:spPr>
          <a:xfrm>
            <a:off x="295274" y="276226"/>
            <a:ext cx="1072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按下</a:t>
            </a:r>
            <a:r>
              <a:rPr lang="en-US" altLang="zh-TW" sz="2400" spc="15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ctrl+shift+p</a:t>
            </a:r>
            <a:r>
              <a:rPr lang="zh-TW" altLang="en-US" sz="24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，找到</a:t>
            </a:r>
            <a:r>
              <a:rPr lang="en-US" altLang="zh-TW" sz="2400" spc="15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Python:Select</a:t>
            </a:r>
            <a:r>
              <a:rPr lang="en-US" altLang="zh-TW" sz="24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Interpreter</a:t>
            </a:r>
            <a:r>
              <a:rPr lang="zh-TW" altLang="en-US" sz="24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這個選項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BC6AE68-E960-4E79-BC95-6AF228A2CD0B}"/>
              </a:ext>
            </a:extLst>
          </p:cNvPr>
          <p:cNvSpPr/>
          <p:nvPr/>
        </p:nvSpPr>
        <p:spPr>
          <a:xfrm>
            <a:off x="3095625" y="1514475"/>
            <a:ext cx="4838700" cy="2095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552E260C-AB6F-4C11-AB31-012D28C4239A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5476875" y="737891"/>
            <a:ext cx="180975" cy="77658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64471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965D494-4D04-488C-B735-1F4F3CFD7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1098365"/>
            <a:ext cx="10191750" cy="539344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2376DB3-44B7-4AA7-A294-09BDDA61D558}"/>
              </a:ext>
            </a:extLst>
          </p:cNvPr>
          <p:cNvSpPr/>
          <p:nvPr/>
        </p:nvSpPr>
        <p:spPr>
          <a:xfrm>
            <a:off x="3467100" y="3429000"/>
            <a:ext cx="4676775" cy="1619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B1159EB-779D-455B-BCBC-51A11049066F}"/>
              </a:ext>
            </a:extLst>
          </p:cNvPr>
          <p:cNvSpPr txBox="1"/>
          <p:nvPr/>
        </p:nvSpPr>
        <p:spPr>
          <a:xfrm>
            <a:off x="666749" y="276225"/>
            <a:ext cx="6715125" cy="590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點選剛剛裝置的環境</a:t>
            </a: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11D3389A-4DC8-4DF8-A75C-F5F9F0A68C6D}"/>
              </a:ext>
            </a:extLst>
          </p:cNvPr>
          <p:cNvCxnSpPr>
            <a:stCxn id="6" idx="0"/>
            <a:endCxn id="7" idx="2"/>
          </p:cNvCxnSpPr>
          <p:nvPr/>
        </p:nvCxnSpPr>
        <p:spPr>
          <a:xfrm flipH="1" flipV="1">
            <a:off x="4024312" y="866775"/>
            <a:ext cx="1781176" cy="256222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77561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群組 8">
            <a:extLst>
              <a:ext uri="{FF2B5EF4-FFF2-40B4-BE49-F238E27FC236}">
                <a16:creationId xmlns:a16="http://schemas.microsoft.com/office/drawing/2014/main" id="{3D0EC96C-A7A2-4DC9-99B1-EC30341123F4}"/>
              </a:ext>
            </a:extLst>
          </p:cNvPr>
          <p:cNvGrpSpPr/>
          <p:nvPr/>
        </p:nvGrpSpPr>
        <p:grpSpPr>
          <a:xfrm>
            <a:off x="285750" y="1543049"/>
            <a:ext cx="10106026" cy="5158093"/>
            <a:chOff x="419099" y="1162348"/>
            <a:chExt cx="10391775" cy="5529270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FBDBB4AE-2C56-4F5E-8606-439DB136BA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9099" y="1162348"/>
              <a:ext cx="10391775" cy="5529270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FE1E125-5C45-4A67-BD6F-7C3A4E3051DB}"/>
                </a:ext>
              </a:extLst>
            </p:cNvPr>
            <p:cNvSpPr/>
            <p:nvPr/>
          </p:nvSpPr>
          <p:spPr>
            <a:xfrm>
              <a:off x="914400" y="4762500"/>
              <a:ext cx="1524000" cy="2286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7A63AE3-2597-4D69-B7B3-39D16EF56908}"/>
                </a:ext>
              </a:extLst>
            </p:cNvPr>
            <p:cNvSpPr/>
            <p:nvPr/>
          </p:nvSpPr>
          <p:spPr>
            <a:xfrm>
              <a:off x="2933700" y="2647950"/>
              <a:ext cx="1524000" cy="2286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1A934A0-05E5-4522-8BD3-57DD90133FA5}"/>
              </a:ext>
            </a:extLst>
          </p:cNvPr>
          <p:cNvSpPr txBox="1"/>
          <p:nvPr/>
        </p:nvSpPr>
        <p:spPr>
          <a:xfrm>
            <a:off x="190500" y="323849"/>
            <a:ext cx="10877550" cy="872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並點選</a:t>
            </a:r>
            <a:r>
              <a:rPr lang="en-US" altLang="zh-TW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train.py</a:t>
            </a:r>
            <a:r>
              <a:rPr lang="zh-TW" altLang="en-US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，會發現有些套件底下有黃色線，表示套件沒有安裝，此時打開</a:t>
            </a:r>
            <a:r>
              <a:rPr lang="en-US" altLang="zh-TW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anaconda prompt</a:t>
            </a:r>
            <a:r>
              <a:rPr lang="en-US" altLang="zh-TW" spc="15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</a:t>
            </a:r>
            <a:r>
              <a:rPr lang="zh-TW" altLang="en-US" spc="15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打下</a:t>
            </a:r>
            <a:r>
              <a:rPr lang="en-US" altLang="zh-TW" spc="15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activate test(</a:t>
            </a:r>
            <a:r>
              <a:rPr lang="zh-TW" altLang="en-US" spc="15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你的環境名稱，不一定跟我一樣是</a:t>
            </a:r>
            <a:r>
              <a:rPr lang="en-US" altLang="zh-TW" spc="15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test)pip install </a:t>
            </a:r>
            <a:r>
              <a:rPr lang="en-US" altLang="zh-TW" spc="150" dirty="0" err="1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tqdm</a:t>
            </a:r>
            <a:endParaRPr lang="zh-TW" altLang="en-US" spc="1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2C6A24A1-E821-462D-B063-FBBE8CEAE9CF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1508478" y="1085850"/>
            <a:ext cx="215547" cy="381567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3E90E743-6F4A-4981-A63B-136F9589B71F}"/>
              </a:ext>
            </a:extLst>
          </p:cNvPr>
          <p:cNvCxnSpPr>
            <a:stCxn id="7" idx="0"/>
          </p:cNvCxnSpPr>
          <p:nvPr/>
        </p:nvCxnSpPr>
        <p:spPr>
          <a:xfrm flipV="1">
            <a:off x="3472252" y="1196204"/>
            <a:ext cx="509198" cy="17327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59742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2DEF1866-212F-48E0-894E-122CDDCC0C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59" t="1615" r="1254" b="1293"/>
          <a:stretch/>
        </p:blipFill>
        <p:spPr>
          <a:xfrm>
            <a:off x="704850" y="314325"/>
            <a:ext cx="6172200" cy="572452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FFEDEFC-E218-4790-AB71-2DB21AF7225B}"/>
              </a:ext>
            </a:extLst>
          </p:cNvPr>
          <p:cNvSpPr/>
          <p:nvPr/>
        </p:nvSpPr>
        <p:spPr>
          <a:xfrm>
            <a:off x="904875" y="2009775"/>
            <a:ext cx="2524125" cy="381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6BD02D6-CC92-483D-AD63-5F201ECC1426}"/>
              </a:ext>
            </a:extLst>
          </p:cNvPr>
          <p:cNvSpPr txBox="1"/>
          <p:nvPr/>
        </p:nvSpPr>
        <p:spPr>
          <a:xfrm>
            <a:off x="7219951" y="3009900"/>
            <a:ext cx="4705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打開</a:t>
            </a:r>
            <a:r>
              <a:rPr lang="en-US" altLang="zh-TW" sz="28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anaconda prompt</a:t>
            </a:r>
            <a:endParaRPr lang="zh-TW" altLang="en-US" sz="2800" spc="1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E757AAF4-BFFD-400D-96E6-E55631597744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3429000" y="2200275"/>
            <a:ext cx="3790951" cy="107123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15822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B300EB39-7F7C-478B-A34D-ED49266A2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63" y="864621"/>
            <a:ext cx="11240474" cy="5738357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FDCA4B5-86A2-4986-BC62-24DAB4843C92}"/>
              </a:ext>
            </a:extLst>
          </p:cNvPr>
          <p:cNvSpPr/>
          <p:nvPr/>
        </p:nvSpPr>
        <p:spPr>
          <a:xfrm>
            <a:off x="323363" y="1600200"/>
            <a:ext cx="3610462" cy="2857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D2953AB-C28A-4054-8760-2D2D5B0A5BC7}"/>
              </a:ext>
            </a:extLst>
          </p:cNvPr>
          <p:cNvSpPr txBox="1"/>
          <p:nvPr/>
        </p:nvSpPr>
        <p:spPr>
          <a:xfrm>
            <a:off x="438150" y="171451"/>
            <a:ext cx="5238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安裝好就可以開始跑訓練集了</a:t>
            </a: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AF68FE6C-E10A-4E22-A94E-DF2A965EBA73}"/>
              </a:ext>
            </a:extLst>
          </p:cNvPr>
          <p:cNvCxnSpPr>
            <a:stCxn id="6" idx="0"/>
            <a:endCxn id="7" idx="2"/>
          </p:cNvCxnSpPr>
          <p:nvPr/>
        </p:nvCxnSpPr>
        <p:spPr>
          <a:xfrm flipV="1">
            <a:off x="2128594" y="633116"/>
            <a:ext cx="928931" cy="96708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4181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844</TotalTime>
  <Words>1004</Words>
  <Application>Microsoft Office PowerPoint</Application>
  <PresentationFormat>寬螢幕</PresentationFormat>
  <Paragraphs>87</Paragraphs>
  <Slides>31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31</vt:i4>
      </vt:variant>
    </vt:vector>
  </HeadingPairs>
  <TitlesOfParts>
    <vt:vector size="37" baseType="lpstr">
      <vt:lpstr>Arial Unicode MS</vt:lpstr>
      <vt:lpstr>微軟正黑體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劉學諺</dc:creator>
  <cp:lastModifiedBy>allenchen931204@gmail.com</cp:lastModifiedBy>
  <cp:revision>123</cp:revision>
  <dcterms:created xsi:type="dcterms:W3CDTF">2024-09-16T03:51:14Z</dcterms:created>
  <dcterms:modified xsi:type="dcterms:W3CDTF">2026-01-12T05:46:50Z</dcterms:modified>
</cp:coreProperties>
</file>